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6839f44-d8d9-0c72-3caf-a3d0ba6bdef9}">
          <p14:sldIdLst>
            <p14:sldId id="256"/>
            <p14:sldId id="257"/>
          </p14:sldIdLst>
        </p14:section>
        <p14:section name="Constat" id="{5bc915f4-be9d-0f9b-62b5-784571328e2f}">
          <p14:sldIdLst>
            <p14:sldId id="258"/>
            <p14:sldId id="259"/>
            <p14:sldId id="260"/>
          </p14:sldIdLst>
        </p14:section>
        <p14:section name="Proposition" id="{abc4995b-6fda-ff13-92b2-a238aaea9f8d}">
          <p14:sldIdLst>
            <p14:sldId id="261"/>
            <p14:sldId id="262"/>
            <p14:sldId id="263"/>
            <p14:sldId id="264"/>
            <p14:sldId id="265"/>
          </p14:sldIdLst>
        </p14:section>
        <p14:section name="Suite" id="{ace30239-1565-ad9d-5089-39f80fe3def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montrer ce que produit l'agent QA actuel, pourquoi ses cas ne sont pas fiables, et proposer une évolution simple à tester sur le prochain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messages : ce qu'on observe, pourquoi ça arrive, ce que je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Fonctionnement relevé dans le fichier qc.agent.md du dépôt de l'équipe. La partie publication est bien faite techniquement (contrôle des codes HTTP, vérification des liens) ; le problème est en amont.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Extraits relevés sur la sortie de l'agent pour une US de création de demande. Le point le plus grave est TC-012 : la règle donnée par le PO en commentaire n'a pas été 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cause a été relevée dans le fichier qc.agent.md : l'adresse des commentaires y figure mais aucune consigne ne demande de les lire ; la politique interdit toute section en plus ; l'exemple canonique dit « Given un utilisateur actif » ; le XML met chaque clause dans un pas séparé avec un résultat attendu 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skills sont des fichiers SKILL.md dans .github/skills/, lus par Copilot dans VS Code et sur GitHub. On améliore la rédaction Gherkin en modifiant un seul fichier, sans toucher à l'agent.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avec une US de filtrage de la liste. Trois commandes à retenir, une relecture humaine entre la rédaction et la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contrôle sans IA est un petit script Python livré avec le skill de rédaction. Il ne dépend pas du modèle : il applique les mêmes règles à chaque fois.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des écarts entre l'agent actuel et la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Dans ADO, les deux premières lignes vont dans le pas 1, la ligne Quand dans l'action du pas 2, les lignes Alors et Et dans son résultat attendu.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 de chiffre annoncé : les indicateurs seront mesurés pendant le pilote et comparés à l'agent actuel.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 de décision : go pour un pilote.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Agent QA | proposition d'évolution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Agent QA : de l'US aux cas de test, sans rien inventer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Constat sur l'agent actuel et proposition d'évolution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octobre 2026</a:t>
            </a:r>
            <a:endParaRPr lang="en-US" sz="1800" dirty="0"/>
          </a:p>
        </p:txBody>
      </p:sp>
      <p:sp>
        <p:nvSpPr>
          <p:cNvPr id="4" name="Robot cercle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obot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9372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L'essentiel en une page</a:t>
            </a:r>
            <a:endParaRPr lang="en-US" sz="3200" dirty="0"/>
          </a:p>
        </p:txBody>
      </p:sp>
      <p:sp>
        <p:nvSpPr>
          <p:cNvPr id="3" name="Carte Constat"/>
          <p:cNvSpPr/>
          <p:nvPr/>
        </p:nvSpPr>
        <p:spPr>
          <a:xfrm>
            <a:off x="548640" y="1463040"/>
            <a:ext cx="34747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 Constat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uméro Constat"/>
          <p:cNvSpPr txBox="1"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itre Constat"/>
          <p:cNvSpPr txBox="1"/>
          <p:nvPr/>
        </p:nvSpPr>
        <p:spPr>
          <a:xfrm>
            <a:off x="868680" y="2606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Constat</a:t>
            </a:r>
            <a:endParaRPr lang="en-US" sz="2400" dirty="0"/>
          </a:p>
        </p:txBody>
      </p:sp>
      <p:sp>
        <p:nvSpPr>
          <p:cNvPr id="7" name="Texte Constat"/>
          <p:cNvSpPr txBox="1"/>
          <p:nvPr/>
        </p:nvSpPr>
        <p:spPr>
          <a:xfrm>
            <a:off x="868680" y="3246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L'agent actuel produit des cas plausibles mais faux ou invérifiables, et les publie sans relecture.</a:t>
            </a:r>
            <a:endParaRPr lang="en-US" sz="1600" dirty="0"/>
          </a:p>
        </p:txBody>
      </p:sp>
      <p:sp>
        <p:nvSpPr>
          <p:cNvPr id="8" name="Carte Cause"/>
          <p:cNvSpPr/>
          <p:nvPr/>
        </p:nvSpPr>
        <p:spPr>
          <a:xfrm>
            <a:off x="4297680" y="1463040"/>
            <a:ext cx="34747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 Cause"/>
          <p:cNvSpPr/>
          <p:nvPr/>
        </p:nvSpPr>
        <p:spPr>
          <a:xfrm>
            <a:off x="4617720" y="1783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éro Cause"/>
          <p:cNvSpPr txBox="1"/>
          <p:nvPr/>
        </p:nvSpPr>
        <p:spPr>
          <a:xfrm>
            <a:off x="46177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itre Cause"/>
          <p:cNvSpPr txBox="1"/>
          <p:nvPr/>
        </p:nvSpPr>
        <p:spPr>
          <a:xfrm>
            <a:off x="4617720" y="2606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</a:t>
            </a:r>
            <a:endParaRPr lang="en-US" sz="2400" dirty="0"/>
          </a:p>
        </p:txBody>
      </p:sp>
      <p:sp>
        <p:nvSpPr>
          <p:cNvPr id="12" name="Texte Cause"/>
          <p:cNvSpPr txBox="1"/>
          <p:nvPr/>
        </p:nvSpPr>
        <p:spPr>
          <a:xfrm>
            <a:off x="4617720" y="3246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Ses consignes : il ne lit pas les commentaires du PO, ne peut pas poser de question, et copie un exemple vague.</a:t>
            </a:r>
            <a:endParaRPr lang="en-US" sz="1600" dirty="0"/>
          </a:p>
        </p:txBody>
      </p:sp>
      <p:sp>
        <p:nvSpPr>
          <p:cNvPr id="13" name="Carte Proposition"/>
          <p:cNvSpPr/>
          <p:nvPr/>
        </p:nvSpPr>
        <p:spPr>
          <a:xfrm>
            <a:off x="8046720" y="1463040"/>
            <a:ext cx="34747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 Proposition"/>
          <p:cNvSpPr/>
          <p:nvPr/>
        </p:nvSpPr>
        <p:spPr>
          <a:xfrm>
            <a:off x="836676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éro Proposition"/>
          <p:cNvSpPr txBox="1"/>
          <p:nvPr/>
        </p:nvSpPr>
        <p:spPr>
          <a:xfrm>
            <a:off x="83667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itre Proposition"/>
          <p:cNvSpPr txBox="1"/>
          <p:nvPr/>
        </p:nvSpPr>
        <p:spPr>
          <a:xfrm>
            <a:off x="8366760" y="2606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</a:t>
            </a:r>
            <a:endParaRPr lang="en-US" sz="2400" dirty="0"/>
          </a:p>
        </p:txBody>
      </p:sp>
      <p:sp>
        <p:nvSpPr>
          <p:cNvPr id="17" name="Texte Proposition"/>
          <p:cNvSpPr txBox="1"/>
          <p:nvPr/>
        </p:nvSpPr>
        <p:spPr>
          <a:xfrm>
            <a:off x="8366760" y="3246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Un agent et quatre skills : analyse, rédaction Gherkin, publication, anomalies. Contrôle automatique, publication après accord.</a:t>
            </a:r>
            <a:endParaRPr lang="en-US" sz="1600" dirty="0"/>
          </a:p>
        </p:txBody>
      </p:sp>
      <p:sp>
        <p:nvSpPr>
          <p:cNvPr id="18" name="Décision attendue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Décision attendue : un pilote sur le prochain sprint.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L'agent actuel : comment il travaille</a:t>
            </a:r>
            <a:endParaRPr lang="en-US" sz="3200" dirty="0"/>
          </a:p>
        </p:txBody>
      </p:sp>
      <p:sp>
        <p:nvSpPr>
          <p:cNvPr id="3" name="Étape 1"/>
          <p:cNvSpPr/>
          <p:nvPr/>
        </p:nvSpPr>
        <p:spPr>
          <a:xfrm>
            <a:off x="548640" y="1554480"/>
            <a:ext cx="25146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éro étape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éro étape 1 chiffre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itre étape 1"/>
          <p:cNvSpPr txBox="1"/>
          <p:nvPr/>
        </p:nvSpPr>
        <p:spPr>
          <a:xfrm>
            <a:off x="77724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 donne l'ID de l'US</a:t>
            </a:r>
            <a:endParaRPr lang="en-US" sz="1700" dirty="0"/>
          </a:p>
        </p:txBody>
      </p:sp>
      <p:sp>
        <p:nvSpPr>
          <p:cNvPr id="7" name="Détail étape 1"/>
          <p:cNvSpPr txBox="1"/>
          <p:nvPr/>
        </p:nvSpPr>
        <p:spPr>
          <a:xfrm>
            <a:off x="77724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« QC AGENT 1234 »</a:t>
            </a:r>
            <a:endParaRPr lang="en-US" sz="1400" dirty="0"/>
          </a:p>
        </p:txBody>
      </p:sp>
      <p:sp>
        <p:nvSpPr>
          <p:cNvPr id="8" name="Flèche 1"/>
          <p:cNvSpPr txBox="1"/>
          <p:nvPr/>
        </p:nvSpPr>
        <p:spPr>
          <a:xfrm>
            <a:off x="306324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4"/>
                </a:solidFill>
              </a:rPr>
              <a:t>›</a:t>
            </a:r>
            <a:endParaRPr lang="en-US" sz="3000" dirty="0"/>
          </a:p>
        </p:txBody>
      </p:sp>
      <p:sp>
        <p:nvSpPr>
          <p:cNvPr id="9" name="Étape 2"/>
          <p:cNvSpPr/>
          <p:nvPr/>
        </p:nvSpPr>
        <p:spPr>
          <a:xfrm>
            <a:off x="3429000" y="1554480"/>
            <a:ext cx="25146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éro étape 2"/>
          <p:cNvSpPr/>
          <p:nvPr/>
        </p:nvSpPr>
        <p:spPr>
          <a:xfrm>
            <a:off x="3657600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éro étape 2 chiffre"/>
          <p:cNvSpPr txBox="1"/>
          <p:nvPr/>
        </p:nvSpPr>
        <p:spPr>
          <a:xfrm>
            <a:off x="36576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itre étape 2"/>
          <p:cNvSpPr txBox="1"/>
          <p:nvPr/>
        </p:nvSpPr>
        <p:spPr>
          <a:xfrm>
            <a:off x="365760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Il lit le work item</a:t>
            </a:r>
            <a:endParaRPr lang="en-US" sz="1700" dirty="0"/>
          </a:p>
        </p:txBody>
      </p:sp>
      <p:sp>
        <p:nvSpPr>
          <p:cNvPr id="13" name="Détail étape 2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 l'API, avec un PAT partagé</a:t>
            </a:r>
            <a:endParaRPr lang="en-US" sz="1400" dirty="0"/>
          </a:p>
        </p:txBody>
      </p:sp>
      <p:sp>
        <p:nvSpPr>
          <p:cNvPr id="14" name="Flèche 2"/>
          <p:cNvSpPr txBox="1"/>
          <p:nvPr/>
        </p:nvSpPr>
        <p:spPr>
          <a:xfrm>
            <a:off x="594360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4"/>
                </a:solidFill>
              </a:rPr>
              <a:t>›</a:t>
            </a:r>
            <a:endParaRPr lang="en-US" sz="3000" dirty="0"/>
          </a:p>
        </p:txBody>
      </p:sp>
      <p:sp>
        <p:nvSpPr>
          <p:cNvPr id="15" name="Étape 3"/>
          <p:cNvSpPr/>
          <p:nvPr/>
        </p:nvSpPr>
        <p:spPr>
          <a:xfrm>
            <a:off x="6309360" y="1554480"/>
            <a:ext cx="25146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éro étape 3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Numéro étape 3 chiffre"/>
          <p:cNvSpPr txBox="1"/>
          <p:nvPr/>
        </p:nvSpPr>
        <p:spPr>
          <a:xfrm>
            <a:off x="6537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itre étape 3"/>
          <p:cNvSpPr txBox="1"/>
          <p:nvPr/>
        </p:nvSpPr>
        <p:spPr>
          <a:xfrm>
            <a:off x="653796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Il écrit un rapport</a:t>
            </a:r>
            <a:endParaRPr lang="en-US" sz="1700" dirty="0"/>
          </a:p>
        </p:txBody>
      </p:sp>
      <p:sp>
        <p:nvSpPr>
          <p:cNvPr id="19" name="Détail étape 3"/>
          <p:cNvSpPr txBox="1"/>
          <p:nvPr/>
        </p:nvSpPr>
        <p:spPr>
          <a:xfrm>
            <a:off x="653796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 sections, tableau de cas en Given / When / Then</a:t>
            </a:r>
            <a:endParaRPr lang="en-US" sz="1400" dirty="0"/>
          </a:p>
        </p:txBody>
      </p:sp>
      <p:sp>
        <p:nvSpPr>
          <p:cNvPr id="20" name="Flèche 3"/>
          <p:cNvSpPr txBox="1"/>
          <p:nvPr/>
        </p:nvSpPr>
        <p:spPr>
          <a:xfrm>
            <a:off x="882396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4"/>
                </a:solidFill>
              </a:rPr>
              <a:t>›</a:t>
            </a:r>
            <a:endParaRPr lang="en-US" sz="3000" dirty="0"/>
          </a:p>
        </p:txBody>
      </p:sp>
      <p:sp>
        <p:nvSpPr>
          <p:cNvPr id="21" name="Étape 4"/>
          <p:cNvSpPr/>
          <p:nvPr/>
        </p:nvSpPr>
        <p:spPr>
          <a:xfrm>
            <a:off x="9189720" y="1554480"/>
            <a:ext cx="2514600" cy="2103120"/>
          </a:xfrm>
          <a:prstGeom prst="roundRect">
            <a:avLst>
              <a:gd name="adj" fmla="val 347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Numéro étape 4"/>
          <p:cNvSpPr/>
          <p:nvPr/>
        </p:nvSpPr>
        <p:spPr>
          <a:xfrm>
            <a:off x="9418320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Numéro étape 4 chiffre"/>
          <p:cNvSpPr txBox="1"/>
          <p:nvPr/>
        </p:nvSpPr>
        <p:spPr>
          <a:xfrm>
            <a:off x="94183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itre étape 4"/>
          <p:cNvSpPr txBox="1"/>
          <p:nvPr/>
        </p:nvSpPr>
        <p:spPr>
          <a:xfrm>
            <a:off x="941832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Il publie tout seul</a:t>
            </a:r>
            <a:endParaRPr lang="en-US" sz="1700" dirty="0"/>
          </a:p>
        </p:txBody>
      </p:sp>
      <p:sp>
        <p:nvSpPr>
          <p:cNvPr id="25" name="Détail étape 4"/>
          <p:cNvSpPr txBox="1"/>
          <p:nvPr/>
        </p:nvSpPr>
        <p:spPr>
          <a:xfrm>
            <a:off x="941832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Crée un plan « QC - &lt;US&gt; », une suite, les cas, les liens</a:t>
            </a:r>
            <a:endParaRPr lang="en-US" sz="1400" dirty="0"/>
          </a:p>
        </p:txBody>
      </p:sp>
      <p:pic>
        <p:nvPicPr>
          <p:cNvPr id="26" name="Alerte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347472" cy="347472"/>
          </a:xfrm>
          <a:prstGeom prst="rect">
            <a:avLst/>
          </a:prstGeom>
        </p:spPr>
      </p:pic>
      <p:sp>
        <p:nvSpPr>
          <p:cNvPr id="27" name="Fait 1"/>
          <p:cNvSpPr txBox="1"/>
          <p:nvPr/>
        </p:nvSpPr>
        <p:spPr>
          <a:xfrm>
            <a:off x="105156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seul fichier de consignes fait tout : analyse, cas, publication</a:t>
            </a:r>
            <a:endParaRPr lang="en-US" sz="1600" dirty="0"/>
          </a:p>
        </p:txBody>
      </p:sp>
      <p:pic>
        <p:nvPicPr>
          <p:cNvPr id="28" name="Alert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00600"/>
            <a:ext cx="347472" cy="347472"/>
          </a:xfrm>
          <a:prstGeom prst="rect">
            <a:avLst/>
          </a:prstGeom>
        </p:spPr>
      </p:pic>
      <p:sp>
        <p:nvSpPr>
          <p:cNvPr id="29" name="Fait 2"/>
          <p:cNvSpPr txBox="1"/>
          <p:nvPr/>
        </p:nvSpPr>
        <p:spPr>
          <a:xfrm>
            <a:off x="105156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Aucune relecture humaine entre l'écriture et la création dans ADO</a:t>
            </a:r>
            <a:endParaRPr lang="en-US" sz="1600" dirty="0"/>
          </a:p>
        </p:txBody>
      </p:sp>
      <p:pic>
        <p:nvPicPr>
          <p:cNvPr id="30" name="Alert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40680"/>
            <a:ext cx="347472" cy="347472"/>
          </a:xfrm>
          <a:prstGeom prst="rect">
            <a:avLst/>
          </a:prstGeom>
        </p:spPr>
      </p:pic>
      <p:sp>
        <p:nvSpPr>
          <p:cNvPr id="31" name="Fait 3"/>
          <p:cNvSpPr txBox="1"/>
          <p:nvPr/>
        </p:nvSpPr>
        <p:spPr>
          <a:xfrm>
            <a:off x="105156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Tout est créé au nom du propriétaire du PAT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 qu'il a produit sur une US réelle</a:t>
            </a:r>
            <a:endParaRPr lang="en-US" sz="3200" dirty="0"/>
          </a:p>
        </p:txBody>
      </p:sp>
      <p:graphicFrame>
        <p:nvGraphicFramePr>
          <p:cNvPr id="5" name="Tableau des défau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15468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qui est écrit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problème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 Given une entité sans demande existante… 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Contredit le PO : un renouvellement suppose un mandat précédent validé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TC-012 à 014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 Then la demande est créée et redirigée vers le formulaire 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 statut, ni message : le cas passe même si le statut est faux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TC-013, 014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Reprise « Oui », puis Reprise « Non 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Même résultat attendu : un cas de trop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 un rôle autre qu'Admin ou SuperAdmin 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non nommé : impossible à préparer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 l'année fiscale en cours est présélectionnée 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valeur attendue écrite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 Fonctionnel » sur chaque ligne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N'apporte rien au testeur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te points forts"/>
          <p:cNvSpPr/>
          <p:nvPr/>
        </p:nvSpPr>
        <p:spPr>
          <a:xfrm>
            <a:off x="8778240" y="1371600"/>
            <a:ext cx="2834640" cy="4526280"/>
          </a:xfrm>
          <a:prstGeom prst="roundRect">
            <a:avLst>
              <a:gd name="adj" fmla="val 258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ou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45920"/>
            <a:ext cx="457200" cy="457200"/>
          </a:xfrm>
          <a:prstGeom prst="rect">
            <a:avLst/>
          </a:prstGeom>
        </p:spPr>
      </p:pic>
      <p:sp>
        <p:nvSpPr>
          <p:cNvPr id="6" name="Titre points forts"/>
          <p:cNvSpPr txBox="1"/>
          <p:nvPr/>
        </p:nvSpPr>
        <p:spPr>
          <a:xfrm>
            <a:off x="905256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Ce qui est réussi</a:t>
            </a:r>
            <a:endParaRPr lang="en-US" sz="1800" dirty="0"/>
          </a:p>
        </p:txBody>
      </p:sp>
      <p:sp>
        <p:nvSpPr>
          <p:cNvPr id="7" name="Liste points forts"/>
          <p:cNvSpPr txBox="1"/>
          <p:nvPr/>
        </p:nvSpPr>
        <p:spPr>
          <a:xfrm>
            <a:off x="9052560" y="274320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TC-007 : valeur par défaut concrète (« Jean Dupont »)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TC-008 : changement d'affectation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TC-011 : pas de saisie libre de l'Entité 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Les causes sont dans les consignes</a:t>
            </a:r>
            <a:endParaRPr lang="en-US" sz="3200" dirty="0"/>
          </a:p>
        </p:txBody>
      </p:sp>
      <p:sp>
        <p:nvSpPr>
          <p:cNvPr id="3" name="Cause 1"/>
          <p:cNvSpPr/>
          <p:nvPr/>
        </p:nvSpPr>
        <p:spPr>
          <a:xfrm>
            <a:off x="548640" y="1417320"/>
            <a:ext cx="347472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éro cause 1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uméro cause 1 chiffre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ause texte 1"/>
          <p:cNvSpPr txBox="1"/>
          <p:nvPr/>
        </p:nvSpPr>
        <p:spPr>
          <a:xfrm>
            <a:off x="1417320" y="1600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Les commentaires ne sont jamais lus</a:t>
            </a:r>
            <a:endParaRPr lang="en-US" sz="1600" dirty="0"/>
          </a:p>
        </p:txBody>
      </p:sp>
      <p:sp>
        <p:nvSpPr>
          <p:cNvPr id="7" name="Conséquence 1"/>
          <p:cNvSpPr txBox="1"/>
          <p:nvPr/>
        </p:nvSpPr>
        <p:spPr>
          <a:xfrm>
            <a:off x="777240" y="2423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Les réponses du PO sont ignorées</a:t>
            </a:r>
            <a:endParaRPr lang="en-US" sz="1500" dirty="0"/>
          </a:p>
        </p:txBody>
      </p:sp>
      <p:sp>
        <p:nvSpPr>
          <p:cNvPr id="8" name="Cause 2"/>
          <p:cNvSpPr/>
          <p:nvPr/>
        </p:nvSpPr>
        <p:spPr>
          <a:xfrm>
            <a:off x="4297680" y="1417320"/>
            <a:ext cx="347472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éro cause 2"/>
          <p:cNvSpPr/>
          <p:nvPr/>
        </p:nvSpPr>
        <p:spPr>
          <a:xfrm>
            <a:off x="4526280" y="1645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uméro cause 2 chiffre"/>
          <p:cNvSpPr txBox="1"/>
          <p:nvPr/>
        </p:nvSpPr>
        <p:spPr>
          <a:xfrm>
            <a:off x="4526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ause texte 2"/>
          <p:cNvSpPr txBox="1"/>
          <p:nvPr/>
        </p:nvSpPr>
        <p:spPr>
          <a:xfrm>
            <a:off x="5166360" y="1600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« N'ajoute aucune section »</a:t>
            </a:r>
            <a:endParaRPr lang="en-US" sz="1600" dirty="0"/>
          </a:p>
        </p:txBody>
      </p:sp>
      <p:sp>
        <p:nvSpPr>
          <p:cNvPr id="12" name="Conséquence 2"/>
          <p:cNvSpPr txBox="1"/>
          <p:nvPr/>
        </p:nvSpPr>
        <p:spPr>
          <a:xfrm>
            <a:off x="4526280" y="2423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Pas de place pour une question : il invente</a:t>
            </a:r>
            <a:endParaRPr lang="en-US" sz="1500" dirty="0"/>
          </a:p>
        </p:txBody>
      </p:sp>
      <p:sp>
        <p:nvSpPr>
          <p:cNvPr id="13" name="Cause 3"/>
          <p:cNvSpPr/>
          <p:nvPr/>
        </p:nvSpPr>
        <p:spPr>
          <a:xfrm>
            <a:off x="8046720" y="1417320"/>
            <a:ext cx="347472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éro cause 3"/>
          <p:cNvSpPr/>
          <p:nvPr/>
        </p:nvSpPr>
        <p:spPr>
          <a:xfrm>
            <a:off x="8275320" y="1645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uméro cause 3 chiffre"/>
          <p:cNvSpPr txBox="1"/>
          <p:nvPr/>
        </p:nvSpPr>
        <p:spPr>
          <a:xfrm>
            <a:off x="8275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Cause texte 3"/>
          <p:cNvSpPr txBox="1"/>
          <p:nvPr/>
        </p:nvSpPr>
        <p:spPr>
          <a:xfrm>
            <a:off x="8915400" y="1600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Exemple vague à copier à la lettre</a:t>
            </a:r>
            <a:endParaRPr lang="en-US" sz="1600" dirty="0"/>
          </a:p>
        </p:txBody>
      </p:sp>
      <p:sp>
        <p:nvSpPr>
          <p:cNvPr id="17" name="Conséquence 3"/>
          <p:cNvSpPr txBox="1"/>
          <p:nvPr/>
        </p:nvSpPr>
        <p:spPr>
          <a:xfrm>
            <a:off x="8275320" y="2423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Ses résultats sont aussi vagues que l'exemple</a:t>
            </a:r>
            <a:endParaRPr lang="en-US" sz="1500" dirty="0"/>
          </a:p>
        </p:txBody>
      </p:sp>
      <p:sp>
        <p:nvSpPr>
          <p:cNvPr id="18" name="Cause 4"/>
          <p:cNvSpPr/>
          <p:nvPr/>
        </p:nvSpPr>
        <p:spPr>
          <a:xfrm>
            <a:off x="548640" y="3520440"/>
            <a:ext cx="347472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éro cause 4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Numéro cause 4 chiffre"/>
          <p:cNvSpPr txBox="1"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Cause texte 4"/>
          <p:cNvSpPr txBox="1"/>
          <p:nvPr/>
        </p:nvSpPr>
        <p:spPr>
          <a:xfrm>
            <a:off x="1417320" y="3703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pas ADO par Given, When, Then</a:t>
            </a:r>
            <a:endParaRPr lang="en-US" sz="1600" dirty="0"/>
          </a:p>
        </p:txBody>
      </p:sp>
      <p:sp>
        <p:nvSpPr>
          <p:cNvPr id="22" name="Conséquence 4"/>
          <p:cNvSpPr txBox="1"/>
          <p:nvPr/>
        </p:nvSpPr>
        <p:spPr>
          <a:xfrm>
            <a:off x="777240" y="4526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 « Alors » arrive sans résultat attendu</a:t>
            </a:r>
            <a:endParaRPr lang="en-US" sz="1500" dirty="0"/>
          </a:p>
        </p:txBody>
      </p:sp>
      <p:sp>
        <p:nvSpPr>
          <p:cNvPr id="23" name="Cause 5"/>
          <p:cNvSpPr/>
          <p:nvPr/>
        </p:nvSpPr>
        <p:spPr>
          <a:xfrm>
            <a:off x="4297680" y="3520440"/>
            <a:ext cx="347472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éro cause 5"/>
          <p:cNvSpPr/>
          <p:nvPr/>
        </p:nvSpPr>
        <p:spPr>
          <a:xfrm>
            <a:off x="452628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Numéro cause 5 chiffre"/>
          <p:cNvSpPr txBox="1"/>
          <p:nvPr/>
        </p:nvSpPr>
        <p:spPr>
          <a:xfrm>
            <a:off x="45262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Cause texte 5"/>
          <p:cNvSpPr txBox="1"/>
          <p:nvPr/>
        </p:nvSpPr>
        <p:spPr>
          <a:xfrm>
            <a:off x="5166360" y="3703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Publication obligatoire, un plan par US</a:t>
            </a:r>
            <a:endParaRPr lang="en-US" sz="1600" dirty="0"/>
          </a:p>
        </p:txBody>
      </p:sp>
      <p:sp>
        <p:nvSpPr>
          <p:cNvPr id="27" name="Conséquence 5"/>
          <p:cNvSpPr txBox="1"/>
          <p:nvPr/>
        </p:nvSpPr>
        <p:spPr>
          <a:xfrm>
            <a:off x="4526280" y="4526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Rien n'est relu, les plans se multiplient</a:t>
            </a:r>
            <a:endParaRPr lang="en-US" sz="1500" dirty="0"/>
          </a:p>
        </p:txBody>
      </p:sp>
      <p:sp>
        <p:nvSpPr>
          <p:cNvPr id="28" name="Cause 6"/>
          <p:cNvSpPr/>
          <p:nvPr/>
        </p:nvSpPr>
        <p:spPr>
          <a:xfrm>
            <a:off x="8046720" y="3520440"/>
            <a:ext cx="347472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éro cause 6"/>
          <p:cNvSpPr/>
          <p:nvPr/>
        </p:nvSpPr>
        <p:spPr>
          <a:xfrm>
            <a:off x="827532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Numéro cause 6 chiffre"/>
          <p:cNvSpPr txBox="1"/>
          <p:nvPr/>
        </p:nvSpPr>
        <p:spPr>
          <a:xfrm>
            <a:off x="8275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Cause texte 6"/>
          <p:cNvSpPr txBox="1"/>
          <p:nvPr/>
        </p:nvSpPr>
        <p:spPr>
          <a:xfrm>
            <a:off x="8915400" y="3703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JSON écrit dans la commande</a:t>
            </a:r>
            <a:endParaRPr lang="en-US" sz="1600" dirty="0"/>
          </a:p>
        </p:txBody>
      </p:sp>
      <p:sp>
        <p:nvSpPr>
          <p:cNvPr id="32" name="Conséquence 6"/>
          <p:cNvSpPr txBox="1"/>
          <p:nvPr/>
        </p:nvSpPr>
        <p:spPr>
          <a:xfrm>
            <a:off x="8275320" y="4526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Les apostrophes françaises la cassent</a:t>
            </a:r>
            <a:endParaRPr lang="en-US" sz="1500" dirty="0"/>
          </a:p>
        </p:txBody>
      </p:sp>
      <p:sp>
        <p:nvSpPr>
          <p:cNvPr id="33" name="Message clé causes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Le modèle ne se trompe pas au hasard : il applique ses consignes.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proposition : un agent, quatre skills</a:t>
            </a:r>
            <a:endParaRPr lang="en-US" sz="3200" dirty="0"/>
          </a:p>
        </p:txBody>
      </p:sp>
      <p:sp>
        <p:nvSpPr>
          <p:cNvPr id="3" name="Carte agent"/>
          <p:cNvSpPr/>
          <p:nvPr/>
        </p:nvSpPr>
        <p:spPr>
          <a:xfrm>
            <a:off x="548640" y="1463040"/>
            <a:ext cx="3291840" cy="411480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Agent ce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gent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6" name="Nom agent"/>
          <p:cNvSpPr txBox="1"/>
          <p:nvPr/>
        </p:nvSpPr>
        <p:spPr>
          <a:xfrm>
            <a:off x="8686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qc agent</a:t>
            </a:r>
            <a:endParaRPr lang="en-US" sz="2200" dirty="0"/>
          </a:p>
        </p:txBody>
      </p:sp>
      <p:sp>
        <p:nvSpPr>
          <p:cNvPr id="7" name="Rôle agent"/>
          <p:cNvSpPr txBox="1"/>
          <p:nvPr/>
        </p:nvSpPr>
        <p:spPr>
          <a:xfrm>
            <a:off x="868680" y="32461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Accès à Azure DevOps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Règles de sécurité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Choisit le bon skill</a:t>
            </a:r>
            <a:endParaRPr lang="en-US" sz="1500" dirty="0"/>
          </a:p>
        </p:txBody>
      </p:sp>
      <p:sp>
        <p:nvSpPr>
          <p:cNvPr id="8" name="Analogie"/>
          <p:cNvSpPr txBox="1"/>
          <p:nvPr/>
        </p:nvSpPr>
        <p:spPr>
          <a:xfrm>
            <a:off x="868680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L'agent est la personne. Les skills sont ses fiches méthode.</a:t>
            </a:r>
            <a:endParaRPr lang="en-US" sz="1400" dirty="0"/>
          </a:p>
        </p:txBody>
      </p:sp>
      <p:sp>
        <p:nvSpPr>
          <p:cNvPr id="9" name="Skill /analyse-us"/>
          <p:cNvSpPr/>
          <p:nvPr/>
        </p:nvSpPr>
        <p:spPr>
          <a:xfrm>
            <a:off x="4206240" y="146304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kill /analyse-us cercle"/>
          <p:cNvSpPr/>
          <p:nvPr/>
        </p:nvSpPr>
        <p:spPr>
          <a:xfrm>
            <a:off x="443484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kill /analyse-us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274320" cy="274320"/>
          </a:xfrm>
          <a:prstGeom prst="rect">
            <a:avLst/>
          </a:prstGeom>
        </p:spPr>
      </p:pic>
      <p:sp>
        <p:nvSpPr>
          <p:cNvPr id="12" name="Nom /analyse-us"/>
          <p:cNvSpPr txBox="1"/>
          <p:nvPr/>
        </p:nvSpPr>
        <p:spPr>
          <a:xfrm>
            <a:off x="5120640" y="1691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/analyse-us</a:t>
            </a:r>
            <a:endParaRPr lang="en-US" sz="1700" dirty="0"/>
          </a:p>
        </p:txBody>
      </p:sp>
      <p:sp>
        <p:nvSpPr>
          <p:cNvPr id="13" name="Rôle /analyse-us"/>
          <p:cNvSpPr txBox="1"/>
          <p:nvPr/>
        </p:nvSpPr>
        <p:spPr>
          <a:xfrm>
            <a:off x="4434840" y="23317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Lit l'US, ses commentaires et le parent. Statut par critère, questions pour le PO</a:t>
            </a:r>
            <a:endParaRPr lang="en-US" sz="1400" dirty="0"/>
          </a:p>
        </p:txBody>
      </p:sp>
      <p:sp>
        <p:nvSpPr>
          <p:cNvPr id="14" name="Écriture /analyse-us"/>
          <p:cNvSpPr txBox="1"/>
          <p:nvPr/>
        </p:nvSpPr>
        <p:spPr>
          <a:xfrm>
            <a:off x="4434840" y="2999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N'écrit pas dans ADO</a:t>
            </a:r>
            <a:endParaRPr lang="en-US" sz="1200" dirty="0"/>
          </a:p>
        </p:txBody>
      </p:sp>
      <p:sp>
        <p:nvSpPr>
          <p:cNvPr id="15" name="Skill /redaction-gherkin"/>
          <p:cNvSpPr/>
          <p:nvPr/>
        </p:nvSpPr>
        <p:spPr>
          <a:xfrm>
            <a:off x="7955280" y="146304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kill /redaction-gherkin cercle"/>
          <p:cNvSpPr/>
          <p:nvPr/>
        </p:nvSpPr>
        <p:spPr>
          <a:xfrm>
            <a:off x="818388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kill /redaction-gherkin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0"/>
            <a:ext cx="274320" cy="274320"/>
          </a:xfrm>
          <a:prstGeom prst="rect">
            <a:avLst/>
          </a:prstGeom>
        </p:spPr>
      </p:pic>
      <p:sp>
        <p:nvSpPr>
          <p:cNvPr id="18" name="Nom /redaction-gherkin"/>
          <p:cNvSpPr txBox="1"/>
          <p:nvPr/>
        </p:nvSpPr>
        <p:spPr>
          <a:xfrm>
            <a:off x="8869680" y="1691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/redaction-gherkin</a:t>
            </a:r>
            <a:endParaRPr lang="en-US" sz="1700" dirty="0"/>
          </a:p>
        </p:txBody>
      </p:sp>
      <p:sp>
        <p:nvSpPr>
          <p:cNvPr id="19" name="Rôle /redaction-gherkin"/>
          <p:cNvSpPr txBox="1"/>
          <p:nvPr/>
        </p:nvSpPr>
        <p:spPr>
          <a:xfrm>
            <a:off x="8183880" y="23317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Cas nominaux, négatifs et limites. Contrôle automatique sans IA</a:t>
            </a:r>
            <a:endParaRPr lang="en-US" sz="1400" dirty="0"/>
          </a:p>
        </p:txBody>
      </p:sp>
      <p:sp>
        <p:nvSpPr>
          <p:cNvPr id="20" name="Écriture /redaction-gherkin"/>
          <p:cNvSpPr txBox="1"/>
          <p:nvPr/>
        </p:nvSpPr>
        <p:spPr>
          <a:xfrm>
            <a:off x="8183880" y="2999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N'écrit pas dans ADO</a:t>
            </a:r>
            <a:endParaRPr lang="en-US" sz="1200" dirty="0"/>
          </a:p>
        </p:txBody>
      </p:sp>
      <p:sp>
        <p:nvSpPr>
          <p:cNvPr id="21" name="Skill /publication-ado"/>
          <p:cNvSpPr/>
          <p:nvPr/>
        </p:nvSpPr>
        <p:spPr>
          <a:xfrm>
            <a:off x="4206240" y="356616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kill /publication-ado cercle"/>
          <p:cNvSpPr/>
          <p:nvPr/>
        </p:nvSpPr>
        <p:spPr>
          <a:xfrm>
            <a:off x="4434840" y="3794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kill /publication-ado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931920"/>
            <a:ext cx="274320" cy="274320"/>
          </a:xfrm>
          <a:prstGeom prst="rect">
            <a:avLst/>
          </a:prstGeom>
        </p:spPr>
      </p:pic>
      <p:sp>
        <p:nvSpPr>
          <p:cNvPr id="24" name="Nom /publication-ado"/>
          <p:cNvSpPr txBox="1"/>
          <p:nvPr/>
        </p:nvSpPr>
        <p:spPr>
          <a:xfrm>
            <a:off x="512064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/publication-ado</a:t>
            </a:r>
            <a:endParaRPr lang="en-US" sz="1700" dirty="0"/>
          </a:p>
        </p:txBody>
      </p:sp>
      <p:sp>
        <p:nvSpPr>
          <p:cNvPr id="25" name="Rôle /publication-ado"/>
          <p:cNvSpPr txBox="1"/>
          <p:nvPr/>
        </p:nvSpPr>
        <p:spPr>
          <a:xfrm>
            <a:off x="4434840" y="44348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Publie le fichier relu tel quel, lie chaque cas à l'US, vérifie</a:t>
            </a:r>
            <a:endParaRPr lang="en-US" sz="1400" dirty="0"/>
          </a:p>
        </p:txBody>
      </p:sp>
      <p:sp>
        <p:nvSpPr>
          <p:cNvPr id="26" name="Écriture /publication-ado"/>
          <p:cNvSpPr txBox="1"/>
          <p:nvPr/>
        </p:nvSpPr>
        <p:spPr>
          <a:xfrm>
            <a:off x="4434840" y="5102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Écrit après accord</a:t>
            </a:r>
            <a:endParaRPr lang="en-US" sz="1200" dirty="0"/>
          </a:p>
        </p:txBody>
      </p:sp>
      <p:sp>
        <p:nvSpPr>
          <p:cNvPr id="27" name="Skill /redaction-anomalie"/>
          <p:cNvSpPr/>
          <p:nvPr/>
        </p:nvSpPr>
        <p:spPr>
          <a:xfrm>
            <a:off x="7955280" y="3566160"/>
            <a:ext cx="34747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kill /redaction-anomalie cercle"/>
          <p:cNvSpPr/>
          <p:nvPr/>
        </p:nvSpPr>
        <p:spPr>
          <a:xfrm>
            <a:off x="8183880" y="3794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kill /redaction-anomalie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31920"/>
            <a:ext cx="274320" cy="274320"/>
          </a:xfrm>
          <a:prstGeom prst="rect">
            <a:avLst/>
          </a:prstGeom>
        </p:spPr>
      </p:pic>
      <p:sp>
        <p:nvSpPr>
          <p:cNvPr id="30" name="Nom /redaction-anomalie"/>
          <p:cNvSpPr txBox="1"/>
          <p:nvPr/>
        </p:nvSpPr>
        <p:spPr>
          <a:xfrm>
            <a:off x="886968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/redaction-anomalie</a:t>
            </a:r>
            <a:endParaRPr lang="en-US" sz="1700" dirty="0"/>
          </a:p>
        </p:txBody>
      </p:sp>
      <p:sp>
        <p:nvSpPr>
          <p:cNvPr id="31" name="Rôle /redaction-anomalie"/>
          <p:cNvSpPr txBox="1"/>
          <p:nvPr/>
        </p:nvSpPr>
        <p:spPr>
          <a:xfrm>
            <a:off x="8183880" y="44348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Bug sourcé et reproductible, recherche des doublons</a:t>
            </a:r>
            <a:endParaRPr lang="en-US" sz="1400" dirty="0"/>
          </a:p>
        </p:txBody>
      </p:sp>
      <p:sp>
        <p:nvSpPr>
          <p:cNvPr id="32" name="Écriture /redaction-anomalie"/>
          <p:cNvSpPr txBox="1"/>
          <p:nvPr/>
        </p:nvSpPr>
        <p:spPr>
          <a:xfrm>
            <a:off x="8183880" y="5102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Écrit après accord</a:t>
            </a:r>
            <a:endParaRPr lang="en-US" sz="1200" dirty="0"/>
          </a:p>
        </p:txBody>
      </p:sp>
      <p:sp>
        <p:nvSpPr>
          <p:cNvPr id="33" name="Règles communes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Règles communes à tout le dépôt : copilot-instructions.md (français, données fictives, ne rien inventer)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parcours d'une US</a:t>
            </a:r>
            <a:endParaRPr lang="en-US" sz="3200" dirty="0"/>
          </a:p>
        </p:txBody>
      </p:sp>
      <p:sp>
        <p:nvSpPr>
          <p:cNvPr id="3" name="Ligne du parcours"/>
          <p:cNvSpPr/>
          <p:nvPr/>
        </p:nvSpPr>
        <p:spPr>
          <a:xfrm>
            <a:off x="1097280" y="2057400"/>
            <a:ext cx="8641080" cy="0"/>
          </a:xfrm>
          <a:prstGeom prst="line">
            <a:avLst/>
          </a:prstGeom>
          <a:noFill/>
          <a:ln w="25400">
            <a:solidFill>
              <a:srgbClr val="C3CCD8"/>
            </a:solidFill>
            <a:prstDash val="solid"/>
          </a:ln>
        </p:spPr>
      </p:sp>
      <p:sp>
        <p:nvSpPr>
          <p:cNvPr id="4" name="Étape parcours 1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Étape parcours 1 chiffre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ommande 1"/>
          <p:cNvSpPr txBox="1"/>
          <p:nvPr/>
        </p:nvSpPr>
        <p:spPr>
          <a:xfrm>
            <a:off x="54864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/analyse-us 1234</a:t>
            </a:r>
            <a:endParaRPr lang="en-US" sz="1600" dirty="0"/>
          </a:p>
        </p:txBody>
      </p:sp>
      <p:sp>
        <p:nvSpPr>
          <p:cNvPr id="7" name="Description 1"/>
          <p:cNvSpPr txBox="1"/>
          <p:nvPr/>
        </p:nvSpPr>
        <p:spPr>
          <a:xfrm>
            <a:off x="548640" y="31089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Règles, statut par critère, questions pour le PO</a:t>
            </a:r>
            <a:endParaRPr lang="en-US" sz="1400" dirty="0"/>
          </a:p>
        </p:txBody>
      </p:sp>
      <p:sp>
        <p:nvSpPr>
          <p:cNvPr id="8" name="Effet ADO 1"/>
          <p:cNvSpPr txBox="1"/>
          <p:nvPr/>
        </p:nvSpPr>
        <p:spPr>
          <a:xfrm>
            <a:off x="54864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Rien dans ADO</a:t>
            </a:r>
            <a:endParaRPr lang="en-US" sz="1300" dirty="0"/>
          </a:p>
        </p:txBody>
      </p:sp>
      <p:sp>
        <p:nvSpPr>
          <p:cNvPr id="9" name="Étape parcours 2"/>
          <p:cNvSpPr/>
          <p:nvPr/>
        </p:nvSpPr>
        <p:spPr>
          <a:xfrm>
            <a:off x="370332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Étape parcours 2 chiffre"/>
          <p:cNvSpPr txBox="1"/>
          <p:nvPr/>
        </p:nvSpPr>
        <p:spPr>
          <a:xfrm>
            <a:off x="37033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ommande 2"/>
          <p:cNvSpPr txBox="1"/>
          <p:nvPr/>
        </p:nvSpPr>
        <p:spPr>
          <a:xfrm>
            <a:off x="342900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/redaction-gherkin 1234</a:t>
            </a:r>
            <a:endParaRPr lang="en-US" sz="1600" dirty="0"/>
          </a:p>
        </p:txBody>
      </p:sp>
      <p:sp>
        <p:nvSpPr>
          <p:cNvPr id="12" name="Description 2"/>
          <p:cNvSpPr txBox="1"/>
          <p:nvPr/>
        </p:nvSpPr>
        <p:spPr>
          <a:xfrm>
            <a:off x="3429000" y="31089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Cas en Gherkin, contrôlés par le script</a:t>
            </a:r>
            <a:endParaRPr lang="en-US" sz="1400" dirty="0"/>
          </a:p>
        </p:txBody>
      </p:sp>
      <p:sp>
        <p:nvSpPr>
          <p:cNvPr id="13" name="Effet ADO 2"/>
          <p:cNvSpPr txBox="1"/>
          <p:nvPr/>
        </p:nvSpPr>
        <p:spPr>
          <a:xfrm>
            <a:off x="342900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Rien dans ADO</a:t>
            </a:r>
            <a:endParaRPr lang="en-US" sz="1300" dirty="0"/>
          </a:p>
        </p:txBody>
      </p:sp>
      <p:sp>
        <p:nvSpPr>
          <p:cNvPr id="14" name="Étape parcours 3"/>
          <p:cNvSpPr/>
          <p:nvPr/>
        </p:nvSpPr>
        <p:spPr>
          <a:xfrm>
            <a:off x="6583680" y="17373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Étape parcours 3 chiffre"/>
          <p:cNvSpPr txBox="1"/>
          <p:nvPr/>
        </p:nvSpPr>
        <p:spPr>
          <a:xfrm>
            <a:off x="6583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Commande 3"/>
          <p:cNvSpPr txBox="1"/>
          <p:nvPr/>
        </p:nvSpPr>
        <p:spPr>
          <a:xfrm>
            <a:off x="630936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Relecture humaine</a:t>
            </a:r>
            <a:endParaRPr lang="en-US" sz="1600" dirty="0"/>
          </a:p>
        </p:txBody>
      </p:sp>
      <p:sp>
        <p:nvSpPr>
          <p:cNvPr id="17" name="Description 3"/>
          <p:cNvSpPr txBox="1"/>
          <p:nvPr/>
        </p:nvSpPr>
        <p:spPr>
          <a:xfrm>
            <a:off x="6309360" y="31089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 corrige le fichier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qc-reports/US-1234.md</a:t>
            </a:r>
            <a:endParaRPr lang="en-US" sz="1400" dirty="0"/>
          </a:p>
        </p:txBody>
      </p:sp>
      <p:sp>
        <p:nvSpPr>
          <p:cNvPr id="18" name="Effet ADO 3"/>
          <p:cNvSpPr txBox="1"/>
          <p:nvPr/>
        </p:nvSpPr>
        <p:spPr>
          <a:xfrm>
            <a:off x="630936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C'est ce fichier qui sera publié</a:t>
            </a:r>
            <a:endParaRPr lang="en-US" sz="1300" dirty="0"/>
          </a:p>
        </p:txBody>
      </p:sp>
      <p:sp>
        <p:nvSpPr>
          <p:cNvPr id="19" name="Étape parcours 4"/>
          <p:cNvSpPr/>
          <p:nvPr/>
        </p:nvSpPr>
        <p:spPr>
          <a:xfrm>
            <a:off x="946404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Étape parcours 4 chiffre"/>
          <p:cNvSpPr txBox="1"/>
          <p:nvPr/>
        </p:nvSpPr>
        <p:spPr>
          <a:xfrm>
            <a:off x="94640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Commande 4"/>
          <p:cNvSpPr txBox="1"/>
          <p:nvPr/>
        </p:nvSpPr>
        <p:spPr>
          <a:xfrm>
            <a:off x="918972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/publication-ado 1234</a:t>
            </a:r>
            <a:endParaRPr lang="en-US" sz="1600" dirty="0"/>
          </a:p>
        </p:txBody>
      </p:sp>
      <p:sp>
        <p:nvSpPr>
          <p:cNvPr id="22" name="Description 4"/>
          <p:cNvSpPr txBox="1"/>
          <p:nvPr/>
        </p:nvSpPr>
        <p:spPr>
          <a:xfrm>
            <a:off x="9189720" y="31089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Aperçu, puis « oui », puis création et liens</a:t>
            </a:r>
            <a:endParaRPr lang="en-US" sz="1400" dirty="0"/>
          </a:p>
        </p:txBody>
      </p:sp>
      <p:sp>
        <p:nvSpPr>
          <p:cNvPr id="23" name="Effet ADO 4"/>
          <p:cNvSpPr txBox="1"/>
          <p:nvPr/>
        </p:nvSpPr>
        <p:spPr>
          <a:xfrm>
            <a:off x="918972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Écrit après accord</a:t>
            </a:r>
            <a:endParaRPr lang="en-US" sz="1300" dirty="0"/>
          </a:p>
        </p:txBody>
      </p:sp>
      <p:sp>
        <p:nvSpPr>
          <p:cNvPr id="24" name="Bandeau anomalie"/>
          <p:cNvSpPr/>
          <p:nvPr/>
        </p:nvSpPr>
        <p:spPr>
          <a:xfrm>
            <a:off x="548640" y="480060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Anomalie cercle"/>
          <p:cNvSpPr/>
          <p:nvPr/>
        </p:nvSpPr>
        <p:spPr>
          <a:xfrm>
            <a:off x="822960" y="5029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Anomali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212080"/>
            <a:ext cx="365760" cy="365760"/>
          </a:xfrm>
          <a:prstGeom prst="rect">
            <a:avLst/>
          </a:prstGeom>
        </p:spPr>
      </p:pic>
      <p:sp>
        <p:nvSpPr>
          <p:cNvPr id="27" name="Texte anomalie"/>
          <p:cNvSpPr txBox="1"/>
          <p:nvPr/>
        </p:nvSpPr>
        <p:spPr>
          <a:xfrm>
            <a:off x="1783080" y="4892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Pendant l'exécution : /redaction-anomalie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décrit ce qu'on a vu ; l'agent retrouve l'attendu dans l'US, cherche les doublons, montre le bug, puis le crée sur « oui 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garde-fous</a:t>
            </a:r>
            <a:endParaRPr lang="en-US" sz="3200" dirty="0"/>
          </a:p>
        </p:txBody>
      </p:sp>
      <p:sp>
        <p:nvSpPr>
          <p:cNvPr id="3" name="Garde-fou 1 cercle"/>
          <p:cNvSpPr/>
          <p:nvPr/>
        </p:nvSpPr>
        <p:spPr>
          <a:xfrm>
            <a:off x="548640" y="150876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Garde-fou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703070"/>
            <a:ext cx="388620" cy="388620"/>
          </a:xfrm>
          <a:prstGeom prst="rect">
            <a:avLst/>
          </a:prstGeom>
        </p:spPr>
      </p:pic>
      <p:sp>
        <p:nvSpPr>
          <p:cNvPr id="5" name="Titre garde-fou 1"/>
          <p:cNvSpPr txBox="1"/>
          <p:nvPr/>
        </p:nvSpPr>
        <p:spPr>
          <a:xfrm>
            <a:off x="155448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Toutes les sources sont lues</a:t>
            </a:r>
            <a:endParaRPr lang="en-US" sz="1800" dirty="0"/>
          </a:p>
        </p:txBody>
      </p:sp>
      <p:sp>
        <p:nvSpPr>
          <p:cNvPr id="6" name="Texte garde-fou 1"/>
          <p:cNvSpPr txBox="1"/>
          <p:nvPr/>
        </p:nvSpPr>
        <p:spPr>
          <a:xfrm>
            <a:off x="1554480" y="18745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US, critères, tous les commentaires, parent. Chaque règle cite sa source</a:t>
            </a:r>
            <a:endParaRPr lang="en-US" sz="1500" dirty="0"/>
          </a:p>
        </p:txBody>
      </p:sp>
      <p:sp>
        <p:nvSpPr>
          <p:cNvPr id="7" name="Garde-fou 2 cercle"/>
          <p:cNvSpPr/>
          <p:nvPr/>
        </p:nvSpPr>
        <p:spPr>
          <a:xfrm>
            <a:off x="6172200" y="150876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Garde-fou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510" y="1703070"/>
            <a:ext cx="388620" cy="388620"/>
          </a:xfrm>
          <a:prstGeom prst="rect">
            <a:avLst/>
          </a:prstGeom>
        </p:spPr>
      </p:pic>
      <p:sp>
        <p:nvSpPr>
          <p:cNvPr id="9" name="Titre garde-fou 2"/>
          <p:cNvSpPr txBox="1"/>
          <p:nvPr/>
        </p:nvSpPr>
        <p:spPr>
          <a:xfrm>
            <a:off x="717804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question plutôt qu'une invention</a:t>
            </a:r>
            <a:endParaRPr lang="en-US" sz="1800" dirty="0"/>
          </a:p>
        </p:txBody>
      </p:sp>
      <p:sp>
        <p:nvSpPr>
          <p:cNvPr id="10" name="Texte garde-fou 2"/>
          <p:cNvSpPr txBox="1"/>
          <p:nvPr/>
        </p:nvSpPr>
        <p:spPr>
          <a:xfrm>
            <a:off x="7178040" y="18745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Statut par critère : un critère ambigu donne une question, pas un cas</a:t>
            </a:r>
            <a:endParaRPr lang="en-US" sz="1500" dirty="0"/>
          </a:p>
        </p:txBody>
      </p:sp>
      <p:sp>
        <p:nvSpPr>
          <p:cNvPr id="11" name="Garde-fou 3 cercle"/>
          <p:cNvSpPr/>
          <p:nvPr/>
        </p:nvSpPr>
        <p:spPr>
          <a:xfrm>
            <a:off x="548640" y="306324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Garde-fou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257550"/>
            <a:ext cx="388620" cy="388620"/>
          </a:xfrm>
          <a:prstGeom prst="rect">
            <a:avLst/>
          </a:prstGeom>
        </p:spPr>
      </p:pic>
      <p:sp>
        <p:nvSpPr>
          <p:cNvPr id="13" name="Titre garde-fou 3"/>
          <p:cNvSpPr txBox="1"/>
          <p:nvPr/>
        </p:nvSpPr>
        <p:spPr>
          <a:xfrm>
            <a:off x="1554480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 contrôle sans IA</a:t>
            </a:r>
            <a:endParaRPr lang="en-US" sz="1800" dirty="0"/>
          </a:p>
        </p:txBody>
      </p:sp>
      <p:sp>
        <p:nvSpPr>
          <p:cNvPr id="14" name="Texte garde-fou 3"/>
          <p:cNvSpPr txBox="1"/>
          <p:nvPr/>
        </p:nvSpPr>
        <p:spPr>
          <a:xfrm>
            <a:off x="1554480" y="34290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 script refuse un cas sans Alors, avec deux Quand ou un « correctement »</a:t>
            </a:r>
            <a:endParaRPr lang="en-US" sz="1500" dirty="0"/>
          </a:p>
        </p:txBody>
      </p:sp>
      <p:sp>
        <p:nvSpPr>
          <p:cNvPr id="15" name="Garde-fou 4 cercle"/>
          <p:cNvSpPr/>
          <p:nvPr/>
        </p:nvSpPr>
        <p:spPr>
          <a:xfrm>
            <a:off x="6172200" y="306324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Garde-fou 4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510" y="3257550"/>
            <a:ext cx="388620" cy="388620"/>
          </a:xfrm>
          <a:prstGeom prst="rect">
            <a:avLst/>
          </a:prstGeom>
        </p:spPr>
      </p:pic>
      <p:sp>
        <p:nvSpPr>
          <p:cNvPr id="17" name="Titre garde-fou 4"/>
          <p:cNvSpPr txBox="1"/>
          <p:nvPr/>
        </p:nvSpPr>
        <p:spPr>
          <a:xfrm>
            <a:off x="7178040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Rien n'est écrit sans accord</a:t>
            </a:r>
            <a:endParaRPr lang="en-US" sz="1800" dirty="0"/>
          </a:p>
        </p:txBody>
      </p:sp>
      <p:sp>
        <p:nvSpPr>
          <p:cNvPr id="18" name="Texte garde-fou 4"/>
          <p:cNvSpPr txBox="1"/>
          <p:nvPr/>
        </p:nvSpPr>
        <p:spPr>
          <a:xfrm>
            <a:off x="7178040" y="34290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Aperçu exact, puis « oui » explicite, pour les cas comme pour les bugs</a:t>
            </a:r>
            <a:endParaRPr lang="en-US" sz="1500" dirty="0"/>
          </a:p>
        </p:txBody>
      </p:sp>
      <p:sp>
        <p:nvSpPr>
          <p:cNvPr id="19" name="Garde-fou 5 cercle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Garde-fou 5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812030"/>
            <a:ext cx="388620" cy="388620"/>
          </a:xfrm>
          <a:prstGeom prst="rect">
            <a:avLst/>
          </a:prstGeom>
        </p:spPr>
      </p:pic>
      <p:sp>
        <p:nvSpPr>
          <p:cNvPr id="21" name="Titre garde-fou 5"/>
          <p:cNvSpPr txBox="1"/>
          <p:nvPr/>
        </p:nvSpPr>
        <p:spPr>
          <a:xfrm>
            <a:off x="1554480" y="4526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Chacun avec son identité</a:t>
            </a:r>
            <a:endParaRPr lang="en-US" sz="1800" dirty="0"/>
          </a:p>
        </p:txBody>
      </p:sp>
      <p:sp>
        <p:nvSpPr>
          <p:cNvPr id="22" name="Texte garde-fou 5"/>
          <p:cNvSpPr txBox="1"/>
          <p:nvPr/>
        </p:nvSpPr>
        <p:spPr>
          <a:xfrm>
            <a:off x="155448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PAT personnel : ADO montre qui a créé quoi</a:t>
            </a:r>
            <a:endParaRPr lang="en-US" sz="1500" dirty="0"/>
          </a:p>
        </p:txBody>
      </p:sp>
      <p:sp>
        <p:nvSpPr>
          <p:cNvPr id="23" name="Garde-fou 6 cercle"/>
          <p:cNvSpPr/>
          <p:nvPr/>
        </p:nvSpPr>
        <p:spPr>
          <a:xfrm>
            <a:off x="6172200" y="461772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Garde-fou 6 icô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510" y="4812030"/>
            <a:ext cx="388620" cy="388620"/>
          </a:xfrm>
          <a:prstGeom prst="rect">
            <a:avLst/>
          </a:prstGeom>
        </p:spPr>
      </p:pic>
      <p:sp>
        <p:nvSpPr>
          <p:cNvPr id="25" name="Titre garde-fou 6"/>
          <p:cNvSpPr txBox="1"/>
          <p:nvPr/>
        </p:nvSpPr>
        <p:spPr>
          <a:xfrm>
            <a:off x="7178040" y="4526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Pas de donnée client</a:t>
            </a:r>
            <a:endParaRPr lang="en-US" sz="1800" dirty="0"/>
          </a:p>
        </p:txBody>
      </p:sp>
      <p:sp>
        <p:nvSpPr>
          <p:cNvPr id="26" name="Texte garde-fou 6"/>
          <p:cNvSpPr txBox="1"/>
          <p:nvPr/>
        </p:nvSpPr>
        <p:spPr>
          <a:xfrm>
            <a:off x="717804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Identifiants fictifs, captures masquées, ajoutées par le testeur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Avant, après</a:t>
            </a:r>
            <a:endParaRPr lang="en-US" sz="3200" dirty="0"/>
          </a:p>
        </p:txBody>
      </p:sp>
      <p:graphicFrame>
        <p:nvGraphicFramePr>
          <p:cNvPr id="10" name="Tableau avant aprè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51206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Après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Réponses du 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Ignorées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Lues et citées avec auteur et 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qui manque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au PO, cas bloqué tant qu'elle est ouverte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Résultats attendus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 la demande est créée 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exact, message exact, donnée inchangée sur un refus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Reprise Oui et Reprise 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cas par résultat attendu différent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Étapes dans 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 Alors » sans résultat attendu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 Alors » dans le résultat attendu du pas du « Quand 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 qualité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automatique avant toute publication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Automatique, un plan par 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Après relecture et accord, dans le plan existant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fichier qui fait tout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agent, quatre skills modifiables séparément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même cas, avant et après</a:t>
            </a:r>
            <a:endParaRPr lang="en-US" sz="3200" dirty="0"/>
          </a:p>
        </p:txBody>
      </p:sp>
      <p:sp>
        <p:nvSpPr>
          <p:cNvPr id="3" name="Panneau avant"/>
          <p:cNvSpPr/>
          <p:nvPr/>
        </p:nvSpPr>
        <p:spPr>
          <a:xfrm>
            <a:off x="548640" y="1371600"/>
            <a:ext cx="53949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Étiquette avant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Agent actuel (TC-012)</a:t>
            </a:r>
            <a:endParaRPr lang="en-US" sz="1800" dirty="0"/>
          </a:p>
        </p:txBody>
      </p:sp>
      <p:sp>
        <p:nvSpPr>
          <p:cNvPr id="5" name="Gherkin avant"/>
          <p:cNvSpPr txBox="1"/>
          <p:nvPr/>
        </p:nvSpPr>
        <p:spPr>
          <a:xfrm>
            <a:off x="822960" y="20574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Given une entité sans demande existante et tous les champs Renouvellement renseignés,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When l'utilisateur clique sur « Valider la création »,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Then la demande est créée et l'utilisateur est redirigé vers la page du formulaire</a:t>
            </a:r>
            <a:endParaRPr lang="en-US" sz="1500" dirty="0"/>
          </a:p>
        </p:txBody>
      </p:sp>
      <p:sp>
        <p:nvSpPr>
          <p:cNvPr id="6" name="Remarques avant"/>
          <p:cNvSpPr txBox="1"/>
          <p:nvPr/>
        </p:nvSpPr>
        <p:spPr>
          <a:xfrm>
            <a:off x="640080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Précondition contraire à la réponse du PO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Ni statut ni message vérifiés, aucune donnée nommée</a:t>
            </a:r>
            <a:endParaRPr lang="en-US" sz="1500" dirty="0"/>
          </a:p>
        </p:txBody>
      </p:sp>
      <p:sp>
        <p:nvSpPr>
          <p:cNvPr id="7" name="Panneau après"/>
          <p:cNvSpPr/>
          <p:nvPr/>
        </p:nvSpPr>
        <p:spPr>
          <a:xfrm>
            <a:off x="6217920" y="1371600"/>
            <a:ext cx="53949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Étiquette après"/>
          <p:cNvSpPr txBox="1"/>
          <p:nvPr/>
        </p:nvSpPr>
        <p:spPr>
          <a:xfrm>
            <a:off x="649224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Proposition</a:t>
            </a:r>
            <a:endParaRPr lang="en-US" sz="1800" dirty="0"/>
          </a:p>
        </p:txBody>
      </p:sp>
      <p:sp>
        <p:nvSpPr>
          <p:cNvPr id="9" name="Gherkin après"/>
          <p:cNvSpPr txBox="1"/>
          <p:nvPr/>
        </p:nvSpPr>
        <p:spPr>
          <a:xfrm>
            <a:off x="6492240" y="20574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Étant donné que "AD-TEST-01" est connecté avec le rôle "Admin"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Et que l'entité "ENT-TEST-02" a un mandat précédent validé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Quand je crée un "Renouvellement" pour "ENT-TEST-02"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Alors le message de confirmation est affiché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Et la page du formulaire de la demande créée est affichée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Et la demande de "ENT-TEST-02" est au statut "En cours"</a:t>
            </a:r>
            <a:endParaRPr lang="en-US" sz="1500" dirty="0"/>
          </a:p>
        </p:txBody>
      </p:sp>
      <p:sp>
        <p:nvSpPr>
          <p:cNvPr id="10" name="Remarques après"/>
          <p:cNvSpPr txBox="1"/>
          <p:nvPr/>
        </p:nvSpPr>
        <p:spPr>
          <a:xfrm>
            <a:off x="6309360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Précondition tirée du commentaire du PO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Statut vérifié, données nommées, un seul « Quand 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Déploiement et suite</a:t>
            </a:r>
            <a:endParaRPr lang="en-US" sz="3200" dirty="0"/>
          </a:p>
        </p:txBody>
      </p:sp>
      <p:sp>
        <p:nvSpPr>
          <p:cNvPr id="3" name="Titre étapes"/>
          <p:cNvSpPr txBox="1"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Étapes</a:t>
            </a:r>
            <a:endParaRPr lang="en-US" sz="2000" dirty="0"/>
          </a:p>
        </p:txBody>
      </p:sp>
      <p:sp>
        <p:nvSpPr>
          <p:cNvPr id="4" name="Étape suite 1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Étape suite 1 chiffre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Étape titre 1"/>
          <p:cNvSpPr txBox="1"/>
          <p:nvPr/>
        </p:nvSpPr>
        <p:spPr>
          <a:xfrm>
            <a:off x="123444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Pilote</a:t>
            </a:r>
            <a:endParaRPr lang="en-US" sz="1700" dirty="0"/>
          </a:p>
        </p:txBody>
      </p:sp>
      <p:sp>
        <p:nvSpPr>
          <p:cNvPr id="7" name="Étape texte 1"/>
          <p:cNvSpPr txBox="1"/>
          <p:nvPr/>
        </p:nvSpPr>
        <p:spPr>
          <a:xfrm>
            <a:off x="1234440" y="2331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Sur les US du prochain sprint, en parallèle de l'agent actuel, puis comparaison</a:t>
            </a:r>
            <a:endParaRPr lang="en-US" sz="1500" dirty="0"/>
          </a:p>
        </p:txBody>
      </p:sp>
      <p:sp>
        <p:nvSpPr>
          <p:cNvPr id="8" name="Étape suite 2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Étape suite 2 chiffre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Étape titre 2"/>
          <p:cNvSpPr txBox="1"/>
          <p:nvPr/>
        </p:nvSpPr>
        <p:spPr>
          <a:xfrm>
            <a:off x="1234440" y="3154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Mode d'emploi</a:t>
            </a:r>
            <a:endParaRPr lang="en-US" sz="1700" dirty="0"/>
          </a:p>
        </p:txBody>
      </p:sp>
      <p:sp>
        <p:nvSpPr>
          <p:cNvPr id="11" name="Étape texte 2"/>
          <p:cNvSpPr txBox="1"/>
          <p:nvPr/>
        </p:nvSpPr>
        <p:spPr>
          <a:xfrm>
            <a:off x="1234440" y="3566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Une page dans le wiki et une démo de 30 minutes sur une vraie US</a:t>
            </a:r>
            <a:endParaRPr lang="en-US" sz="1500" dirty="0"/>
          </a:p>
        </p:txBody>
      </p:sp>
      <p:sp>
        <p:nvSpPr>
          <p:cNvPr id="12" name="Étape suite 3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Étape suite 3 chiffre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Étape titre 3"/>
          <p:cNvSpPr txBox="1"/>
          <p:nvPr/>
        </p:nvSpPr>
        <p:spPr>
          <a:xfrm>
            <a:off x="1234440" y="4389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Amélioration continue</a:t>
            </a:r>
            <a:endParaRPr lang="en-US" sz="1700" dirty="0"/>
          </a:p>
        </p:txBody>
      </p:sp>
      <p:sp>
        <p:nvSpPr>
          <p:cNvPr id="15" name="Étape texte 3"/>
          <p:cNvSpPr txBox="1"/>
          <p:nvPr/>
        </p:nvSpPr>
        <p:spPr>
          <a:xfrm>
            <a:off x="1234440" y="4800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Chaque erreur relevée devient une règle ajoutée au skill concerné</a:t>
            </a:r>
            <a:endParaRPr lang="en-US" sz="1500" dirty="0"/>
          </a:p>
        </p:txBody>
      </p:sp>
      <p:sp>
        <p:nvSpPr>
          <p:cNvPr id="16" name="Carte validations"/>
          <p:cNvSpPr/>
          <p:nvPr/>
        </p:nvSpPr>
        <p:spPr>
          <a:xfrm>
            <a:off x="6309360" y="1371600"/>
            <a:ext cx="5303520" cy="2240280"/>
          </a:xfrm>
          <a:prstGeom prst="roundRect">
            <a:avLst>
              <a:gd name="adj" fmla="val 326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itre validations"/>
          <p:cNvSpPr txBox="1"/>
          <p:nvPr/>
        </p:nvSpPr>
        <p:spPr>
          <a:xfrm>
            <a:off x="658368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À valider avant</a:t>
            </a:r>
            <a:endParaRPr lang="en-US" sz="1800" dirty="0"/>
          </a:p>
        </p:txBody>
      </p:sp>
      <p:sp>
        <p:nvSpPr>
          <p:cNvPr id="18" name="Liste validations"/>
          <p:cNvSpPr txBox="1"/>
          <p:nvPr/>
        </p:nvSpPr>
        <p:spPr>
          <a:xfrm>
            <a:off x="6583680" y="19659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L'administrateur Copilot autorise agents et skills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politique IA autorise l'envoi des US à Copilot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Test Manager valide le plan et les suites</a:t>
            </a:r>
            <a:endParaRPr lang="en-US" sz="1500" dirty="0"/>
          </a:p>
        </p:txBody>
      </p:sp>
      <p:sp>
        <p:nvSpPr>
          <p:cNvPr id="19" name="Carte indicateurs"/>
          <p:cNvSpPr/>
          <p:nvPr/>
        </p:nvSpPr>
        <p:spPr>
          <a:xfrm>
            <a:off x="6309360" y="3794760"/>
            <a:ext cx="5303520" cy="2240280"/>
          </a:xfrm>
          <a:prstGeom prst="roundRect">
            <a:avLst>
              <a:gd name="adj" fmla="val 326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itre indicateurs"/>
          <p:cNvSpPr txBox="1"/>
          <p:nvPr/>
        </p:nvSpPr>
        <p:spPr>
          <a:xfrm>
            <a:off x="6583680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À suivre pendant le pilote</a:t>
            </a:r>
            <a:endParaRPr lang="en-US" sz="1800" dirty="0"/>
          </a:p>
        </p:txBody>
      </p:sp>
      <p:sp>
        <p:nvSpPr>
          <p:cNvPr id="21" name="Liste indicateurs"/>
          <p:cNvSpPr txBox="1"/>
          <p:nvPr/>
        </p:nvSpPr>
        <p:spPr>
          <a:xfrm>
            <a:off x="658368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Part des cas publiés sans retouche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Questions au PO levées avant le sprint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Bugs renvoyés pour rédaction incomplète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Ce que je propose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Tester la nouvelle version en parallèle de l'actuelle sur le prochain sprint, puis décider ensemble.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Besoins : l'accord de la Test Manager, l'autorisation de l'administrateur Copilot, 30 minutes avec l'équipe.</a:t>
            </a:r>
            <a:endParaRPr lang="en-US" sz="1800" dirty="0"/>
          </a:p>
        </p:txBody>
      </p:sp>
      <p:sp>
        <p:nvSpPr>
          <p:cNvPr id="4" name="Œil cercle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Œil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9372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gent QA">
  <a:themeElements>
    <a:clrScheme name="Agent QA">
      <a:dk1>
        <a:srgbClr val="1B2433"/>
      </a:dk1>
      <a:lt1>
        <a:srgbClr val="FFFFFF"/>
      </a:lt1>
      <a:dk2>
        <a:srgbClr val="3A4A63"/>
      </a:dk2>
      <a:lt2>
        <a:srgbClr val="EEF2F6"/>
      </a:lt2>
      <a:accent1>
        <a:srgbClr val="0E7C7B"/>
      </a:accent1>
      <a:accent2>
        <a:srgbClr val="D64933"/>
      </a:accent2>
      <a:accent3>
        <a:srgbClr val="E9A23B"/>
      </a:accent3>
      <a:accent4>
        <a:srgbClr val="5B6C84"/>
      </a:accent4>
      <a:accent5>
        <a:srgbClr val="CFE7E6"/>
      </a:accent5>
      <a:accent6>
        <a:srgbClr val="F7DDD8"/>
      </a:accent6>
      <a:hlink>
        <a:srgbClr val="0E7C7B"/>
      </a:hlink>
      <a:folHlink>
        <a:srgbClr val="5B6C84"/>
      </a:folHlink>
    </a:clrScheme>
    <a:fontScheme name="Agent Q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QA : proposition d'évolution</dc:title>
  <dc:subject>PptxGenJS Presentation</dc:subject>
  <dc:creator>Daura Rady</dc:creator>
  <cp:lastModifiedBy>Daura Rady</cp:lastModifiedBy>
  <cp:revision>1</cp:revision>
  <dcterms:created xsi:type="dcterms:W3CDTF">2026-10-15T19:37:33Z</dcterms:created>
  <dcterms:modified xsi:type="dcterms:W3CDTF">2026-10-15T19:37:33Z</dcterms:modified>
</cp:coreProperties>
</file>