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ion" id="{0636d700-7dbc-90c8-d334-cf64bd4f50ce}">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 travail qui complète la stratégie de test validée, sans la remplacer. Supports associés : le document de stratégie détaillé et le classeur de sélection des candidats (matrice de risques, matrice de rentabilisation, calcul en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Faits issus de la documentation projet et de la stratégie de test validée. InfoCAC : front Vue 3, API .NET documentée par un contrat OpenAPI, base Azure SQL. Environ 15 000 mandats IBS sont à reprendre, hors du périmètre de la suite automatisée. Mars 2027 est la mise en production ; la recette en ITG et PREPROD se déroule avant. Outillage QA : code des tests sur GitHub, pipelines dans Azure Pipelines, US et cas de test dans Azure DevOps et Test Plans. Risques : droits, car le risque habilitations est noté Haute dans la stratégie ; jeux de données, tous « non fournis » dans la stratégie. Message : ce qui coûte cher sur InfoCAC, ce n'est pas un écran cassé, c'est une donnée fausse qui passe inaperçue.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de test et exclusions repris de la stratégie de test validée, sans la modifier. L'automatisation ne crée pas un nouveau type de test : elle exécute le smoke déjà prévu, et ajoute quelques contrôles de détection précoce. Périmètre de la suite : l'applicatif InfoCAC, par son interface et son API. La reprise IBS et les flux vers les autres applications sont hors de la suite Playwright ; les contrôles de données font l'objet d'une proposition à part (agent de data testing). Pourquoi le smoke d'abord : il est critère d'entrée de chaque campagne dans la stratégie et se rejoue à chaque déploiement, sur trois environnements ; c'est l'activité manuelle la plus fréquente. La non-régression, elle, ne devrait avoir que quelques passes avant mars (à confirmer) : l'automatiser pour gagner du temps ne tient pas. Les contrôles de règles automatisés ne remplacent donc pas la campagne de non-régression : ils détectent plus tôt, entre deux campagnes. Informations à obtenir : fréquence des déploiements en ITG, nombre de campagnes de non-régression prévues. Prérequis à vérifier au premier sprint : accès d'Azure Pipelines à ITG, un compte de test par rôle avec identifiant et mot de passe, accès au contrat OpenAPI.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aux chiffres fictifs, pour montrer le mécanisme (à remplacer par les mesures du pilote). Un scénario API sur une règle de statut : écriture 6 h, maintenance 1 h par sprint tant que l'US bouge, soit 8 h sur les 8 sprints restants (S4 à S11), total 14 h. Temps manuel évité : 20 min par passe de non-régression, une passe par sprint, soit environ 2,7 h. En temps seul, le test coûte bien plus qu'il ne rapporte. Les exécutions de nuit ne comptent pas comme gain de temps : on ne compte que les passes qu'on aurait faites à la main de toute façon. Ce qui peut rembourser le test : trouver une régression le lendemain au lieu de la fin du sprint ou de la recette métier, sur une règle coûteuse à rater. Une suite sans propriétaire après le 31/12 n'est plus exécutée ni maintenue : son ROI tombe à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plafond de dix vient du ROI (diapositive précédente) et de ce qu'un seul propriétaire peut maintenir après le 31/12. Aucune liste n'est arrêtée : les fonctionnalités du périmètre de la stratégie sont toutes à évaluer, une US à la fois, avec les cinq critères. Ces critères sont une proposition à valider avec la Test Manager avant de retenir le moindre cas. Un scénario peut porter une table de décision entière : vingt lignes d'exemples restent un seul scénario à maintenir. Indicateur suivi : défauts trouvés par la suite ; si elle ne trouve rien sur plusieurs sprints, on le dit et on réoriente l'effort.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une pyramide : chaque règle se teste au niveau le plus bas qui la porte. InfoCAC expose une API documentée, donc les règles de saisie, les droits et les statuts n'ont pas besoin de l'écran ; l'UI ne garde que ce que seul l'écran peut prouver. La base (tests unitaires .NET et Vue) appartient aux développeurs : sans elle, la pyramide perd son socle et les défauts de règles sont trouvés plus tard, et plus cher. Pourquoi Playwright pour l'API aussi : un seul langage, un seul rapport, une seule CI, et l'API sert déjà à créer les données des tests UI. Limite : les agents Playwright pilotent un navigateur et servent surtout à l'UI ; pour l'API, notre skill écrit les tests depuis le contrat OpenAPI.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API est typé à partir du contrat OpenAPI de l'API .NET (génération de types) : un changement de contrat casse la compilation avant de casser un test. Page Objects : des actions, les vérifications restent dans les tests. Les tests ne recalculent pas la logique métier : l'attendu vient d'une règle écrite ou d'une table de décision validée. Connexion : en recette, pas de connexion automatique ; chaque test démarre comme une navigation privée, il faut saisir identifiant et mot de passe. On le fait une seule fois par rôle dans un projet de setup, on enregistre la session (storageState) et tous les tests la réutilisent. À vérifier au premier sprint : la page de connexion est-elle celle d'InfoCAC ou celle de Microsoft, y a-t-il une double authentification, où est stocké le jeton (s'il est en sessionStorage, storageState ne le garde pas et il faut un complément), combien de temps dure la session. Le dossier conventions/ est écrit pour les humains et chargé comme contexte par l'outil d'agents autorisé par KPMG. Comptes de test : un compte par rôle dans SailPoint, sans MFA interactive, à obtenir au sprint 1. Données : vérifier avec l'équipe intégration si les flux d'ITG partent vers des instances de test de DA et MyRotations ; si oui, un mandat de test validé y apparaîtra, d'où le préfixe QA et un nettoyage concerté. Config : trace: 'retain-on-failure', retries: 1 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des tests est sur GitHub, les pipelines tournent dans Azure Pipelines : une pull request GitHub déclenche le pipeline de validation, et la protection de branche exige qu'il soit vert pour merger. En CI : forbidOnly activé, --only-changed pour la PR (avec un checkout complet, fetchDepth: 0), retries: 1, trace: 'retain-on-failure'. Quarantaine concrète : tag @quarantaine ; le job bloquant lance --grep-invert @quarantaine, un job séparé non bloquant lance --grep @quarantaine pour suivre la stabilité. Un test instable est un défaut de la suite, pas une fatalité : sa cause est cherchée dans la trace (synchronisation, donnée partagée, locator ambigu). Secrets dans un groupe de variables relié à Key Vault ; résultats JUnit publiés dans le pipeline et rattachés aux cas Test Plans par un reporter (paquet communautaire, à valider). Point à vérifier : l'agent qui exécute le pipeline doit pouvoir ouvrir l'URL d'ITG ; si ITG n'est accessible que depuis le réseau KPMG, utiliser le pool d'agents auto-hébergés des pipelines de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QC : son Gherkin produisait des cas même quand l'US était ambiguë. Correction : la porte de rédaction calculée par script, puis une couverture obligatoire (nominal, négatif, valeurs limites, cas aux bords) avec les techniques ISTQB, vérifiée par un script ; l'agent écrit les cas, il ne les propose pas. L'agent ne crée jamais de plan de test par US : la création de plan lui est interdite par sa configuration, les cas vont dans la suite indiquée. Agent anomalies, repris du module Bug Analysis de Kalisto (qualité du ticket reçu, rédaction sans invention avec « à préciser par le rapporteur », triage avec causes probables et périmètre de non-régression) et adapté à InfoCAC : la QC lui donne la capture d'écran, le cas de test en échec et le modèle de fiche ; il rédige la fiche (étapes, attendu, obtenu, reproductibilité), propose la sévérité selon les quatre niveaux de la stratégie et une priorité selon la portée, puis un script contrôle la fiche (champs obligatoires, priorité recalculée, données personnelles). Le script lint_anomalie rend un verdict calculé (publiable, à compléter, à corriger), la complétude, la reproductibilité et la priorité issue de la matrice portée x sévérité ; l'échelle de sévérité est celle du projet. Après accord de la QC, il crée le bug dans Azure DevOps, joint la capture et le lie à l'US et au cas de test. À fournir : le modèle de fiche KPMG et la convention de liens. Une capture peut contenir des données de CAC : uniquement dans l'outil autorisé par KPMG. Agent Playwright : ce n'est pas une IA de plus, c'est Claude Code équipé couche par couche. Couche 1, voir : le serveur Playwright MCP donne un vrai navigateur, l'agent explore avant d'écrire au lieu de deviner les locators. Couche 2, ranger : Page Objects pour l'UI, clients API typés pour l'API, un locator ne vit qu'à un endroit. Couche 3, règles : un CLAUDE.md court toujours chargé, et des règles par dossier (garde-fous d'environnement, conventions Page Objects, données de test) chargées seulement quand l'agent touche ces fichiers. Couche 4, forcer : les hooks transforment une règle écrite en vérification automatique (blocage de test.skip et de waitForTimeout, lint et typage avant commit). Couche 5, tracer : chaque test relié à son cas Test Plans. Les agents planner, generator et healer de Playwright s'appuient sur la même base ; le triage des échecs et l'audit des locators reprennent les méthodes de mes projets Kalisto Autopsy et Kalisto Preflight, sans y faire passer de donnée KPMG. Le healer est lancé à la demande sur le poste, chaque réparation relue en pull request. Agent data testing : proposition, voir la slide suivante ; il interroge la base en lecture seule. Conditions du POC : ITG joignable, comptes de test par rôle, accord KPMG sur l'outil d'agents.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Exemples fictifs. Lecture seule ne veut pas dire sans requête : un SELECT lit, il ne modifie rien. Le compte de l'agent n'a que GRANT SELECT sur les schémas utiles ; un UPDATE est refusé par la base elle-même. Un second verrou, en code, refuse toute requête qui n'est pas un SELECT, vérifie les tables et colonnes, et impose un délai maximal pour ne pas charger l'environnement de recette. C'est un agent parce qu'il choisit la requête suivante selon le résultat : par exemple, si 5 mandats sont mal mappés, il cherche ce qu'ils ont en commun (même millésime, même entité). Le savoir-faire existe déjà dans le skill test-donnees de l'agent QC (six contrôles et modèles de requêtes Azure SQL) ; il manque l'outil d'exécution et son garde-fou. Le benchmark a validé le principe : le modèle propose, le code contrôle, tout est tracé. Prérequis : document de mapping IBS vers InfoCAC (sans lui, pas d'oracle), compte de lecture accordé par l'équipe base de données, accord de KPMG sur l'accès d'un agent à une base de test. Connexion : le serveur MCP tourne sur le poste et se connecte à Azure SQL avec mssql-python, en authentification Entra ID (aucun mot de passe stocké), avec une identité dédiée à l'agent, jamais celle de la testeuse, pour que l'agent n'hérite pas de droits d'écriture ; ApplicationIntent=ReadOnly envoie les requêtes vers une réplique en lecture si la base en a une. Dans le pipeline, le rejeu utilise la connexion de service Azure, sur le pool d'agents auto-hébergés qui joint ITG. Un prototype fonctionne sur une base fictive (17 tests) ; la connexion Azure SQL reste à valider au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Calendrier aligné sur la roadmap review et développement présentée par le projet : 11 sprints (S1 du 07/09 à S11 qui se termine début février), test QC à chaque sprint à partir de S4, test métiers de S6 à S8 puis de S9 à S11. Côté développement : rôles et accès, création et liste des demandes, description du mandat en S1 à S3 ; formulaires mandat bleu en S4 à S6 ; gestion d'entité, multi-millésime et statut révision en S6 et S7 ; validation et flux, tableau de bord, documents en S7 et S8 ; formulaires mandat vert, import, export en S9 à S11. Principe : une fonctionnalité s'évalue pour l'automatisation au plus tôt un sprint après sa livraison, une fois passée en test QC, parce qu'avant elle bouge encore. À mi-octobre, aucun développement n'est encore livré en ITG : les dates des tests dépendent des premières livraisons. Conséquence à dire franchement : à la passation de fin décembre (fin S8), la suite sera encore courte ; d'où un propriétaire nommé, qui porte les barres grises, et des conventions écrites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endParaRPr lang="en-US" sz="16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InfoCAC · Vision de l'automatisation · Document de travail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lIns="0" tIns="0" rIns="0" bIns="0" rtlCol="0" anchor="b"/>
          <a:lstStyle/>
          <a:p>
            <a:pPr algn="l" indent="0" marL="0">
              <a:buNone/>
            </a:pPr>
            <a:r>
              <a:rPr lang="en-US" sz="3600" b="1" dirty="0">
                <a:solidFill>
                  <a:schemeClr val="bg1"/>
                </a:solidFill>
              </a:rPr>
              <a:t>InfoCAC : automatiser là où le risque le justifie</a:t>
            </a: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lIns="0" tIns="0" rIns="0" bIns="0" rtlCol="0" anchor="t"/>
          <a:lstStyle/>
          <a:p>
            <a:pPr algn="l" indent="0" marL="0">
              <a:buNone/>
            </a:pPr>
            <a:r>
              <a:rPr lang="en-US" sz="1800" dirty="0">
                <a:solidFill>
                  <a:schemeClr val="accent3"/>
                </a:solidFill>
              </a:rPr>
              <a:t>Vision de l'automatisation des tests et de l'IA agentique en QA</a:t>
            </a:r>
            <a:endParaRPr lang="en-US" sz="1800" dirty="0"/>
          </a:p>
          <a:p>
            <a:pPr algn="l" indent="0" marL="0">
              <a:buNone/>
            </a:pPr>
            <a:r>
              <a:rPr lang="en-US" sz="1800" dirty="0">
                <a:solidFill>
                  <a:schemeClr val="accent3"/>
                </a:solidFill>
              </a:rPr>
              <a:t>Proposition pour la Test Manager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InfoCAC en bref, et ce qu'il faut protéger</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InfoCAC remplace IBS pour la gestion des mandats de commissariat aux comptes, en une seule bascule.</a:t>
            </a:r>
            <a:endParaRPr lang="en-US" sz="1600" dirty="0"/>
          </a:p>
        </p:txBody>
      </p:sp>
      <p:sp>
        <p:nvSpPr>
          <p:cNvPr id="4" name="Text 2"/>
          <p:cNvSpPr txBox="1"/>
          <p:nvPr/>
        </p:nvSpPr>
        <p:spPr>
          <a:xfrm>
            <a:off x="548640" y="1645920"/>
            <a:ext cx="5394960" cy="347472"/>
          </a:xfrm>
          <a:prstGeom prst="rect">
            <a:avLst/>
          </a:prstGeom>
          <a:noFill/>
          <a:ln/>
        </p:spPr>
        <p:txBody>
          <a:bodyPr wrap="square" lIns="0" tIns="0" rIns="0" bIns="0" rtlCol="0" anchor="t"/>
          <a:lstStyle/>
          <a:p>
            <a:pPr indent="0" marL="0">
              <a:buNone/>
            </a:pPr>
            <a:r>
              <a:rPr lang="en-US" sz="1700" b="1" dirty="0">
                <a:solidFill>
                  <a:schemeClr val="tx2"/>
                </a:solidFill>
              </a:rPr>
              <a:t>L'application</a:t>
            </a:r>
            <a:endParaRPr lang="en-US" sz="1700" dirty="0"/>
          </a:p>
        </p:txBody>
      </p:sp>
      <p:sp>
        <p:nvSpPr>
          <p:cNvPr id="5" name="Text 3"/>
          <p:cNvSpPr txBox="1"/>
          <p:nvPr/>
        </p:nvSpPr>
        <p:spPr>
          <a:xfrm>
            <a:off x="548640" y="2057400"/>
            <a:ext cx="5394960" cy="685800"/>
          </a:xfrm>
          <a:prstGeom prst="rect">
            <a:avLst/>
          </a:prstGeom>
          <a:noFill/>
          <a:ln/>
        </p:spPr>
        <p:txBody>
          <a:bodyPr wrap="square" lIns="0" tIns="0" rIns="0" bIns="0" rtlCol="0" anchor="t"/>
          <a:lstStyle/>
          <a:p>
            <a:pPr indent="0" marL="0">
              <a:buNone/>
            </a:pPr>
            <a:r>
              <a:rPr lang="en-US" sz="1400" dirty="0">
                <a:solidFill>
                  <a:schemeClr val="tx1"/>
                </a:solidFill>
              </a:rPr>
              <a:t>Application web de KPMG qui gère les mandats de commissariat aux comptes. Elle reprend la partie mandats d'IBS, arrêté en avril 2027.</a:t>
            </a:r>
            <a:endParaRPr lang="en-US" sz="1400" dirty="0"/>
          </a:p>
        </p:txBody>
      </p:sp>
      <p:sp>
        <p:nvSpPr>
          <p:cNvPr id="6" name="parcours"/>
          <p:cNvSpPr/>
          <p:nvPr/>
        </p:nvSpPr>
        <p:spPr>
          <a:xfrm>
            <a:off x="548640" y="2880360"/>
            <a:ext cx="1965960" cy="777240"/>
          </a:xfrm>
          <a:prstGeom prst="chevron">
            <a:avLst/>
          </a:prstGeom>
          <a:solidFill>
            <a:schemeClr val="tx2"/>
          </a:solidFill>
          <a:ln/>
        </p:spPr>
      </p:sp>
      <p:sp>
        <p:nvSpPr>
          <p:cNvPr id="7" name="Text 5"/>
          <p:cNvSpPr txBox="1"/>
          <p:nvPr/>
        </p:nvSpPr>
        <p:spPr>
          <a:xfrm>
            <a:off x="93268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Demande</a:t>
            </a:r>
            <a:endParaRPr lang="en-US" sz="1200" dirty="0"/>
          </a:p>
        </p:txBody>
      </p:sp>
      <p:sp>
        <p:nvSpPr>
          <p:cNvPr id="8" name="parcours"/>
          <p:cNvSpPr/>
          <p:nvPr/>
        </p:nvSpPr>
        <p:spPr>
          <a:xfrm>
            <a:off x="2331720" y="2880360"/>
            <a:ext cx="1965960" cy="777240"/>
          </a:xfrm>
          <a:prstGeom prst="chevron">
            <a:avLst/>
          </a:prstGeom>
          <a:solidFill>
            <a:schemeClr val="accent1"/>
          </a:solidFill>
          <a:ln/>
        </p:spPr>
      </p:sp>
      <p:sp>
        <p:nvSpPr>
          <p:cNvPr id="9" name="Text 7"/>
          <p:cNvSpPr txBox="1"/>
          <p:nvPr/>
        </p:nvSpPr>
        <p:spPr>
          <a:xfrm>
            <a:off x="271576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Saisie selon le type de mandat</a:t>
            </a:r>
            <a:endParaRPr lang="en-US" sz="1200" dirty="0"/>
          </a:p>
        </p:txBody>
      </p:sp>
      <p:sp>
        <p:nvSpPr>
          <p:cNvPr id="10" name="parcours"/>
          <p:cNvSpPr/>
          <p:nvPr/>
        </p:nvSpPr>
        <p:spPr>
          <a:xfrm>
            <a:off x="4114800" y="2880360"/>
            <a:ext cx="1965960" cy="777240"/>
          </a:xfrm>
          <a:prstGeom prst="chevron">
            <a:avLst/>
          </a:prstGeom>
          <a:solidFill>
            <a:schemeClr val="tx2"/>
          </a:solidFill>
          <a:ln/>
        </p:spPr>
      </p:sp>
      <p:sp>
        <p:nvSpPr>
          <p:cNvPr id="11" name="Text 9"/>
          <p:cNvSpPr txBox="1"/>
          <p:nvPr/>
        </p:nvSpPr>
        <p:spPr>
          <a:xfrm>
            <a:off x="449884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Validation</a:t>
            </a:r>
            <a:endParaRPr lang="en-US" sz="1200" dirty="0"/>
          </a:p>
        </p:txBody>
      </p:sp>
      <p:pic>
        <p:nvPicPr>
          <p:cNvPr id="12" name="check" descr="preencoded.png">    </p:cNvPr>
          <p:cNvPicPr>
            <a:picLocks noChangeAspect="1"/>
          </p:cNvPicPr>
          <p:nvPr/>
        </p:nvPicPr>
        <p:blipFill>
          <a:blip r:embed="rId1"/>
          <a:stretch>
            <a:fillRect/>
          </a:stretch>
        </p:blipFill>
        <p:spPr>
          <a:xfrm>
            <a:off x="548640" y="3931920"/>
            <a:ext cx="274320" cy="274320"/>
          </a:xfrm>
          <a:prstGeom prst="rect">
            <a:avLst/>
          </a:prstGeom>
        </p:spPr>
      </p:pic>
      <p:sp>
        <p:nvSpPr>
          <p:cNvPr id="13" name="Text 10"/>
          <p:cNvSpPr txBox="1"/>
          <p:nvPr/>
        </p:nvSpPr>
        <p:spPr>
          <a:xfrm>
            <a:off x="932688" y="3858768"/>
            <a:ext cx="5029200" cy="438912"/>
          </a:xfrm>
          <a:prstGeom prst="rect">
            <a:avLst/>
          </a:prstGeom>
          <a:noFill/>
          <a:ln/>
        </p:spPr>
        <p:txBody>
          <a:bodyPr wrap="square" lIns="0" tIns="0" rIns="0" bIns="0" rtlCol="0" anchor="ctr"/>
          <a:lstStyle/>
          <a:p>
            <a:pPr indent="0" marL="0">
              <a:buNone/>
            </a:pPr>
            <a:r>
              <a:rPr lang="en-US" sz="1350" dirty="0">
                <a:solidFill>
                  <a:schemeClr val="tx1"/>
                </a:solidFill>
              </a:rPr>
              <a:t>Trois rôles : User, Admin, Super Admin</a:t>
            </a:r>
            <a:endParaRPr lang="en-US" sz="1350" dirty="0"/>
          </a:p>
        </p:txBody>
      </p:sp>
      <p:pic>
        <p:nvPicPr>
          <p:cNvPr id="14" name="check" descr="preencoded.png">    </p:cNvPr>
          <p:cNvPicPr>
            <a:picLocks noChangeAspect="1"/>
          </p:cNvPicPr>
          <p:nvPr/>
        </p:nvPicPr>
        <p:blipFill>
          <a:blip r:embed="rId2"/>
          <a:stretch>
            <a:fillRect/>
          </a:stretch>
        </p:blipFill>
        <p:spPr>
          <a:xfrm>
            <a:off x="548640" y="4498848"/>
            <a:ext cx="274320" cy="274320"/>
          </a:xfrm>
          <a:prstGeom prst="rect">
            <a:avLst/>
          </a:prstGeom>
        </p:spPr>
      </p:pic>
      <p:sp>
        <p:nvSpPr>
          <p:cNvPr id="15" name="Text 11"/>
          <p:cNvSpPr txBox="1"/>
          <p:nvPr/>
        </p:nvSpPr>
        <p:spPr>
          <a:xfrm>
            <a:off x="932688" y="4425696"/>
            <a:ext cx="5029200" cy="438912"/>
          </a:xfrm>
          <a:prstGeom prst="rect">
            <a:avLst/>
          </a:prstGeom>
          <a:noFill/>
          <a:ln/>
        </p:spPr>
        <p:txBody>
          <a:bodyPr wrap="square" lIns="0" tIns="0" rIns="0" bIns="0" rtlCol="0" anchor="ctr"/>
          <a:lstStyle/>
          <a:p>
            <a:pPr indent="0" marL="0">
              <a:buNone/>
            </a:pPr>
            <a:r>
              <a:rPr lang="en-US" sz="1350" dirty="0">
                <a:solidFill>
                  <a:schemeClr val="tx1"/>
                </a:solidFill>
              </a:rPr>
              <a:t>Alimente des applications réglementaires : Déclaration d'Activités, MyRotations</a:t>
            </a:r>
            <a:endParaRPr lang="en-US" sz="1350" dirty="0"/>
          </a:p>
        </p:txBody>
      </p:sp>
      <p:pic>
        <p:nvPicPr>
          <p:cNvPr id="16" name="check" descr="preencoded.png">    </p:cNvPr>
          <p:cNvPicPr>
            <a:picLocks noChangeAspect="1"/>
          </p:cNvPicPr>
          <p:nvPr/>
        </p:nvPicPr>
        <p:blipFill>
          <a:blip r:embed="rId3"/>
          <a:stretch>
            <a:fillRect/>
          </a:stretch>
        </p:blipFill>
        <p:spPr>
          <a:xfrm>
            <a:off x="548640" y="5065776"/>
            <a:ext cx="274320" cy="274320"/>
          </a:xfrm>
          <a:prstGeom prst="rect">
            <a:avLst/>
          </a:prstGeom>
        </p:spPr>
      </p:pic>
      <p:sp>
        <p:nvSpPr>
          <p:cNvPr id="17" name="Text 12"/>
          <p:cNvSpPr txBox="1"/>
          <p:nvPr/>
        </p:nvSpPr>
        <p:spPr>
          <a:xfrm>
            <a:off x="932688" y="4992624"/>
            <a:ext cx="5029200" cy="438912"/>
          </a:xfrm>
          <a:prstGeom prst="rect">
            <a:avLst/>
          </a:prstGeom>
          <a:noFill/>
          <a:ln/>
        </p:spPr>
        <p:txBody>
          <a:bodyPr wrap="square" lIns="0" tIns="0" rIns="0" bIns="0" rtlCol="0" anchor="ctr"/>
          <a:lstStyle/>
          <a:p>
            <a:pPr indent="0" marL="0">
              <a:buNone/>
            </a:pPr>
            <a:r>
              <a:rPr lang="en-US" sz="1350" dirty="0">
                <a:solidFill>
                  <a:schemeClr val="tx1"/>
                </a:solidFill>
              </a:rPr>
              <a:t>11 sprints de développement jusqu'à début février, mise en production en mars 2027</a:t>
            </a:r>
            <a:endParaRPr lang="en-US" sz="1350" dirty="0"/>
          </a:p>
        </p:txBody>
      </p:sp>
      <p:sp>
        <p:nvSpPr>
          <p:cNvPr id="18" name="Text 13"/>
          <p:cNvSpPr txBox="1"/>
          <p:nvPr/>
        </p:nvSpPr>
        <p:spPr>
          <a:xfrm>
            <a:off x="6309360" y="1645920"/>
            <a:ext cx="5303520" cy="347472"/>
          </a:xfrm>
          <a:prstGeom prst="rect">
            <a:avLst/>
          </a:prstGeom>
          <a:noFill/>
          <a:ln/>
        </p:spPr>
        <p:txBody>
          <a:bodyPr wrap="square" lIns="0" tIns="0" rIns="0" bIns="0" rtlCol="0" anchor="t"/>
          <a:lstStyle/>
          <a:p>
            <a:pPr indent="0" marL="0">
              <a:buNone/>
            </a:pPr>
            <a:r>
              <a:rPr lang="en-US" sz="1700" b="1" dirty="0">
                <a:solidFill>
                  <a:schemeClr val="tx2"/>
                </a:solidFill>
              </a:rPr>
              <a:t>Trois risques</a:t>
            </a:r>
            <a:endParaRPr lang="en-US" sz="1700" dirty="0"/>
          </a:p>
        </p:txBody>
      </p:sp>
      <p:sp>
        <p:nvSpPr>
          <p:cNvPr id="19" name="card"/>
          <p:cNvSpPr/>
          <p:nvPr/>
        </p:nvSpPr>
        <p:spPr>
          <a:xfrm>
            <a:off x="6309360" y="2103120"/>
            <a:ext cx="5303520" cy="1133856"/>
          </a:xfrm>
          <a:prstGeom prst="roundRect">
            <a:avLst>
              <a:gd name="adj" fmla="val 8065"/>
            </a:avLst>
          </a:prstGeom>
          <a:solidFill>
            <a:schemeClr val="bg2"/>
          </a:solidFill>
          <a:ln/>
        </p:spPr>
      </p:sp>
      <p:sp>
        <p:nvSpPr>
          <p:cNvPr id="20" name="icon-circle"/>
          <p:cNvSpPr/>
          <p:nvPr/>
        </p:nvSpPr>
        <p:spPr>
          <a:xfrm>
            <a:off x="6473952" y="2304288"/>
            <a:ext cx="731520" cy="731520"/>
          </a:xfrm>
          <a:prstGeom prst="ellipse">
            <a:avLst/>
          </a:prstGeom>
          <a:solidFill>
            <a:schemeClr val="accent1"/>
          </a:solidFill>
          <a:ln/>
        </p:spPr>
      </p:sp>
      <p:pic>
        <p:nvPicPr>
          <p:cNvPr id="21" name="icon" descr="preencoded.png">    </p:cNvPr>
          <p:cNvPicPr>
            <a:picLocks noChangeAspect="1"/>
          </p:cNvPicPr>
          <p:nvPr/>
        </p:nvPicPr>
        <p:blipFill>
          <a:blip r:embed="rId4"/>
          <a:stretch>
            <a:fillRect/>
          </a:stretch>
        </p:blipFill>
        <p:spPr>
          <a:xfrm>
            <a:off x="6634886" y="2465222"/>
            <a:ext cx="409651" cy="409651"/>
          </a:xfrm>
          <a:prstGeom prst="rect">
            <a:avLst/>
          </a:prstGeom>
        </p:spPr>
      </p:pic>
      <p:sp>
        <p:nvSpPr>
          <p:cNvPr id="22" name="Text 16"/>
          <p:cNvSpPr txBox="1"/>
          <p:nvPr/>
        </p:nvSpPr>
        <p:spPr>
          <a:xfrm>
            <a:off x="7406640" y="2212848"/>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droits par rôle</a:t>
            </a:r>
            <a:endParaRPr lang="en-US" sz="1600" dirty="0"/>
          </a:p>
        </p:txBody>
      </p:sp>
      <p:sp>
        <p:nvSpPr>
          <p:cNvPr id="23" name="Text 17"/>
          <p:cNvSpPr txBox="1"/>
          <p:nvPr/>
        </p:nvSpPr>
        <p:spPr>
          <a:xfrm>
            <a:off x="7406640" y="2560320"/>
            <a:ext cx="4069080" cy="621792"/>
          </a:xfrm>
          <a:prstGeom prst="rect">
            <a:avLst/>
          </a:prstGeom>
          <a:noFill/>
          <a:ln/>
        </p:spPr>
        <p:txBody>
          <a:bodyPr wrap="square" lIns="0" tIns="0" rIns="0" bIns="0" rtlCol="0" anchor="t"/>
          <a:lstStyle/>
          <a:p>
            <a:pPr indent="0" marL="0">
              <a:buNone/>
            </a:pPr>
            <a:r>
              <a:rPr lang="en-US" sz="1300" dirty="0">
                <a:solidFill>
                  <a:schemeClr val="tx1"/>
                </a:solidFill>
              </a:rPr>
              <a:t>Un accès ou une action indus sur un mandat ne se voient pas forcément à l'écran.</a:t>
            </a:r>
            <a:endParaRPr lang="en-US" sz="1300" dirty="0"/>
          </a:p>
        </p:txBody>
      </p:sp>
      <p:sp>
        <p:nvSpPr>
          <p:cNvPr id="24" name="card"/>
          <p:cNvSpPr/>
          <p:nvPr/>
        </p:nvSpPr>
        <p:spPr>
          <a:xfrm>
            <a:off x="6309360" y="3364992"/>
            <a:ext cx="5303520" cy="1133856"/>
          </a:xfrm>
          <a:prstGeom prst="roundRect">
            <a:avLst>
              <a:gd name="adj" fmla="val 8065"/>
            </a:avLst>
          </a:prstGeom>
          <a:solidFill>
            <a:schemeClr val="bg2"/>
          </a:solidFill>
          <a:ln/>
        </p:spPr>
      </p:sp>
      <p:sp>
        <p:nvSpPr>
          <p:cNvPr id="25" name="icon-circle"/>
          <p:cNvSpPr/>
          <p:nvPr/>
        </p:nvSpPr>
        <p:spPr>
          <a:xfrm>
            <a:off x="6473952" y="3566160"/>
            <a:ext cx="731520" cy="731520"/>
          </a:xfrm>
          <a:prstGeom prst="ellipse">
            <a:avLst/>
          </a:prstGeom>
          <a:solidFill>
            <a:schemeClr val="accent1"/>
          </a:solidFill>
          <a:ln/>
        </p:spPr>
      </p:sp>
      <p:pic>
        <p:nvPicPr>
          <p:cNvPr id="26" name="icon" descr="preencoded.png">    </p:cNvPr>
          <p:cNvPicPr>
            <a:picLocks noChangeAspect="1"/>
          </p:cNvPicPr>
          <p:nvPr/>
        </p:nvPicPr>
        <p:blipFill>
          <a:blip r:embed="rId5"/>
          <a:stretch>
            <a:fillRect/>
          </a:stretch>
        </p:blipFill>
        <p:spPr>
          <a:xfrm>
            <a:off x="6634886" y="3727094"/>
            <a:ext cx="409651" cy="409651"/>
          </a:xfrm>
          <a:prstGeom prst="rect">
            <a:avLst/>
          </a:prstGeom>
        </p:spPr>
      </p:pic>
      <p:sp>
        <p:nvSpPr>
          <p:cNvPr id="27" name="Text 20"/>
          <p:cNvSpPr txBox="1"/>
          <p:nvPr/>
        </p:nvSpPr>
        <p:spPr>
          <a:xfrm>
            <a:off x="7406640" y="3474720"/>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formulaires et les statuts</a:t>
            </a:r>
            <a:endParaRPr lang="en-US" sz="1600" dirty="0"/>
          </a:p>
        </p:txBody>
      </p:sp>
      <p:sp>
        <p:nvSpPr>
          <p:cNvPr id="28" name="Text 21"/>
          <p:cNvSpPr txBox="1"/>
          <p:nvPr/>
        </p:nvSpPr>
        <p:spPr>
          <a:xfrm>
            <a:off x="7406640" y="3822192"/>
            <a:ext cx="4069080" cy="621792"/>
          </a:xfrm>
          <a:prstGeom prst="rect">
            <a:avLst/>
          </a:prstGeom>
          <a:noFill/>
          <a:ln/>
        </p:spPr>
        <p:txBody>
          <a:bodyPr wrap="square" lIns="0" tIns="0" rIns="0" bIns="0" rtlCol="0" anchor="t"/>
          <a:lstStyle/>
          <a:p>
            <a:pPr indent="0" marL="0">
              <a:buNone/>
            </a:pPr>
            <a:r>
              <a:rPr lang="en-US" sz="1300" dirty="0">
                <a:solidFill>
                  <a:schemeClr val="tx1"/>
                </a:solidFill>
              </a:rPr>
              <a:t>Chaque livraison peut casser une règle de saisie ou une transition déjà validée.</a:t>
            </a:r>
            <a:endParaRPr lang="en-US" sz="1300" dirty="0"/>
          </a:p>
        </p:txBody>
      </p:sp>
      <p:sp>
        <p:nvSpPr>
          <p:cNvPr id="29" name="card"/>
          <p:cNvSpPr/>
          <p:nvPr/>
        </p:nvSpPr>
        <p:spPr>
          <a:xfrm>
            <a:off x="6309360" y="4626864"/>
            <a:ext cx="5303520" cy="1133856"/>
          </a:xfrm>
          <a:prstGeom prst="roundRect">
            <a:avLst>
              <a:gd name="adj" fmla="val 8065"/>
            </a:avLst>
          </a:prstGeom>
          <a:solidFill>
            <a:schemeClr val="bg2"/>
          </a:solidFill>
          <a:ln/>
        </p:spPr>
      </p:sp>
      <p:sp>
        <p:nvSpPr>
          <p:cNvPr id="30" name="icon-circle"/>
          <p:cNvSpPr/>
          <p:nvPr/>
        </p:nvSpPr>
        <p:spPr>
          <a:xfrm>
            <a:off x="6473952" y="4828032"/>
            <a:ext cx="731520" cy="731520"/>
          </a:xfrm>
          <a:prstGeom prst="ellipse">
            <a:avLst/>
          </a:prstGeom>
          <a:solidFill>
            <a:schemeClr val="accent1"/>
          </a:solidFill>
          <a:ln/>
        </p:spPr>
      </p:sp>
      <p:pic>
        <p:nvPicPr>
          <p:cNvPr id="31" name="icon" descr="preencoded.png">    </p:cNvPr>
          <p:cNvPicPr>
            <a:picLocks noChangeAspect="1"/>
          </p:cNvPicPr>
          <p:nvPr/>
        </p:nvPicPr>
        <p:blipFill>
          <a:blip r:embed="rId6"/>
          <a:stretch>
            <a:fillRect/>
          </a:stretch>
        </p:blipFill>
        <p:spPr>
          <a:xfrm>
            <a:off x="6634886" y="4988966"/>
            <a:ext cx="409651" cy="409651"/>
          </a:xfrm>
          <a:prstGeom prst="rect">
            <a:avLst/>
          </a:prstGeom>
        </p:spPr>
      </p:pic>
      <p:sp>
        <p:nvSpPr>
          <p:cNvPr id="32" name="Text 24"/>
          <p:cNvSpPr txBox="1"/>
          <p:nvPr/>
        </p:nvSpPr>
        <p:spPr>
          <a:xfrm>
            <a:off x="7406640" y="4736592"/>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données de test</a:t>
            </a:r>
            <a:endParaRPr lang="en-US" sz="1600" dirty="0"/>
          </a:p>
        </p:txBody>
      </p:sp>
      <p:sp>
        <p:nvSpPr>
          <p:cNvPr id="33" name="Text 25"/>
          <p:cNvSpPr txBox="1"/>
          <p:nvPr/>
        </p:nvSpPr>
        <p:spPr>
          <a:xfrm>
            <a:off x="7406640" y="5084064"/>
            <a:ext cx="4069080" cy="621792"/>
          </a:xfrm>
          <a:prstGeom prst="rect">
            <a:avLst/>
          </a:prstGeom>
          <a:noFill/>
          <a:ln/>
        </p:spPr>
        <p:txBody>
          <a:bodyPr wrap="square" lIns="0" tIns="0" rIns="0" bIns="0" rtlCol="0" anchor="t"/>
          <a:lstStyle/>
          <a:p>
            <a:pPr indent="0" marL="0">
              <a:buNone/>
            </a:pPr>
            <a:r>
              <a:rPr lang="en-US" sz="1300" dirty="0">
                <a:solidFill>
                  <a:schemeClr val="tx1"/>
                </a:solidFill>
              </a:rPr>
              <a:t>Les 9 jeux de données listés par la stratégie ne sont pas encore fournis.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Ce que l'automatisation pourrait prendre, et ce qu'elle laisse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Proposition : automatiser le smoke, l'activité la plus répétée, et quelques contrôles de règles stables.</a:t>
            </a:r>
            <a:endParaRPr lang="en-US" sz="1600" dirty="0"/>
          </a:p>
        </p:txBody>
      </p:sp>
      <p:sp>
        <p:nvSpPr>
          <p:cNvPr id="4" name="box"/>
          <p:cNvSpPr/>
          <p:nvPr/>
        </p:nvSpPr>
        <p:spPr>
          <a:xfrm>
            <a:off x="548640" y="1691640"/>
            <a:ext cx="3474720" cy="548640"/>
          </a:xfrm>
          <a:prstGeom prst="roundRect">
            <a:avLst>
              <a:gd name="adj" fmla="val 10000"/>
            </a:avLst>
          </a:prstGeom>
          <a:solidFill>
            <a:schemeClr val="tx2"/>
          </a:solidFill>
          <a:ln/>
        </p:spPr>
      </p:sp>
      <p:sp>
        <p:nvSpPr>
          <p:cNvPr id="5" name="Text 3"/>
          <p:cNvSpPr txBox="1"/>
          <p:nvPr/>
        </p:nvSpPr>
        <p:spPr>
          <a:xfrm>
            <a:off x="73152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Prévu par la stratégie validée</a:t>
            </a:r>
            <a:endParaRPr lang="en-US" sz="1500" dirty="0"/>
          </a:p>
        </p:txBody>
      </p:sp>
      <p:sp>
        <p:nvSpPr>
          <p:cNvPr id="6" name="card"/>
          <p:cNvSpPr/>
          <p:nvPr/>
        </p:nvSpPr>
        <p:spPr>
          <a:xfrm>
            <a:off x="548640" y="2331720"/>
            <a:ext cx="3474720" cy="2743200"/>
          </a:xfrm>
          <a:prstGeom prst="roundRect">
            <a:avLst>
              <a:gd name="adj" fmla="val 3333"/>
            </a:avLst>
          </a:prstGeom>
          <a:solidFill>
            <a:schemeClr val="bg2"/>
          </a:solidFill>
          <a:ln/>
        </p:spPr>
      </p:sp>
      <p:sp>
        <p:nvSpPr>
          <p:cNvPr id="7" name="Text 5"/>
          <p:cNvSpPr txBox="1"/>
          <p:nvPr/>
        </p:nvSpPr>
        <p:spPr>
          <a:xfrm>
            <a:off x="73152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Smoke en ITG, PREPROD et PROD, critère d'entrée de chaque campagne</a:t>
            </a:r>
            <a:endParaRPr lang="en-US" sz="1400" dirty="0"/>
          </a:p>
          <a:p>
            <a:pPr indent="0" marL="0">
              <a:spcAft>
                <a:spcPts val="1400"/>
              </a:spcAft>
              <a:buNone/>
            </a:pPr>
            <a:r>
              <a:rPr lang="en-US" sz="1400" dirty="0">
                <a:solidFill>
                  <a:schemeClr val="tx1"/>
                </a:solidFill>
              </a:rPr>
              <a:t>Non-régression en ITG et PREPROD</a:t>
            </a:r>
            <a:endParaRPr lang="en-US" sz="1400" dirty="0"/>
          </a:p>
          <a:p>
            <a:pPr indent="0" marL="0">
              <a:spcAft>
                <a:spcPts val="1400"/>
              </a:spcAft>
              <a:buNone/>
            </a:pPr>
            <a:r>
              <a:rPr lang="en-US" sz="1400" dirty="0">
                <a:solidFill>
                  <a:schemeClr val="tx1"/>
                </a:solidFill>
              </a:rPr>
              <a:t>Recette fonctionnelle en ITG, par la QC</a:t>
            </a:r>
            <a:endParaRPr lang="en-US" sz="1400" dirty="0"/>
          </a:p>
          <a:p>
            <a:pPr indent="0" marL="0">
              <a:spcAft>
                <a:spcPts val="1400"/>
              </a:spcAft>
              <a:buNone/>
            </a:pPr>
            <a:r>
              <a:rPr lang="en-US" sz="1400" dirty="0">
                <a:solidFill>
                  <a:schemeClr val="tx1"/>
                </a:solidFill>
              </a:rPr>
              <a:t>Acceptation par le métier en PREPROD</a:t>
            </a:r>
            <a:endParaRPr lang="en-US" sz="1400" dirty="0"/>
          </a:p>
        </p:txBody>
      </p:sp>
      <p:pic>
        <p:nvPicPr>
          <p:cNvPr id="8" name="arrow" descr="preencoded.png">    </p:cNvPr>
          <p:cNvPicPr>
            <a:picLocks noChangeAspect="1"/>
          </p:cNvPicPr>
          <p:nvPr/>
        </p:nvPicPr>
        <p:blipFill>
          <a:blip r:embed="rId1"/>
          <a:stretch>
            <a:fillRect/>
          </a:stretch>
        </p:blipFill>
        <p:spPr>
          <a:xfrm>
            <a:off x="4050792" y="3566160"/>
            <a:ext cx="274320" cy="274320"/>
          </a:xfrm>
          <a:prstGeom prst="rect">
            <a:avLst/>
          </a:prstGeom>
        </p:spPr>
      </p:pic>
      <p:sp>
        <p:nvSpPr>
          <p:cNvPr id="9" name="box"/>
          <p:cNvSpPr/>
          <p:nvPr/>
        </p:nvSpPr>
        <p:spPr>
          <a:xfrm>
            <a:off x="4343400" y="1691640"/>
            <a:ext cx="3474720" cy="548640"/>
          </a:xfrm>
          <a:prstGeom prst="roundRect">
            <a:avLst>
              <a:gd name="adj" fmla="val 10000"/>
            </a:avLst>
          </a:prstGeom>
          <a:solidFill>
            <a:schemeClr val="accent1"/>
          </a:solidFill>
          <a:ln/>
        </p:spPr>
      </p:sp>
      <p:sp>
        <p:nvSpPr>
          <p:cNvPr id="10" name="Text 7"/>
          <p:cNvSpPr txBox="1"/>
          <p:nvPr/>
        </p:nvSpPr>
        <p:spPr>
          <a:xfrm>
            <a:off x="452628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Proposé pour l'automatisation</a:t>
            </a:r>
            <a:endParaRPr lang="en-US" sz="1500" dirty="0"/>
          </a:p>
        </p:txBody>
      </p:sp>
      <p:sp>
        <p:nvSpPr>
          <p:cNvPr id="11" name="card"/>
          <p:cNvSpPr/>
          <p:nvPr/>
        </p:nvSpPr>
        <p:spPr>
          <a:xfrm>
            <a:off x="4343400" y="2331720"/>
            <a:ext cx="3474720" cy="2743200"/>
          </a:xfrm>
          <a:prstGeom prst="roundRect">
            <a:avLst>
              <a:gd name="adj" fmla="val 3333"/>
            </a:avLst>
          </a:prstGeom>
          <a:solidFill>
            <a:schemeClr val="bg2"/>
          </a:solidFill>
          <a:ln/>
        </p:spPr>
      </p:sp>
      <p:sp>
        <p:nvSpPr>
          <p:cNvPr id="12" name="Text 9"/>
          <p:cNvSpPr txBox="1"/>
          <p:nvPr/>
        </p:nvSpPr>
        <p:spPr>
          <a:xfrm>
            <a:off x="452628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Le smoke, rejoué à chaque déploiement : c'est lui qui revient le plus souvent</a:t>
            </a:r>
            <a:endParaRPr lang="en-US" sz="1400" dirty="0"/>
          </a:p>
          <a:p>
            <a:pPr indent="0" marL="0">
              <a:spcAft>
                <a:spcPts val="1400"/>
              </a:spcAft>
              <a:buNone/>
            </a:pPr>
            <a:r>
              <a:rPr lang="en-US" sz="1400" dirty="0">
                <a:solidFill>
                  <a:schemeClr val="tx1"/>
                </a:solidFill>
              </a:rPr>
              <a:t>Quelques contrôles de règles stables, pour détecter tôt</a:t>
            </a:r>
            <a:endParaRPr lang="en-US" sz="1400" dirty="0"/>
          </a:p>
          <a:p>
            <a:pPr indent="0" marL="0">
              <a:spcAft>
                <a:spcPts val="1400"/>
              </a:spcAft>
              <a:buNone/>
            </a:pPr>
            <a:r>
              <a:rPr lang="en-US" sz="1400" dirty="0">
                <a:solidFill>
                  <a:schemeClr val="tx1"/>
                </a:solidFill>
              </a:rPr>
              <a:t>Par l'API quand la règle y vit, par l'écran sinon</a:t>
            </a:r>
            <a:endParaRPr lang="en-US" sz="1400" dirty="0"/>
          </a:p>
        </p:txBody>
      </p:sp>
      <p:pic>
        <p:nvPicPr>
          <p:cNvPr id="13" name="arrow" descr="preencoded.png">    </p:cNvPr>
          <p:cNvPicPr>
            <a:picLocks noChangeAspect="1"/>
          </p:cNvPicPr>
          <p:nvPr/>
        </p:nvPicPr>
        <p:blipFill>
          <a:blip r:embed="rId2"/>
          <a:stretch>
            <a:fillRect/>
          </a:stretch>
        </p:blipFill>
        <p:spPr>
          <a:xfrm>
            <a:off x="7845552" y="3566160"/>
            <a:ext cx="274320" cy="274320"/>
          </a:xfrm>
          <a:prstGeom prst="rect">
            <a:avLst/>
          </a:prstGeom>
        </p:spPr>
      </p:pic>
      <p:sp>
        <p:nvSpPr>
          <p:cNvPr id="14" name="box"/>
          <p:cNvSpPr/>
          <p:nvPr/>
        </p:nvSpPr>
        <p:spPr>
          <a:xfrm>
            <a:off x="8138160" y="1691640"/>
            <a:ext cx="3474720" cy="548640"/>
          </a:xfrm>
          <a:prstGeom prst="roundRect">
            <a:avLst>
              <a:gd name="adj" fmla="val 10000"/>
            </a:avLst>
          </a:prstGeom>
          <a:solidFill>
            <a:schemeClr val="accent4"/>
          </a:solidFill>
          <a:ln/>
        </p:spPr>
      </p:sp>
      <p:sp>
        <p:nvSpPr>
          <p:cNvPr id="15" name="Text 11"/>
          <p:cNvSpPr txBox="1"/>
          <p:nvPr/>
        </p:nvSpPr>
        <p:spPr>
          <a:xfrm>
            <a:off x="832104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Laissé hors de la suite</a:t>
            </a:r>
            <a:endParaRPr lang="en-US" sz="1500" dirty="0"/>
          </a:p>
        </p:txBody>
      </p:sp>
      <p:sp>
        <p:nvSpPr>
          <p:cNvPr id="16" name="card"/>
          <p:cNvSpPr/>
          <p:nvPr/>
        </p:nvSpPr>
        <p:spPr>
          <a:xfrm>
            <a:off x="8138160" y="2331720"/>
            <a:ext cx="3474720" cy="2743200"/>
          </a:xfrm>
          <a:prstGeom prst="roundRect">
            <a:avLst>
              <a:gd name="adj" fmla="val 3333"/>
            </a:avLst>
          </a:prstGeom>
          <a:solidFill>
            <a:schemeClr val="bg2"/>
          </a:solidFill>
          <a:ln/>
        </p:spPr>
      </p:sp>
      <p:sp>
        <p:nvSpPr>
          <p:cNvPr id="17" name="Text 13"/>
          <p:cNvSpPr txBox="1"/>
          <p:nvPr/>
        </p:nvSpPr>
        <p:spPr>
          <a:xfrm>
            <a:off x="832104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Recette fonctionnelle et acceptation : jugement humain</a:t>
            </a:r>
            <a:endParaRPr lang="en-US" sz="1400" dirty="0"/>
          </a:p>
          <a:p>
            <a:pPr indent="0" marL="0">
              <a:spcAft>
                <a:spcPts val="1400"/>
              </a:spcAft>
              <a:buNone/>
            </a:pPr>
            <a:r>
              <a:rPr lang="en-US" sz="1400" dirty="0">
                <a:solidFill>
                  <a:schemeClr val="tx1"/>
                </a:solidFill>
              </a:rPr>
              <a:t>L'essentiel de la non-régression : trop peu de passes pour être rentable</a:t>
            </a:r>
            <a:endParaRPr lang="en-US" sz="1400" dirty="0"/>
          </a:p>
          <a:p>
            <a:pPr indent="0" marL="0">
              <a:spcAft>
                <a:spcPts val="1400"/>
              </a:spcAft>
              <a:buNone/>
            </a:pPr>
            <a:r>
              <a:rPr lang="en-US" sz="1400" dirty="0">
                <a:solidFill>
                  <a:schemeClr val="tx1"/>
                </a:solidFill>
              </a:rPr>
              <a:t>Reprise IBS et flux : décision de cadrage</a:t>
            </a:r>
            <a:endParaRPr lang="en-US" sz="1400" dirty="0"/>
          </a:p>
          <a:p>
            <a:pPr indent="0" marL="0">
              <a:spcAft>
                <a:spcPts val="1400"/>
              </a:spcAft>
              <a:buNone/>
            </a:pPr>
            <a:r>
              <a:rPr lang="en-US" sz="1400" dirty="0">
                <a:solidFill>
                  <a:schemeClr val="tx1"/>
                </a:solidFill>
              </a:rPr>
              <a:t>Exclu par la stratégie : SSO, SailPoint, technologie OCR</a:t>
            </a:r>
            <a:endParaRPr lang="en-US" sz="1400" dirty="0"/>
          </a:p>
        </p:txBody>
      </p:sp>
      <p:sp>
        <p:nvSpPr>
          <p:cNvPr id="18" name="box"/>
          <p:cNvSpPr/>
          <p:nvPr/>
        </p:nvSpPr>
        <p:spPr>
          <a:xfrm>
            <a:off x="548640" y="5303520"/>
            <a:ext cx="11064240" cy="548640"/>
          </a:xfrm>
          <a:prstGeom prst="roundRect">
            <a:avLst>
              <a:gd name="adj" fmla="val 10000"/>
            </a:avLst>
          </a:prstGeom>
          <a:solidFill>
            <a:schemeClr val="accent5"/>
          </a:solidFill>
          <a:ln/>
        </p:spPr>
      </p:sp>
      <p:sp>
        <p:nvSpPr>
          <p:cNvPr id="19" name="Text 15"/>
          <p:cNvSpPr txBox="1"/>
          <p:nvPr/>
        </p:nvSpPr>
        <p:spPr>
          <a:xfrm>
            <a:off x="731520" y="5303520"/>
            <a:ext cx="10698480" cy="548640"/>
          </a:xfrm>
          <a:prstGeom prst="rect">
            <a:avLst/>
          </a:prstGeom>
          <a:noFill/>
          <a:ln/>
        </p:spPr>
        <p:txBody>
          <a:bodyPr wrap="square" lIns="0" tIns="0" rIns="0" bIns="0" rtlCol="0" anchor="ctr"/>
          <a:lstStyle/>
          <a:p>
            <a:pPr indent="0" marL="0">
              <a:buNone/>
            </a:pPr>
            <a:r>
              <a:rPr lang="en-US" sz="1400" b="1" dirty="0">
                <a:solidFill>
                  <a:srgbClr val="00338D"/>
                </a:solidFill>
              </a:rPr>
              <a:t>Objectif : </a:t>
            </a:r>
            <a:pPr indent="0" marL="0">
              <a:buNone/>
            </a:pPr>
            <a:r>
              <a:rPr lang="en-US" sz="1400" dirty="0">
                <a:solidFill>
                  <a:schemeClr val="tx1"/>
                </a:solidFill>
              </a:rPr>
              <a:t>libérer le temps de la QC pour les nouvelles US et l'exploratoire, pas remplacer la recette.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Le ROI : pourquoi on automatise peu sur InfoCAC</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En temps gagné, un test ne se rembourse pas sur les 8 sprints restants ; seule la détection précoce peut le rembourser.</a:t>
            </a:r>
            <a:endParaRPr lang="en-US" sz="1600" dirty="0"/>
          </a:p>
        </p:txBody>
      </p:sp>
      <p:sp>
        <p:nvSpPr>
          <p:cNvPr id="4" name="card"/>
          <p:cNvSpPr/>
          <p:nvPr/>
        </p:nvSpPr>
        <p:spPr>
          <a:xfrm>
            <a:off x="548640" y="1691640"/>
            <a:ext cx="3474720" cy="2834640"/>
          </a:xfrm>
          <a:prstGeom prst="roundRect">
            <a:avLst>
              <a:gd name="adj" fmla="val 3226"/>
            </a:avLst>
          </a:prstGeom>
          <a:solidFill>
            <a:schemeClr val="tx2"/>
          </a:solidFill>
          <a:ln/>
        </p:spPr>
      </p:sp>
      <p:sp>
        <p:nvSpPr>
          <p:cNvPr id="5" name="Text 3"/>
          <p:cNvSpPr txBox="1"/>
          <p:nvPr/>
        </p:nvSpPr>
        <p:spPr>
          <a:xfrm>
            <a:off x="777240" y="1828800"/>
            <a:ext cx="3017520" cy="411480"/>
          </a:xfrm>
          <a:prstGeom prst="rect">
            <a:avLst/>
          </a:prstGeom>
          <a:noFill/>
          <a:ln/>
        </p:spPr>
        <p:txBody>
          <a:bodyPr wrap="square" lIns="0" tIns="0" rIns="0" bIns="0" rtlCol="0" anchor="t"/>
          <a:lstStyle/>
          <a:p>
            <a:pPr indent="0" marL="0">
              <a:buNone/>
            </a:pPr>
            <a:r>
              <a:rPr lang="en-US" sz="1600" b="1" dirty="0">
                <a:solidFill>
                  <a:schemeClr val="bg1"/>
                </a:solidFill>
              </a:rPr>
              <a:t>Ce que coûte un test</a:t>
            </a:r>
            <a:endParaRPr lang="en-US" sz="1600" dirty="0"/>
          </a:p>
        </p:txBody>
      </p:sp>
      <p:sp>
        <p:nvSpPr>
          <p:cNvPr id="6" name="Text 4"/>
          <p:cNvSpPr txBox="1"/>
          <p:nvPr/>
        </p:nvSpPr>
        <p:spPr>
          <a:xfrm>
            <a:off x="777240" y="2377440"/>
            <a:ext cx="3017520" cy="2057400"/>
          </a:xfrm>
          <a:prstGeom prst="rect">
            <a:avLst/>
          </a:prstGeom>
          <a:noFill/>
          <a:ln/>
        </p:spPr>
        <p:txBody>
          <a:bodyPr wrap="square" lIns="0" tIns="0" rIns="0" bIns="0" rtlCol="0" anchor="t"/>
          <a:lstStyle/>
          <a:p>
            <a:pPr indent="0" marL="0">
              <a:spcAft>
                <a:spcPts val="1200"/>
              </a:spcAft>
              <a:buNone/>
            </a:pPr>
            <a:r>
              <a:rPr lang="en-US" sz="1350" dirty="0">
                <a:solidFill>
                  <a:schemeClr val="bg1"/>
                </a:solidFill>
              </a:rPr>
              <a:t>L'écrire</a:t>
            </a:r>
            <a:endParaRPr lang="en-US" sz="1350" dirty="0"/>
          </a:p>
          <a:p>
            <a:pPr indent="0" marL="0">
              <a:spcAft>
                <a:spcPts val="1200"/>
              </a:spcAft>
              <a:buNone/>
            </a:pPr>
            <a:r>
              <a:rPr lang="en-US" sz="1350" dirty="0">
                <a:solidFill>
                  <a:schemeClr val="bg1"/>
                </a:solidFill>
              </a:rPr>
              <a:t>Le maintenir à chaque changement d'US</a:t>
            </a:r>
            <a:endParaRPr lang="en-US" sz="1350" dirty="0"/>
          </a:p>
          <a:p>
            <a:pPr indent="0" marL="0">
              <a:spcAft>
                <a:spcPts val="1200"/>
              </a:spcAft>
              <a:buNone/>
            </a:pPr>
            <a:r>
              <a:rPr lang="en-US" sz="1350" dirty="0">
                <a:solidFill>
                  <a:schemeClr val="bg1"/>
                </a:solidFill>
              </a:rPr>
              <a:t>Accès à ITG, comptes par rôle, données, tests instables</a:t>
            </a:r>
            <a:endParaRPr lang="en-US" sz="1350" dirty="0"/>
          </a:p>
          <a:p>
            <a:pPr indent="0" marL="0">
              <a:spcAft>
                <a:spcPts val="1200"/>
              </a:spcAft>
              <a:buNone/>
            </a:pPr>
            <a:r>
              <a:rPr lang="en-US" sz="1350" dirty="0">
                <a:solidFill>
                  <a:schemeClr val="bg1"/>
                </a:solidFill>
              </a:rPr>
              <a:t>Un propriétaire après le 31/12, sinon la suite meurt</a:t>
            </a:r>
            <a:endParaRPr lang="en-US" sz="1350" dirty="0"/>
          </a:p>
        </p:txBody>
      </p:sp>
      <p:sp>
        <p:nvSpPr>
          <p:cNvPr id="7" name="card"/>
          <p:cNvSpPr/>
          <p:nvPr/>
        </p:nvSpPr>
        <p:spPr>
          <a:xfrm>
            <a:off x="4343400" y="1691640"/>
            <a:ext cx="3474720" cy="2834640"/>
          </a:xfrm>
          <a:prstGeom prst="roundRect">
            <a:avLst>
              <a:gd name="adj" fmla="val 3226"/>
            </a:avLst>
          </a:prstGeom>
          <a:solidFill>
            <a:srgbClr val="E6E9ED"/>
          </a:solidFill>
          <a:ln/>
        </p:spPr>
      </p:sp>
      <p:sp>
        <p:nvSpPr>
          <p:cNvPr id="8" name="Text 6"/>
          <p:cNvSpPr txBox="1"/>
          <p:nvPr/>
        </p:nvSpPr>
        <p:spPr>
          <a:xfrm>
            <a:off x="4572000" y="1828800"/>
            <a:ext cx="3017520" cy="411480"/>
          </a:xfrm>
          <a:prstGeom prst="rect">
            <a:avLst/>
          </a:prstGeom>
          <a:noFill/>
          <a:ln/>
        </p:spPr>
        <p:txBody>
          <a:bodyPr wrap="square" lIns="0" tIns="0" rIns="0" bIns="0" rtlCol="0" anchor="t"/>
          <a:lstStyle/>
          <a:p>
            <a:pPr indent="0" marL="0">
              <a:buNone/>
            </a:pPr>
            <a:r>
              <a:rPr lang="en-US" sz="1600" b="1" dirty="0">
                <a:solidFill>
                  <a:schemeClr val="tx1"/>
                </a:solidFill>
              </a:rPr>
              <a:t>Ce qu'il fait gagner en temps</a:t>
            </a:r>
            <a:endParaRPr lang="en-US" sz="1600" dirty="0"/>
          </a:p>
        </p:txBody>
      </p:sp>
      <p:sp>
        <p:nvSpPr>
          <p:cNvPr id="9" name="Text 7"/>
          <p:cNvSpPr txBox="1"/>
          <p:nvPr/>
        </p:nvSpPr>
        <p:spPr>
          <a:xfrm>
            <a:off x="4572000" y="2377440"/>
            <a:ext cx="3017520" cy="2057400"/>
          </a:xfrm>
          <a:prstGeom prst="rect">
            <a:avLst/>
          </a:prstGeom>
          <a:noFill/>
          <a:ln/>
        </p:spPr>
        <p:txBody>
          <a:bodyPr wrap="square" lIns="0" tIns="0" rIns="0" bIns="0" rtlCol="0" anchor="t"/>
          <a:lstStyle/>
          <a:p>
            <a:pPr indent="0" marL="0">
              <a:spcAft>
                <a:spcPts val="1200"/>
              </a:spcAft>
              <a:buNone/>
            </a:pPr>
            <a:r>
              <a:rPr lang="en-US" sz="1350" dirty="0">
                <a:solidFill>
                  <a:schemeClr val="tx1"/>
                </a:solidFill>
              </a:rPr>
              <a:t>Seulement les passes qu'on aurait faites à la main. Le smoke revient à chaque déploiement ; la non-régression, quelques fois avant mars</a:t>
            </a:r>
            <a:endParaRPr lang="en-US" sz="1350" dirty="0"/>
          </a:p>
          <a:p>
            <a:pPr indent="0" marL="0">
              <a:spcAft>
                <a:spcPts val="1200"/>
              </a:spcAft>
              <a:buNone/>
            </a:pPr>
            <a:r>
              <a:rPr lang="en-US" sz="1350" dirty="0">
                <a:solidFill>
                  <a:schemeClr val="tx1"/>
                </a:solidFill>
              </a:rPr>
              <a:t>Les exécutions de nuit en plus n'économisent aucun temps</a:t>
            </a:r>
            <a:endParaRPr lang="en-US" sz="1350" dirty="0"/>
          </a:p>
          <a:p>
            <a:pPr indent="0" marL="0">
              <a:spcAft>
                <a:spcPts val="1200"/>
              </a:spcAft>
              <a:buNone/>
            </a:pPr>
            <a:r>
              <a:rPr lang="en-US" sz="1350" dirty="0">
                <a:solidFill>
                  <a:schemeClr val="tx1"/>
                </a:solidFill>
              </a:rPr>
              <a:t>Aucune évolution prévue après mars</a:t>
            </a:r>
            <a:endParaRPr lang="en-US" sz="1350" dirty="0"/>
          </a:p>
        </p:txBody>
      </p:sp>
      <p:sp>
        <p:nvSpPr>
          <p:cNvPr id="10" name="card"/>
          <p:cNvSpPr/>
          <p:nvPr/>
        </p:nvSpPr>
        <p:spPr>
          <a:xfrm>
            <a:off x="8138160" y="1691640"/>
            <a:ext cx="3474720" cy="2834640"/>
          </a:xfrm>
          <a:prstGeom prst="roundRect">
            <a:avLst>
              <a:gd name="adj" fmla="val 3226"/>
            </a:avLst>
          </a:prstGeom>
          <a:solidFill>
            <a:schemeClr val="accent1"/>
          </a:solidFill>
          <a:ln/>
        </p:spPr>
      </p:sp>
      <p:sp>
        <p:nvSpPr>
          <p:cNvPr id="11" name="Text 9"/>
          <p:cNvSpPr txBox="1"/>
          <p:nvPr/>
        </p:nvSpPr>
        <p:spPr>
          <a:xfrm>
            <a:off x="8366760" y="1828800"/>
            <a:ext cx="3017520" cy="411480"/>
          </a:xfrm>
          <a:prstGeom prst="rect">
            <a:avLst/>
          </a:prstGeom>
          <a:noFill/>
          <a:ln/>
        </p:spPr>
        <p:txBody>
          <a:bodyPr wrap="square" lIns="0" tIns="0" rIns="0" bIns="0" rtlCol="0" anchor="t"/>
          <a:lstStyle/>
          <a:p>
            <a:pPr indent="0" marL="0">
              <a:buNone/>
            </a:pPr>
            <a:r>
              <a:rPr lang="en-US" sz="1600" b="1" dirty="0">
                <a:solidFill>
                  <a:schemeClr val="bg1"/>
                </a:solidFill>
              </a:rPr>
              <a:t>Ce qu'il fait gagner en risque</a:t>
            </a:r>
            <a:endParaRPr lang="en-US" sz="1600" dirty="0"/>
          </a:p>
        </p:txBody>
      </p:sp>
      <p:sp>
        <p:nvSpPr>
          <p:cNvPr id="12" name="Text 10"/>
          <p:cNvSpPr txBox="1"/>
          <p:nvPr/>
        </p:nvSpPr>
        <p:spPr>
          <a:xfrm>
            <a:off x="8366760" y="2377440"/>
            <a:ext cx="3017520" cy="2057400"/>
          </a:xfrm>
          <a:prstGeom prst="rect">
            <a:avLst/>
          </a:prstGeom>
          <a:noFill/>
          <a:ln/>
        </p:spPr>
        <p:txBody>
          <a:bodyPr wrap="square" lIns="0" tIns="0" rIns="0" bIns="0" rtlCol="0" anchor="t"/>
          <a:lstStyle/>
          <a:p>
            <a:pPr indent="0" marL="0">
              <a:spcAft>
                <a:spcPts val="1200"/>
              </a:spcAft>
              <a:buNone/>
            </a:pPr>
            <a:r>
              <a:rPr lang="en-US" sz="1350" dirty="0">
                <a:solidFill>
                  <a:schemeClr val="bg1"/>
                </a:solidFill>
              </a:rPr>
              <a:t>Une régression trouvée le lendemain, pas en fin de sprint ni en recette métier</a:t>
            </a:r>
            <a:endParaRPr lang="en-US" sz="1350" dirty="0"/>
          </a:p>
          <a:p>
            <a:pPr indent="0" marL="0">
              <a:spcAft>
                <a:spcPts val="1200"/>
              </a:spcAft>
              <a:buNone/>
            </a:pPr>
            <a:r>
              <a:rPr lang="en-US" sz="1350" dirty="0">
                <a:solidFill>
                  <a:schemeClr val="bg1"/>
                </a:solidFill>
              </a:rPr>
              <a:t>Utile seulement sur une règle stable et coûteuse à rater</a:t>
            </a:r>
            <a:endParaRPr lang="en-US" sz="1350" dirty="0"/>
          </a:p>
        </p:txBody>
      </p:sp>
      <p:sp>
        <p:nvSpPr>
          <p:cNvPr id="13" name="box"/>
          <p:cNvSpPr/>
          <p:nvPr/>
        </p:nvSpPr>
        <p:spPr>
          <a:xfrm>
            <a:off x="548640" y="4754880"/>
            <a:ext cx="11064240" cy="548640"/>
          </a:xfrm>
          <a:prstGeom prst="roundRect">
            <a:avLst>
              <a:gd name="adj" fmla="val 10000"/>
            </a:avLst>
          </a:prstGeom>
          <a:solidFill>
            <a:schemeClr val="accent5"/>
          </a:solidFill>
          <a:ln/>
        </p:spPr>
      </p:sp>
      <p:sp>
        <p:nvSpPr>
          <p:cNvPr id="14" name="Text 12"/>
          <p:cNvSpPr txBox="1"/>
          <p:nvPr/>
        </p:nvSpPr>
        <p:spPr>
          <a:xfrm>
            <a:off x="731520" y="4754880"/>
            <a:ext cx="10698480" cy="548640"/>
          </a:xfrm>
          <a:prstGeom prst="rect">
            <a:avLst/>
          </a:prstGeom>
          <a:noFill/>
          <a:ln/>
        </p:spPr>
        <p:txBody>
          <a:bodyPr wrap="square" lIns="0" tIns="0" rIns="0" bIns="0" rtlCol="0" anchor="ctr"/>
          <a:lstStyle/>
          <a:p>
            <a:pPr indent="0" marL="0">
              <a:buNone/>
            </a:pPr>
            <a:r>
              <a:rPr lang="en-US" sz="1400" b="1" dirty="0">
                <a:solidFill>
                  <a:srgbClr val="00338D"/>
                </a:solidFill>
              </a:rPr>
              <a:t>Conséquence : </a:t>
            </a:r>
            <a:pPr indent="0" marL="0">
              <a:buNone/>
            </a:pPr>
            <a:r>
              <a:rPr lang="en-US" sz="1400" dirty="0">
                <a:solidFill>
                  <a:schemeClr val="tx1"/>
                </a:solidFill>
              </a:rPr>
              <a:t>peu de scénarios, sur des règles stables. Le pilote mesure les vrais coûts avant d'aller plus loin.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Dix scénarios au plus, choisis un par un</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8 sprints restants avant la fin du développement, début février : on automatise peu, là où un défaut coûte cher.</a:t>
            </a:r>
            <a:endParaRPr lang="en-US" sz="1600" dirty="0"/>
          </a:p>
        </p:txBody>
      </p:sp>
      <p:sp>
        <p:nvSpPr>
          <p:cNvPr id="4" name="card"/>
          <p:cNvSpPr/>
          <p:nvPr/>
        </p:nvSpPr>
        <p:spPr>
          <a:xfrm>
            <a:off x="548640" y="1645920"/>
            <a:ext cx="5257800" cy="3246120"/>
          </a:xfrm>
          <a:prstGeom prst="roundRect">
            <a:avLst>
              <a:gd name="adj" fmla="val 2817"/>
            </a:avLst>
          </a:prstGeom>
          <a:solidFill>
            <a:schemeClr val="tx2"/>
          </a:solidFill>
          <a:ln/>
        </p:spPr>
      </p:sp>
      <p:sp>
        <p:nvSpPr>
          <p:cNvPr id="5" name="Text 3"/>
          <p:cNvSpPr txBox="1"/>
          <p:nvPr/>
        </p:nvSpPr>
        <p:spPr>
          <a:xfrm>
            <a:off x="777240" y="1755648"/>
            <a:ext cx="4846320" cy="329184"/>
          </a:xfrm>
          <a:prstGeom prst="rect">
            <a:avLst/>
          </a:prstGeom>
          <a:noFill/>
          <a:ln/>
        </p:spPr>
        <p:txBody>
          <a:bodyPr wrap="square" lIns="0" tIns="0" rIns="0" bIns="0" rtlCol="0" anchor="t"/>
          <a:lstStyle/>
          <a:p>
            <a:pPr indent="0" marL="0">
              <a:buNone/>
            </a:pPr>
            <a:r>
              <a:rPr lang="en-US" sz="1500" b="1" dirty="0">
                <a:solidFill>
                  <a:schemeClr val="bg1"/>
                </a:solidFill>
              </a:rPr>
              <a:t>Où chercher : le périmètre de la stratégie</a:t>
            </a:r>
            <a:endParaRPr lang="en-US" sz="1500" dirty="0"/>
          </a:p>
        </p:txBody>
      </p:sp>
      <p:sp>
        <p:nvSpPr>
          <p:cNvPr id="6" name="box"/>
          <p:cNvSpPr/>
          <p:nvPr/>
        </p:nvSpPr>
        <p:spPr>
          <a:xfrm>
            <a:off x="777240" y="2240280"/>
            <a:ext cx="2249424" cy="329184"/>
          </a:xfrm>
          <a:prstGeom prst="roundRect">
            <a:avLst>
              <a:gd name="adj" fmla="val 16667"/>
            </a:avLst>
          </a:prstGeom>
          <a:solidFill>
            <a:schemeClr val="bg1"/>
          </a:solidFill>
          <a:ln/>
        </p:spPr>
      </p:sp>
      <p:sp>
        <p:nvSpPr>
          <p:cNvPr id="7" name="Text 5"/>
          <p:cNvSpPr txBox="1"/>
          <p:nvPr/>
        </p:nvSpPr>
        <p:spPr>
          <a:xfrm>
            <a:off x="777240" y="2240280"/>
            <a:ext cx="2249424" cy="329184"/>
          </a:xfrm>
          <a:prstGeom prst="rect">
            <a:avLst/>
          </a:prstGeom>
          <a:noFill/>
          <a:ln/>
        </p:spPr>
        <p:txBody>
          <a:bodyPr wrap="square" lIns="0" tIns="0" rIns="0" bIns="0" rtlCol="0" anchor="ctr"/>
          <a:lstStyle/>
          <a:p>
            <a:pPr algn="ctr" indent="0" marL="0">
              <a:buNone/>
            </a:pPr>
            <a:r>
              <a:rPr lang="en-US" sz="1150" b="1" dirty="0">
                <a:solidFill>
                  <a:schemeClr val="tx2"/>
                </a:solidFill>
              </a:rPr>
              <a:t>Formulaires par type de mandat</a:t>
            </a:r>
            <a:endParaRPr lang="en-US" sz="1150" dirty="0"/>
          </a:p>
        </p:txBody>
      </p:sp>
      <p:sp>
        <p:nvSpPr>
          <p:cNvPr id="8" name="box"/>
          <p:cNvSpPr/>
          <p:nvPr/>
        </p:nvSpPr>
        <p:spPr>
          <a:xfrm>
            <a:off x="3163824" y="2240280"/>
            <a:ext cx="1854403" cy="329184"/>
          </a:xfrm>
          <a:prstGeom prst="roundRect">
            <a:avLst>
              <a:gd name="adj" fmla="val 16667"/>
            </a:avLst>
          </a:prstGeom>
          <a:solidFill>
            <a:schemeClr val="bg1"/>
          </a:solidFill>
          <a:ln/>
        </p:spPr>
      </p:sp>
      <p:sp>
        <p:nvSpPr>
          <p:cNvPr id="9" name="Text 7"/>
          <p:cNvSpPr txBox="1"/>
          <p:nvPr/>
        </p:nvSpPr>
        <p:spPr>
          <a:xfrm>
            <a:off x="3163824" y="2240280"/>
            <a:ext cx="1854403" cy="329184"/>
          </a:xfrm>
          <a:prstGeom prst="rect">
            <a:avLst/>
          </a:prstGeom>
          <a:noFill/>
          <a:ln/>
        </p:spPr>
        <p:txBody>
          <a:bodyPr wrap="square" lIns="0" tIns="0" rIns="0" bIns="0" rtlCol="0" anchor="ctr"/>
          <a:lstStyle/>
          <a:p>
            <a:pPr algn="ctr" indent="0" marL="0">
              <a:buNone/>
            </a:pPr>
            <a:r>
              <a:rPr lang="en-US" sz="1150" b="1" dirty="0">
                <a:solidFill>
                  <a:schemeClr val="tx2"/>
                </a:solidFill>
              </a:rPr>
              <a:t>Enchaînement des statuts</a:t>
            </a:r>
            <a:endParaRPr lang="en-US" sz="1150" dirty="0"/>
          </a:p>
        </p:txBody>
      </p:sp>
      <p:sp>
        <p:nvSpPr>
          <p:cNvPr id="10" name="box"/>
          <p:cNvSpPr/>
          <p:nvPr/>
        </p:nvSpPr>
        <p:spPr>
          <a:xfrm>
            <a:off x="777240" y="2697480"/>
            <a:ext cx="1261872" cy="329184"/>
          </a:xfrm>
          <a:prstGeom prst="roundRect">
            <a:avLst>
              <a:gd name="adj" fmla="val 16667"/>
            </a:avLst>
          </a:prstGeom>
          <a:solidFill>
            <a:schemeClr val="bg1"/>
          </a:solidFill>
          <a:ln/>
        </p:spPr>
      </p:sp>
      <p:sp>
        <p:nvSpPr>
          <p:cNvPr id="11" name="Text 9"/>
          <p:cNvSpPr txBox="1"/>
          <p:nvPr/>
        </p:nvSpPr>
        <p:spPr>
          <a:xfrm>
            <a:off x="777240" y="2697480"/>
            <a:ext cx="1261872" cy="329184"/>
          </a:xfrm>
          <a:prstGeom prst="rect">
            <a:avLst/>
          </a:prstGeom>
          <a:noFill/>
          <a:ln/>
        </p:spPr>
        <p:txBody>
          <a:bodyPr wrap="square" lIns="0" tIns="0" rIns="0" bIns="0" rtlCol="0" anchor="ctr"/>
          <a:lstStyle/>
          <a:p>
            <a:pPr algn="ctr" indent="0" marL="0">
              <a:buNone/>
            </a:pPr>
            <a:r>
              <a:rPr lang="en-US" sz="1150" b="1" dirty="0">
                <a:solidFill>
                  <a:schemeClr val="tx2"/>
                </a:solidFill>
              </a:rPr>
              <a:t>Droits par rôle</a:t>
            </a:r>
            <a:endParaRPr lang="en-US" sz="1150" dirty="0"/>
          </a:p>
        </p:txBody>
      </p:sp>
      <p:sp>
        <p:nvSpPr>
          <p:cNvPr id="12" name="box"/>
          <p:cNvSpPr/>
          <p:nvPr/>
        </p:nvSpPr>
        <p:spPr>
          <a:xfrm>
            <a:off x="2176272" y="2697480"/>
            <a:ext cx="1327709" cy="329184"/>
          </a:xfrm>
          <a:prstGeom prst="roundRect">
            <a:avLst>
              <a:gd name="adj" fmla="val 16667"/>
            </a:avLst>
          </a:prstGeom>
          <a:solidFill>
            <a:schemeClr val="bg1"/>
          </a:solidFill>
          <a:ln/>
        </p:spPr>
      </p:sp>
      <p:sp>
        <p:nvSpPr>
          <p:cNvPr id="13" name="Text 11"/>
          <p:cNvSpPr txBox="1"/>
          <p:nvPr/>
        </p:nvSpPr>
        <p:spPr>
          <a:xfrm>
            <a:off x="2176272" y="2697480"/>
            <a:ext cx="1327709" cy="329184"/>
          </a:xfrm>
          <a:prstGeom prst="rect">
            <a:avLst/>
          </a:prstGeom>
          <a:noFill/>
          <a:ln/>
        </p:spPr>
        <p:txBody>
          <a:bodyPr wrap="square" lIns="0" tIns="0" rIns="0" bIns="0" rtlCol="0" anchor="ctr"/>
          <a:lstStyle/>
          <a:p>
            <a:pPr algn="ctr" indent="0" marL="0">
              <a:buNone/>
            </a:pPr>
            <a:r>
              <a:rPr lang="en-US" sz="1150" b="1" dirty="0">
                <a:solidFill>
                  <a:schemeClr val="tx2"/>
                </a:solidFill>
              </a:rPr>
              <a:t>Import et export</a:t>
            </a:r>
            <a:endParaRPr lang="en-US" sz="1150" dirty="0"/>
          </a:p>
        </p:txBody>
      </p:sp>
      <p:sp>
        <p:nvSpPr>
          <p:cNvPr id="14" name="box"/>
          <p:cNvSpPr/>
          <p:nvPr/>
        </p:nvSpPr>
        <p:spPr>
          <a:xfrm>
            <a:off x="777240" y="3154680"/>
            <a:ext cx="1327709" cy="329184"/>
          </a:xfrm>
          <a:prstGeom prst="roundRect">
            <a:avLst>
              <a:gd name="adj" fmla="val 16667"/>
            </a:avLst>
          </a:prstGeom>
          <a:solidFill>
            <a:schemeClr val="bg1"/>
          </a:solidFill>
          <a:ln/>
        </p:spPr>
      </p:sp>
      <p:sp>
        <p:nvSpPr>
          <p:cNvPr id="15" name="Text 13"/>
          <p:cNvSpPr txBox="1"/>
          <p:nvPr/>
        </p:nvSpPr>
        <p:spPr>
          <a:xfrm>
            <a:off x="777240" y="3154680"/>
            <a:ext cx="1327709" cy="329184"/>
          </a:xfrm>
          <a:prstGeom prst="rect">
            <a:avLst/>
          </a:prstGeom>
          <a:noFill/>
          <a:ln/>
        </p:spPr>
        <p:txBody>
          <a:bodyPr wrap="square" lIns="0" tIns="0" rIns="0" bIns="0" rtlCol="0" anchor="ctr"/>
          <a:lstStyle/>
          <a:p>
            <a:pPr algn="ctr" indent="0" marL="0">
              <a:buNone/>
            </a:pPr>
            <a:r>
              <a:rPr lang="en-US" sz="1150" b="1" dirty="0">
                <a:solidFill>
                  <a:schemeClr val="tx2"/>
                </a:solidFill>
              </a:rPr>
              <a:t>Tableaux de bord</a:t>
            </a:r>
            <a:endParaRPr lang="en-US" sz="1150" dirty="0"/>
          </a:p>
        </p:txBody>
      </p:sp>
      <p:sp>
        <p:nvSpPr>
          <p:cNvPr id="16" name="box"/>
          <p:cNvSpPr/>
          <p:nvPr/>
        </p:nvSpPr>
        <p:spPr>
          <a:xfrm>
            <a:off x="2242109" y="3154680"/>
            <a:ext cx="866851" cy="329184"/>
          </a:xfrm>
          <a:prstGeom prst="roundRect">
            <a:avLst>
              <a:gd name="adj" fmla="val 16667"/>
            </a:avLst>
          </a:prstGeom>
          <a:solidFill>
            <a:schemeClr val="bg1"/>
          </a:solidFill>
          <a:ln/>
        </p:spPr>
      </p:sp>
      <p:sp>
        <p:nvSpPr>
          <p:cNvPr id="17" name="Text 15"/>
          <p:cNvSpPr txBox="1"/>
          <p:nvPr/>
        </p:nvSpPr>
        <p:spPr>
          <a:xfrm>
            <a:off x="2242109" y="3154680"/>
            <a:ext cx="866851" cy="329184"/>
          </a:xfrm>
          <a:prstGeom prst="rect">
            <a:avLst/>
          </a:prstGeom>
          <a:noFill/>
          <a:ln/>
        </p:spPr>
        <p:txBody>
          <a:bodyPr wrap="square" lIns="0" tIns="0" rIns="0" bIns="0" rtlCol="0" anchor="ctr"/>
          <a:lstStyle/>
          <a:p>
            <a:pPr algn="ctr" indent="0" marL="0">
              <a:buNone/>
            </a:pPr>
            <a:r>
              <a:rPr lang="en-US" sz="1150" b="1" dirty="0">
                <a:solidFill>
                  <a:schemeClr val="tx2"/>
                </a:solidFill>
              </a:rPr>
              <a:t>Documents</a:t>
            </a:r>
            <a:endParaRPr lang="en-US" sz="1150" dirty="0"/>
          </a:p>
        </p:txBody>
      </p:sp>
      <p:sp>
        <p:nvSpPr>
          <p:cNvPr id="18" name="Text 16"/>
          <p:cNvSpPr txBox="1"/>
          <p:nvPr/>
        </p:nvSpPr>
        <p:spPr>
          <a:xfrm>
            <a:off x="777240" y="3657600"/>
            <a:ext cx="4846320" cy="594360"/>
          </a:xfrm>
          <a:prstGeom prst="rect">
            <a:avLst/>
          </a:prstGeom>
          <a:noFill/>
          <a:ln/>
        </p:spPr>
        <p:txBody>
          <a:bodyPr wrap="square" lIns="0" tIns="0" rIns="0" bIns="0" rtlCol="0" anchor="t"/>
          <a:lstStyle/>
          <a:p>
            <a:pPr indent="0" marL="0">
              <a:buNone/>
            </a:pPr>
            <a:r>
              <a:rPr lang="en-US" sz="1250" dirty="0">
                <a:solidFill>
                  <a:schemeClr val="bg1"/>
                </a:solidFill>
              </a:rPr>
              <a:t>Toutes à évaluer, aucune retenue d'avance. Il manque encore, US par US : la règle écrite, sa stabilité, les données.</a:t>
            </a:r>
            <a:endParaRPr lang="en-US" sz="1250" dirty="0"/>
          </a:p>
        </p:txBody>
      </p:sp>
      <p:sp>
        <p:nvSpPr>
          <p:cNvPr id="19" name="Text 17"/>
          <p:cNvSpPr txBox="1"/>
          <p:nvPr/>
        </p:nvSpPr>
        <p:spPr>
          <a:xfrm>
            <a:off x="777240" y="4297680"/>
            <a:ext cx="4846320" cy="457200"/>
          </a:xfrm>
          <a:prstGeom prst="rect">
            <a:avLst/>
          </a:prstGeom>
          <a:noFill/>
          <a:ln/>
        </p:spPr>
        <p:txBody>
          <a:bodyPr wrap="square" lIns="0" tIns="0" rIns="0" bIns="0" rtlCol="0" anchor="t"/>
          <a:lstStyle/>
          <a:p>
            <a:pPr indent="0" marL="0">
              <a:buNone/>
            </a:pPr>
            <a:r>
              <a:rPr lang="en-US" sz="1250" i="1" dirty="0">
                <a:solidFill>
                  <a:schemeClr val="accent3"/>
                </a:solidFill>
              </a:rPr>
              <a:t>Hors suite Playwright : migration et flux (décision de cadrage).</a:t>
            </a:r>
            <a:endParaRPr lang="en-US" sz="1250" dirty="0"/>
          </a:p>
        </p:txBody>
      </p:sp>
      <p:sp>
        <p:nvSpPr>
          <p:cNvPr id="20" name="card"/>
          <p:cNvSpPr/>
          <p:nvPr/>
        </p:nvSpPr>
        <p:spPr>
          <a:xfrm>
            <a:off x="548640" y="5029200"/>
            <a:ext cx="5257800" cy="822960"/>
          </a:xfrm>
          <a:prstGeom prst="roundRect">
            <a:avLst>
              <a:gd name="adj" fmla="val 11111"/>
            </a:avLst>
          </a:prstGeom>
          <a:solidFill>
            <a:schemeClr val="accent5"/>
          </a:solidFill>
          <a:ln/>
        </p:spPr>
      </p:sp>
      <p:sp>
        <p:nvSpPr>
          <p:cNvPr id="21" name="Text 19"/>
          <p:cNvSpPr txBox="1"/>
          <p:nvPr/>
        </p:nvSpPr>
        <p:spPr>
          <a:xfrm>
            <a:off x="777240" y="5029200"/>
            <a:ext cx="4846320" cy="822960"/>
          </a:xfrm>
          <a:prstGeom prst="rect">
            <a:avLst/>
          </a:prstGeom>
          <a:noFill/>
          <a:ln/>
        </p:spPr>
        <p:txBody>
          <a:bodyPr wrap="square" lIns="0" tIns="0" rIns="0" bIns="0" rtlCol="0" anchor="ctr"/>
          <a:lstStyle/>
          <a:p>
            <a:pPr indent="0" marL="0">
              <a:buNone/>
            </a:pPr>
            <a:r>
              <a:rPr lang="en-US" sz="1250" b="1" dirty="0">
                <a:solidFill>
                  <a:srgbClr val="00338D"/>
                </a:solidFill>
              </a:rPr>
              <a:t>Jamais automatisé : </a:t>
            </a:r>
            <a:pPr indent="0" marL="0">
              <a:buNone/>
            </a:pPr>
            <a:r>
              <a:rPr lang="en-US" sz="1250" dirty="0">
                <a:solidFill>
                  <a:schemeClr val="tx1"/>
                </a:solidFill>
              </a:rPr>
              <a:t>libellés, ergonomie, règles encore mouvantes, tout critère sans résultat attendu.</a:t>
            </a:r>
            <a:endParaRPr lang="en-US" sz="1250" dirty="0"/>
          </a:p>
        </p:txBody>
      </p:sp>
      <p:sp>
        <p:nvSpPr>
          <p:cNvPr id="22" name="Text 20"/>
          <p:cNvSpPr txBox="1"/>
          <p:nvPr/>
        </p:nvSpPr>
        <p:spPr>
          <a:xfrm>
            <a:off x="6035040" y="1645920"/>
            <a:ext cx="5577840" cy="365760"/>
          </a:xfrm>
          <a:prstGeom prst="rect">
            <a:avLst/>
          </a:prstGeom>
          <a:noFill/>
          <a:ln/>
        </p:spPr>
        <p:txBody>
          <a:bodyPr wrap="square" lIns="0" tIns="0" rIns="0" bIns="0" rtlCol="0" anchor="t"/>
          <a:lstStyle/>
          <a:p>
            <a:pPr indent="0" marL="0">
              <a:buNone/>
            </a:pPr>
            <a:r>
              <a:rPr lang="en-US" sz="1700" b="1" dirty="0">
                <a:solidFill>
                  <a:schemeClr val="tx2"/>
                </a:solidFill>
              </a:rPr>
              <a:t>Critères d'entrée proposés, à valider ensemble</a:t>
            </a:r>
            <a:endParaRPr lang="en-US" sz="1700" dirty="0"/>
          </a:p>
        </p:txBody>
      </p:sp>
      <p:sp>
        <p:nvSpPr>
          <p:cNvPr id="23" name="num"/>
          <p:cNvSpPr/>
          <p:nvPr/>
        </p:nvSpPr>
        <p:spPr>
          <a:xfrm>
            <a:off x="6035040" y="2148840"/>
            <a:ext cx="420624" cy="420624"/>
          </a:xfrm>
          <a:prstGeom prst="ellipse">
            <a:avLst/>
          </a:prstGeom>
          <a:solidFill>
            <a:schemeClr val="accent1"/>
          </a:solidFill>
          <a:ln/>
        </p:spPr>
      </p:sp>
      <p:sp>
        <p:nvSpPr>
          <p:cNvPr id="24" name="Text 22"/>
          <p:cNvSpPr txBox="1"/>
          <p:nvPr/>
        </p:nvSpPr>
        <p:spPr>
          <a:xfrm>
            <a:off x="6035040" y="21488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3"/>
          <p:cNvSpPr txBox="1"/>
          <p:nvPr/>
        </p:nvSpPr>
        <p:spPr>
          <a:xfrm>
            <a:off x="6629400" y="2148840"/>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fonctionnalité est P1 dans la stratégie validée</a:t>
            </a:r>
            <a:endParaRPr lang="en-US" sz="1400" dirty="0"/>
          </a:p>
        </p:txBody>
      </p:sp>
      <p:sp>
        <p:nvSpPr>
          <p:cNvPr id="26" name="num"/>
          <p:cNvSpPr/>
          <p:nvPr/>
        </p:nvSpPr>
        <p:spPr>
          <a:xfrm>
            <a:off x="6035040" y="2715768"/>
            <a:ext cx="420624" cy="420624"/>
          </a:xfrm>
          <a:prstGeom prst="ellipse">
            <a:avLst/>
          </a:prstGeom>
          <a:solidFill>
            <a:schemeClr val="accent1"/>
          </a:solidFill>
          <a:ln/>
        </p:spPr>
      </p:sp>
      <p:sp>
        <p:nvSpPr>
          <p:cNvPr id="27" name="Text 25"/>
          <p:cNvSpPr txBox="1"/>
          <p:nvPr/>
        </p:nvSpPr>
        <p:spPr>
          <a:xfrm>
            <a:off x="6035040" y="27157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 26"/>
          <p:cNvSpPr txBox="1"/>
          <p:nvPr/>
        </p:nvSpPr>
        <p:spPr>
          <a:xfrm>
            <a:off x="6629400" y="2715768"/>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règle est écrite, avec un résultat attendu tranché par le PO</a:t>
            </a:r>
            <a:endParaRPr lang="en-US" sz="1400" dirty="0"/>
          </a:p>
        </p:txBody>
      </p:sp>
      <p:sp>
        <p:nvSpPr>
          <p:cNvPr id="29" name="num"/>
          <p:cNvSpPr/>
          <p:nvPr/>
        </p:nvSpPr>
        <p:spPr>
          <a:xfrm>
            <a:off x="6035040" y="3282696"/>
            <a:ext cx="420624" cy="420624"/>
          </a:xfrm>
          <a:prstGeom prst="ellipse">
            <a:avLst/>
          </a:prstGeom>
          <a:solidFill>
            <a:schemeClr val="accent1"/>
          </a:solidFill>
          <a:ln/>
        </p:spPr>
      </p:sp>
      <p:sp>
        <p:nvSpPr>
          <p:cNvPr id="30" name="Text 28"/>
          <p:cNvSpPr txBox="1"/>
          <p:nvPr/>
        </p:nvSpPr>
        <p:spPr>
          <a:xfrm>
            <a:off x="6035040" y="328269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ext 29"/>
          <p:cNvSpPr txBox="1"/>
          <p:nvPr/>
        </p:nvSpPr>
        <p:spPr>
          <a:xfrm>
            <a:off x="6629400" y="3282696"/>
            <a:ext cx="4983480" cy="420624"/>
          </a:xfrm>
          <a:prstGeom prst="rect">
            <a:avLst/>
          </a:prstGeom>
          <a:noFill/>
          <a:ln/>
        </p:spPr>
        <p:txBody>
          <a:bodyPr wrap="square" lIns="0" tIns="0" rIns="0" bIns="0" rtlCol="0" anchor="ctr"/>
          <a:lstStyle/>
          <a:p>
            <a:pPr indent="0" marL="0">
              <a:buNone/>
            </a:pPr>
            <a:r>
              <a:rPr lang="en-US" sz="1400" dirty="0">
                <a:solidFill>
                  <a:schemeClr val="tx1"/>
                </a:solidFill>
              </a:rPr>
              <a:t>L'US est stable : la règle ne bouge plus</a:t>
            </a:r>
            <a:endParaRPr lang="en-US" sz="1400" dirty="0"/>
          </a:p>
        </p:txBody>
      </p:sp>
      <p:sp>
        <p:nvSpPr>
          <p:cNvPr id="32" name="num"/>
          <p:cNvSpPr/>
          <p:nvPr/>
        </p:nvSpPr>
        <p:spPr>
          <a:xfrm>
            <a:off x="6035040" y="3849624"/>
            <a:ext cx="420624" cy="420624"/>
          </a:xfrm>
          <a:prstGeom prst="ellipse">
            <a:avLst/>
          </a:prstGeom>
          <a:solidFill>
            <a:schemeClr val="accent1"/>
          </a:solidFill>
          <a:ln/>
        </p:spPr>
      </p:sp>
      <p:sp>
        <p:nvSpPr>
          <p:cNvPr id="33" name="Text 31"/>
          <p:cNvSpPr txBox="1"/>
          <p:nvPr/>
        </p:nvSpPr>
        <p:spPr>
          <a:xfrm>
            <a:off x="6035040" y="3849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Text 32"/>
          <p:cNvSpPr txBox="1"/>
          <p:nvPr/>
        </p:nvSpPr>
        <p:spPr>
          <a:xfrm>
            <a:off x="6629400" y="3849624"/>
            <a:ext cx="4983480" cy="420624"/>
          </a:xfrm>
          <a:prstGeom prst="rect">
            <a:avLst/>
          </a:prstGeom>
          <a:noFill/>
          <a:ln/>
        </p:spPr>
        <p:txBody>
          <a:bodyPr wrap="square" lIns="0" tIns="0" rIns="0" bIns="0" rtlCol="0" anchor="ctr"/>
          <a:lstStyle/>
          <a:p>
            <a:pPr indent="0" marL="0">
              <a:buNone/>
            </a:pPr>
            <a:r>
              <a:rPr lang="en-US" sz="1400" dirty="0">
                <a:solidFill>
                  <a:schemeClr val="tx1"/>
                </a:solidFill>
              </a:rPr>
              <a:t>Il est rejoué à chaque déploiement, pas seulement en campagne</a:t>
            </a:r>
            <a:endParaRPr lang="en-US" sz="1400" dirty="0"/>
          </a:p>
        </p:txBody>
      </p:sp>
      <p:sp>
        <p:nvSpPr>
          <p:cNvPr id="35" name="num"/>
          <p:cNvSpPr/>
          <p:nvPr/>
        </p:nvSpPr>
        <p:spPr>
          <a:xfrm>
            <a:off x="6035040" y="4416552"/>
            <a:ext cx="420624" cy="420624"/>
          </a:xfrm>
          <a:prstGeom prst="ellipse">
            <a:avLst/>
          </a:prstGeom>
          <a:solidFill>
            <a:schemeClr val="accent1"/>
          </a:solidFill>
          <a:ln/>
        </p:spPr>
      </p:sp>
      <p:sp>
        <p:nvSpPr>
          <p:cNvPr id="36" name="Text 34"/>
          <p:cNvSpPr txBox="1"/>
          <p:nvPr/>
        </p:nvSpPr>
        <p:spPr>
          <a:xfrm>
            <a:off x="6035040" y="441655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Text 35"/>
          <p:cNvSpPr txBox="1"/>
          <p:nvPr/>
        </p:nvSpPr>
        <p:spPr>
          <a:xfrm>
            <a:off x="6629400" y="4416552"/>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couche est claire : l'API si la règle y vit, l'écran sinon</a:t>
            </a:r>
            <a:endParaRPr lang="en-US" sz="1400" dirty="0"/>
          </a:p>
        </p:txBody>
      </p:sp>
      <p:sp>
        <p:nvSpPr>
          <p:cNvPr id="38" name="box"/>
          <p:cNvSpPr/>
          <p:nvPr/>
        </p:nvSpPr>
        <p:spPr>
          <a:xfrm>
            <a:off x="6035040" y="5029200"/>
            <a:ext cx="5577840" cy="822960"/>
          </a:xfrm>
          <a:prstGeom prst="roundRect">
            <a:avLst>
              <a:gd name="adj" fmla="val 6667"/>
            </a:avLst>
          </a:prstGeom>
          <a:solidFill>
            <a:srgbClr val="E6E9ED"/>
          </a:solidFill>
          <a:ln/>
        </p:spPr>
      </p:sp>
      <p:sp>
        <p:nvSpPr>
          <p:cNvPr id="39" name="Text 37"/>
          <p:cNvSpPr txBox="1"/>
          <p:nvPr/>
        </p:nvSpPr>
        <p:spPr>
          <a:xfrm>
            <a:off x="6217920" y="5029200"/>
            <a:ext cx="5257800" cy="822960"/>
          </a:xfrm>
          <a:prstGeom prst="rect">
            <a:avLst/>
          </a:prstGeom>
          <a:noFill/>
          <a:ln/>
        </p:spPr>
        <p:txBody>
          <a:bodyPr wrap="square" lIns="0" tIns="0" rIns="0" bIns="0" rtlCol="0" anchor="ctr"/>
          <a:lstStyle/>
          <a:p>
            <a:pPr indent="0" marL="0">
              <a:buNone/>
            </a:pPr>
            <a:r>
              <a:rPr lang="en-US" sz="1250" dirty="0">
                <a:solidFill>
                  <a:schemeClr val="tx1"/>
                </a:solidFill>
              </a:rPr>
              <a:t>Le nombre réel se fixe au fil des sprints. Chaque cas automatisé est marqué comme tel dans Test Plans : la recette sait ce qu'elle n'a plus à rejouer.</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 seul outil, deux couches : Playwright API et UI</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Une pyramide assumée : les règles sous l'écran, l'UI réservée à ce que seul l'écran peut prouver.</a:t>
            </a:r>
            <a:endParaRPr lang="en-US" sz="1600" dirty="0"/>
          </a:p>
        </p:txBody>
      </p:sp>
      <p:sp>
        <p:nvSpPr>
          <p:cNvPr id="4" name="nuage"/>
          <p:cNvSpPr/>
          <p:nvPr/>
        </p:nvSpPr>
        <p:spPr>
          <a:xfrm>
            <a:off x="1234440" y="1572768"/>
            <a:ext cx="2286000" cy="777240"/>
          </a:xfrm>
          <a:prstGeom prst="cloud">
            <a:avLst/>
          </a:prstGeom>
          <a:solidFill>
            <a:srgbClr val="E6E9ED"/>
          </a:solidFill>
          <a:ln/>
        </p:spPr>
      </p:sp>
      <p:sp>
        <p:nvSpPr>
          <p:cNvPr id="5" name="Text 3"/>
          <p:cNvSpPr txBox="1"/>
          <p:nvPr/>
        </p:nvSpPr>
        <p:spPr>
          <a:xfrm>
            <a:off x="1234440" y="1572768"/>
            <a:ext cx="2286000" cy="777240"/>
          </a:xfrm>
          <a:prstGeom prst="rect">
            <a:avLst/>
          </a:prstGeom>
          <a:noFill/>
          <a:ln/>
        </p:spPr>
        <p:txBody>
          <a:bodyPr wrap="square" lIns="0" tIns="0" rIns="0" bIns="0" rtlCol="0" anchor="ctr"/>
          <a:lstStyle/>
          <a:p>
            <a:pPr algn="ctr" indent="0" marL="0">
              <a:buNone/>
            </a:pPr>
            <a:r>
              <a:rPr lang="en-US" sz="1100" b="1" dirty="0">
                <a:solidFill>
                  <a:schemeClr val="accent4"/>
                </a:solidFill>
              </a:rPr>
              <a:t>Manuel, exploratoire</a:t>
            </a:r>
            <a:endParaRPr lang="en-US" sz="1100" dirty="0"/>
          </a:p>
        </p:txBody>
      </p:sp>
      <p:sp>
        <p:nvSpPr>
          <p:cNvPr id="6" name="box"/>
          <p:cNvSpPr/>
          <p:nvPr/>
        </p:nvSpPr>
        <p:spPr>
          <a:xfrm>
            <a:off x="1554480" y="2487168"/>
            <a:ext cx="1737360" cy="777240"/>
          </a:xfrm>
          <a:prstGeom prst="roundRect">
            <a:avLst>
              <a:gd name="adj" fmla="val 7059"/>
            </a:avLst>
          </a:prstGeom>
          <a:solidFill>
            <a:schemeClr val="tx2"/>
          </a:solidFill>
          <a:ln/>
        </p:spPr>
      </p:sp>
      <p:sp>
        <p:nvSpPr>
          <p:cNvPr id="7" name="Text 5"/>
          <p:cNvSpPr txBox="1"/>
          <p:nvPr/>
        </p:nvSpPr>
        <p:spPr>
          <a:xfrm>
            <a:off x="548640" y="2487168"/>
            <a:ext cx="3749040" cy="777240"/>
          </a:xfrm>
          <a:prstGeom prst="rect">
            <a:avLst/>
          </a:prstGeom>
          <a:noFill/>
          <a:ln/>
        </p:spPr>
        <p:txBody>
          <a:bodyPr wrap="square" lIns="0" tIns="0" rIns="0" bIns="0" rtlCol="0" anchor="ctr"/>
          <a:lstStyle/>
          <a:p>
            <a:pPr algn="ctr" indent="0" marL="0">
              <a:buNone/>
            </a:pPr>
            <a:r>
              <a:rPr lang="en-US" sz="1300" b="1" dirty="0">
                <a:solidFill>
                  <a:srgbClr val="FFFFFF"/>
                </a:solidFill>
              </a:rPr>
              <a:t>UI · ciblée</a:t>
            </a:r>
            <a:endParaRPr lang="en-US" sz="1300" dirty="0"/>
          </a:p>
        </p:txBody>
      </p:sp>
      <p:sp>
        <p:nvSpPr>
          <p:cNvPr id="8" name="box"/>
          <p:cNvSpPr/>
          <p:nvPr/>
        </p:nvSpPr>
        <p:spPr>
          <a:xfrm>
            <a:off x="1005840" y="3355848"/>
            <a:ext cx="2834640" cy="777240"/>
          </a:xfrm>
          <a:prstGeom prst="roundRect">
            <a:avLst>
              <a:gd name="adj" fmla="val 7059"/>
            </a:avLst>
          </a:prstGeom>
          <a:solidFill>
            <a:schemeClr val="accent1"/>
          </a:solidFill>
          <a:ln/>
        </p:spPr>
      </p:sp>
      <p:sp>
        <p:nvSpPr>
          <p:cNvPr id="9" name="Text 7"/>
          <p:cNvSpPr txBox="1"/>
          <p:nvPr/>
        </p:nvSpPr>
        <p:spPr>
          <a:xfrm>
            <a:off x="548640" y="3355848"/>
            <a:ext cx="3749040" cy="777240"/>
          </a:xfrm>
          <a:prstGeom prst="rect">
            <a:avLst/>
          </a:prstGeom>
          <a:noFill/>
          <a:ln/>
        </p:spPr>
        <p:txBody>
          <a:bodyPr wrap="square" lIns="0" tIns="0" rIns="0" bIns="0" rtlCol="0" anchor="ctr"/>
          <a:lstStyle/>
          <a:p>
            <a:pPr algn="ctr" indent="0" marL="0">
              <a:buNone/>
            </a:pPr>
            <a:r>
              <a:rPr lang="en-US" sz="1300" b="1" dirty="0">
                <a:solidFill>
                  <a:srgbClr val="FFFFFF"/>
                </a:solidFill>
              </a:rPr>
              <a:t>API · règles, droits, statuts</a:t>
            </a:r>
            <a:endParaRPr lang="en-US" sz="1300" dirty="0"/>
          </a:p>
        </p:txBody>
      </p:sp>
      <p:sp>
        <p:nvSpPr>
          <p:cNvPr id="10" name="box"/>
          <p:cNvSpPr/>
          <p:nvPr/>
        </p:nvSpPr>
        <p:spPr>
          <a:xfrm>
            <a:off x="548640" y="4224528"/>
            <a:ext cx="3749040" cy="777240"/>
          </a:xfrm>
          <a:prstGeom prst="roundRect">
            <a:avLst>
              <a:gd name="adj" fmla="val 7059"/>
            </a:avLst>
          </a:prstGeom>
          <a:solidFill>
            <a:schemeClr val="accent5"/>
          </a:solidFill>
          <a:ln/>
        </p:spPr>
      </p:sp>
      <p:sp>
        <p:nvSpPr>
          <p:cNvPr id="11" name="Text 9"/>
          <p:cNvSpPr txBox="1"/>
          <p:nvPr/>
        </p:nvSpPr>
        <p:spPr>
          <a:xfrm>
            <a:off x="548640" y="4224528"/>
            <a:ext cx="3749040" cy="777240"/>
          </a:xfrm>
          <a:prstGeom prst="rect">
            <a:avLst/>
          </a:prstGeom>
          <a:noFill/>
          <a:ln/>
        </p:spPr>
        <p:txBody>
          <a:bodyPr wrap="square" lIns="0" tIns="0" rIns="0" bIns="0" rtlCol="0" anchor="ctr"/>
          <a:lstStyle/>
          <a:p>
            <a:pPr algn="ctr" indent="0" marL="0">
              <a:buNone/>
            </a:pPr>
            <a:r>
              <a:rPr lang="en-US" sz="1300" b="1" dirty="0">
                <a:solidFill>
                  <a:srgbClr val="00338D"/>
                </a:solidFill>
              </a:rPr>
              <a:t>Unitaires · développeurs</a:t>
            </a:r>
            <a:endParaRPr lang="en-US" sz="1300" dirty="0"/>
          </a:p>
        </p:txBody>
      </p:sp>
      <p:sp>
        <p:nvSpPr>
          <p:cNvPr id="12" name="Text 10"/>
          <p:cNvSpPr txBox="1"/>
          <p:nvPr/>
        </p:nvSpPr>
        <p:spPr>
          <a:xfrm>
            <a:off x="548640" y="5120640"/>
            <a:ext cx="3749040" cy="777240"/>
          </a:xfrm>
          <a:prstGeom prst="rect">
            <a:avLst/>
          </a:prstGeom>
          <a:noFill/>
          <a:ln/>
        </p:spPr>
        <p:txBody>
          <a:bodyPr wrap="square" lIns="0" tIns="0" rIns="0" bIns="0" rtlCol="0" anchor="t"/>
          <a:lstStyle/>
          <a:p>
            <a:pPr indent="0" marL="0">
              <a:buNone/>
            </a:pPr>
            <a:r>
              <a:rPr lang="en-US" sz="1100" b="1" dirty="0">
                <a:solidFill>
                  <a:srgbClr val="00338D"/>
                </a:solidFill>
              </a:rPr>
              <a:t>Forme visée : la pyramide. </a:t>
            </a:r>
            <a:pPr indent="0" marL="0">
              <a:buNone/>
            </a:pPr>
            <a:r>
              <a:rPr lang="en-US" sz="1100" dirty="0">
                <a:solidFill>
                  <a:schemeClr val="tx1"/>
                </a:solidFill>
              </a:rPr>
              <a:t>Le piège : le cornet de glace, où tout passe par l'écran, lent et fragile. La base est aux développeurs ; la QA vérifie en revue que les règles critiques y sont.</a:t>
            </a:r>
            <a:endParaRPr lang="en-US" sz="1100" dirty="0"/>
          </a:p>
        </p:txBody>
      </p:sp>
      <p:graphicFrame>
        <p:nvGraphicFramePr>
          <p:cNvPr id="7" name="table-couches"/>
          <p:cNvGraphicFramePr>
            <a:graphicFrameLocks noGrp="1"/>
          </p:cNvGraphicFramePr>
          <p:nvPr>
            <p:extLst>
              <p:ext uri="{D42A27DB-BD31-4B8C-83A1-F6EECF244321}">
                <p14:modId xmlns:p14="http://schemas.microsoft.com/office/powerpoint/2010/main" val="1579011935"/>
              </p:ext>
            </p:extLst>
          </p:nvPr>
        </p:nvGraphicFramePr>
        <p:xfrm>
          <a:off x="4572000" y="1600200"/>
          <a:ext cx="7040880" cy="914400"/>
        </p:xfrm>
        <a:graphic>
          <a:graphicData uri="http://schemas.openxmlformats.org/drawingml/2006/table">
            <a:tbl>
              <a:tblPr/>
              <a:tblGrid>
                <a:gridCol w="1005840"/>
                <a:gridCol w="2011680"/>
                <a:gridCol w="2011680"/>
                <a:gridCol w="2011680"/>
              </a:tblGrid>
              <a:tr h="384048">
                <a:tc>
                  <a:txBody>
                    <a:bodyPr/>
                    <a:lstStyle/>
                    <a:p>
                      <a:pPr indent="0" marL="0">
                        <a:buNone/>
                      </a:pPr>
                      <a:endParaRPr lang="en-US" sz="1200" dirty="0"/>
                    </a:p>
                  </a:txBody>
                  <a:tcPr marL="73152" marR="73152" marT="45720" marB="4572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API · Playwright request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rgbClr val="FFFFFF"/>
                          </a:solidFill>
                        </a:rPr>
                        <a:t>UI · Playwright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rgbClr val="FFFFFF"/>
                          </a:solidFill>
                        </a:rPr>
                        <a:t>Manuel et exploratoire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4"/>
                    </a:solidFill>
                  </a:tcPr>
                </a:tc>
              </a:tr>
              <a:tr h="1051560">
                <a:tc>
                  <a:txBody>
                    <a:bodyPr/>
                    <a:lstStyle/>
                    <a:p>
                      <a:pPr indent="0" marL="0">
                        <a:buNone/>
                      </a:pPr>
                      <a:r>
                        <a:rPr lang="en-US" sz="1100" b="1" dirty="0">
                          <a:solidFill>
                            <a:srgbClr val="00338D"/>
                          </a:solidFill>
                        </a:rPr>
                        <a:t>Quoi</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Les règles, droits et statuts portés par l'API, pour les cas qui passent les critères</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Un parcours de bout en bout, si l'écran est stable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Ce qui demande un jugement humain, ergonomie, recette métier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r>
              <a:tr h="914400">
                <a:tc>
                  <a:txBody>
                    <a:bodyPr/>
                    <a:lstStyle/>
                    <a:p>
                      <a:pPr indent="0" marL="0">
                        <a:buNone/>
                      </a:pPr>
                      <a:r>
                        <a:rPr lang="en-US" sz="1100" b="1" dirty="0">
                          <a:solidFill>
                            <a:srgbClr val="00338D"/>
                          </a:solidFill>
                        </a:rPr>
                        <a:t>Pourquoi là</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Rapide, stable, indépendant de l'écran ; la même API crée les données de test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Seul l'écran prouve que le parcours tient pour l'utilisateur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Jugement humain, ou fréquence trop faible pour automatiser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0338D"/>
                          </a:solidFill>
                        </a:rPr>
                        <a:t>Où</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ITG</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ITG ; smoke en lecture seule en PREPROD et PROD</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ITG et PREPROD</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r>
              <a:tr h="502920">
                <a:tc>
                  <a:txBody>
                    <a:bodyPr/>
                    <a:lstStyle/>
                    <a:p>
                      <a:pPr indent="0" marL="0">
                        <a:buNone/>
                      </a:pPr>
                      <a:r>
                        <a:rPr lang="en-US" sz="1100" b="1" dirty="0">
                          <a:solidFill>
                            <a:srgbClr val="00338D"/>
                          </a:solidFill>
                        </a:rPr>
                        <a:t>Bloque si</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Un scénario échoue sur un vrai écart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Un scénario ou le smoke échoue sur un vrai écart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Anomalie bloquante ouverte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bl>
          </a:graphicData>
        </a:graphic>
      </p:graphicFrame>
      <p:sp>
        <p:nvSpPr>
          <p:cNvPr id="14" name="box"/>
          <p:cNvSpPr/>
          <p:nvPr/>
        </p:nvSpPr>
        <p:spPr>
          <a:xfrm>
            <a:off x="4572000" y="5120640"/>
            <a:ext cx="7040880" cy="749808"/>
          </a:xfrm>
          <a:prstGeom prst="roundRect">
            <a:avLst>
              <a:gd name="adj" fmla="val 7317"/>
            </a:avLst>
          </a:prstGeom>
          <a:solidFill>
            <a:srgbClr val="E6E9ED"/>
          </a:solidFill>
          <a:ln/>
        </p:spPr>
      </p:sp>
      <p:sp>
        <p:nvSpPr>
          <p:cNvPr id="15" name="Text 12"/>
          <p:cNvSpPr txBox="1"/>
          <p:nvPr/>
        </p:nvSpPr>
        <p:spPr>
          <a:xfrm>
            <a:off x="4754880" y="5120640"/>
            <a:ext cx="6766560" cy="749808"/>
          </a:xfrm>
          <a:prstGeom prst="rect">
            <a:avLst/>
          </a:prstGeom>
          <a:noFill/>
          <a:ln/>
        </p:spPr>
        <p:txBody>
          <a:bodyPr wrap="square" lIns="0" tIns="0" rIns="0" bIns="0" rtlCol="0" anchor="ctr"/>
          <a:lstStyle/>
          <a:p>
            <a:pPr indent="0" marL="0">
              <a:buNone/>
            </a:pPr>
            <a:r>
              <a:rPr lang="en-US" sz="1200" b="1" dirty="0">
                <a:solidFill>
                  <a:srgbClr val="00338D"/>
                </a:solidFill>
              </a:rPr>
              <a:t>Règle de placement : </a:t>
            </a:r>
            <a:pPr indent="0" marL="0">
              <a:buNone/>
            </a:pPr>
            <a:r>
              <a:rPr lang="en-US" sz="1200" dirty="0">
                <a:solidFill>
                  <a:schemeClr val="tx1"/>
                </a:solidFill>
              </a:rPr>
              <a:t>une règle portée par l'API se teste par l'API ; un test UI ne revérifie jamais un droit ou une règle déjà prouvés par l'API.</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 framework Playwright TypeScript pensé pour InfoCAC</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dépôt, deux couches, une session par rôle, des conventions écrites que les humains et les agents suivent.</a:t>
            </a:r>
            <a:endParaRPr lang="en-US" sz="1600" dirty="0"/>
          </a:p>
        </p:txBody>
      </p:sp>
      <p:sp>
        <p:nvSpPr>
          <p:cNvPr id="4" name="card"/>
          <p:cNvSpPr/>
          <p:nvPr/>
        </p:nvSpPr>
        <p:spPr>
          <a:xfrm>
            <a:off x="548640" y="1645920"/>
            <a:ext cx="5120640" cy="2011680"/>
          </a:xfrm>
          <a:prstGeom prst="roundRect">
            <a:avLst>
              <a:gd name="adj" fmla="val 4545"/>
            </a:avLst>
          </a:prstGeom>
          <a:solidFill>
            <a:schemeClr val="accent6"/>
          </a:solidFill>
          <a:ln/>
        </p:spPr>
      </p:sp>
      <p:sp>
        <p:nvSpPr>
          <p:cNvPr id="5" name="Text 3"/>
          <p:cNvSpPr txBox="1"/>
          <p:nvPr/>
        </p:nvSpPr>
        <p:spPr>
          <a:xfrm>
            <a:off x="777240" y="1737360"/>
            <a:ext cx="4800600" cy="18288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infocac-tests/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tests/api/      règles, droits, statuts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tests/ui/       parcours de bout en bout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api/            client typé depuis l'OpenAPI</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pages/          actions Vue, sans assertion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fixtures/       session par rôle, données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config/env.ts   dev, itg, preprod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conventions/    règles, humains et agents</a:t>
            </a:r>
            <a:endParaRPr lang="en-US" sz="1300" dirty="0"/>
          </a:p>
        </p:txBody>
      </p:sp>
      <p:sp>
        <p:nvSpPr>
          <p:cNvPr id="6" name="card"/>
          <p:cNvSpPr/>
          <p:nvPr/>
        </p:nvSpPr>
        <p:spPr>
          <a:xfrm>
            <a:off x="548640" y="3822192"/>
            <a:ext cx="5120640" cy="1993392"/>
          </a:xfrm>
          <a:prstGeom prst="roundRect">
            <a:avLst>
              <a:gd name="adj" fmla="val 4587"/>
            </a:avLst>
          </a:prstGeom>
          <a:solidFill>
            <a:schemeClr val="tx2"/>
          </a:solidFill>
          <a:ln/>
        </p:spPr>
      </p:sp>
      <p:sp>
        <p:nvSpPr>
          <p:cNvPr id="7" name="Text 5"/>
          <p:cNvSpPr txBox="1"/>
          <p:nvPr/>
        </p:nvSpPr>
        <p:spPr>
          <a:xfrm>
            <a:off x="685800" y="3895344"/>
            <a:ext cx="4937760" cy="1847088"/>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 Exemple fictif : la règle réelle vient de l'US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test.use({ storageState: '.auth/admin.json' });</a:t>
            </a:r>
            <a:endParaRPr lang="en-US" sz="1000" dirty="0"/>
          </a:p>
          <a:p>
            <a:pPr indent="0" marL="0">
              <a:buNone/>
            </a:pP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test('un Admin valide un mandat qualifié', async ({ api }) =&gt;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mandat = await api.creerMandat(MANDAT_QA); // fixture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reponse = await api.valider(mandat.id);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expect(reponse.status()).toBe(200);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await expect.poll(() =&gt; api.statut(mandat.id)).toBe('Validé');</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card"/>
          <p:cNvSpPr/>
          <p:nvPr/>
        </p:nvSpPr>
        <p:spPr>
          <a:xfrm>
            <a:off x="5989320" y="1645920"/>
            <a:ext cx="5623560" cy="960120"/>
          </a:xfrm>
          <a:prstGeom prst="roundRect">
            <a:avLst>
              <a:gd name="adj" fmla="val 9524"/>
            </a:avLst>
          </a:prstGeom>
          <a:solidFill>
            <a:schemeClr val="bg2"/>
          </a:solidFill>
          <a:ln/>
        </p:spPr>
      </p:sp>
      <p:sp>
        <p:nvSpPr>
          <p:cNvPr id="9" name="Text 7"/>
          <p:cNvSpPr txBox="1"/>
          <p:nvPr/>
        </p:nvSpPr>
        <p:spPr>
          <a:xfrm>
            <a:off x="6217920" y="1737360"/>
            <a:ext cx="5212080" cy="292608"/>
          </a:xfrm>
          <a:prstGeom prst="rect">
            <a:avLst/>
          </a:prstGeom>
          <a:noFill/>
          <a:ln/>
        </p:spPr>
        <p:txBody>
          <a:bodyPr wrap="square" lIns="0" tIns="0" rIns="0" bIns="0" rtlCol="0" anchor="t"/>
          <a:lstStyle/>
          <a:p>
            <a:pPr indent="0" marL="0">
              <a:buNone/>
            </a:pPr>
            <a:r>
              <a:rPr lang="en-US" sz="1500" b="1" dirty="0">
                <a:solidFill>
                  <a:schemeClr val="tx2"/>
                </a:solidFill>
              </a:rPr>
              <a:t>Fiabilité</a:t>
            </a:r>
            <a:endParaRPr lang="en-US" sz="1500" dirty="0"/>
          </a:p>
        </p:txBody>
      </p:sp>
      <p:sp>
        <p:nvSpPr>
          <p:cNvPr id="10" name="Text 8"/>
          <p:cNvSpPr txBox="1"/>
          <p:nvPr/>
        </p:nvSpPr>
        <p:spPr>
          <a:xfrm>
            <a:off x="6217920" y="2048256"/>
            <a:ext cx="5257800" cy="530352"/>
          </a:xfrm>
          <a:prstGeom prst="rect">
            <a:avLst/>
          </a:prstGeom>
          <a:noFill/>
          <a:ln/>
        </p:spPr>
        <p:txBody>
          <a:bodyPr wrap="square" lIns="0" tIns="0" rIns="0" bIns="0" rtlCol="0" anchor="t"/>
          <a:lstStyle/>
          <a:p>
            <a:pPr indent="0" marL="0">
              <a:buNone/>
            </a:pPr>
            <a:r>
              <a:rPr lang="en-US" sz="1200" dirty="0">
                <a:solidFill>
                  <a:schemeClr val="tx1"/>
                </a:solidFill>
              </a:rPr>
              <a:t>Aucune attente fixe : on attend une réponse réseau ou un état. Locators par rôle et libellé, data-testid sur les écrans critiques.</a:t>
            </a:r>
            <a:endParaRPr lang="en-US" sz="1200" dirty="0"/>
          </a:p>
        </p:txBody>
      </p:sp>
      <p:sp>
        <p:nvSpPr>
          <p:cNvPr id="11" name="card"/>
          <p:cNvSpPr/>
          <p:nvPr/>
        </p:nvSpPr>
        <p:spPr>
          <a:xfrm>
            <a:off x="5989320" y="2715768"/>
            <a:ext cx="5623560" cy="960120"/>
          </a:xfrm>
          <a:prstGeom prst="roundRect">
            <a:avLst>
              <a:gd name="adj" fmla="val 9524"/>
            </a:avLst>
          </a:prstGeom>
          <a:solidFill>
            <a:schemeClr val="bg2"/>
          </a:solidFill>
          <a:ln/>
        </p:spPr>
      </p:sp>
      <p:sp>
        <p:nvSpPr>
          <p:cNvPr id="12" name="Text 10"/>
          <p:cNvSpPr txBox="1"/>
          <p:nvPr/>
        </p:nvSpPr>
        <p:spPr>
          <a:xfrm>
            <a:off x="6217920" y="2807208"/>
            <a:ext cx="5212080" cy="292608"/>
          </a:xfrm>
          <a:prstGeom prst="rect">
            <a:avLst/>
          </a:prstGeom>
          <a:noFill/>
          <a:ln/>
        </p:spPr>
        <p:txBody>
          <a:bodyPr wrap="square" lIns="0" tIns="0" rIns="0" bIns="0" rtlCol="0" anchor="t"/>
          <a:lstStyle/>
          <a:p>
            <a:pPr indent="0" marL="0">
              <a:buNone/>
            </a:pPr>
            <a:r>
              <a:rPr lang="en-US" sz="1500" b="1" dirty="0">
                <a:solidFill>
                  <a:schemeClr val="tx2"/>
                </a:solidFill>
              </a:rPr>
              <a:t>Données</a:t>
            </a:r>
            <a:endParaRPr lang="en-US" sz="1500" dirty="0"/>
          </a:p>
        </p:txBody>
      </p:sp>
      <p:sp>
        <p:nvSpPr>
          <p:cNvPr id="13" name="Text 11"/>
          <p:cNvSpPr txBox="1"/>
          <p:nvPr/>
        </p:nvSpPr>
        <p:spPr>
          <a:xfrm>
            <a:off x="6217920" y="3118104"/>
            <a:ext cx="5257800" cy="530352"/>
          </a:xfrm>
          <a:prstGeom prst="rect">
            <a:avLst/>
          </a:prstGeom>
          <a:noFill/>
          <a:ln/>
        </p:spPr>
        <p:txBody>
          <a:bodyPr wrap="square" lIns="0" tIns="0" rIns="0" bIns="0" rtlCol="0" anchor="t"/>
          <a:lstStyle/>
          <a:p>
            <a:pPr indent="0" marL="0">
              <a:buNone/>
            </a:pPr>
            <a:r>
              <a:rPr lang="en-US" sz="1200" dirty="0">
                <a:solidFill>
                  <a:schemeClr val="tx1"/>
                </a:solidFill>
              </a:rPr>
              <a:t>Créées par API, préfixées QA, isolées par test, nettoyées quand l'API le permet. Aucun test ne dépend d'un autre.</a:t>
            </a:r>
            <a:endParaRPr lang="en-US" sz="1200" dirty="0"/>
          </a:p>
        </p:txBody>
      </p:sp>
      <p:sp>
        <p:nvSpPr>
          <p:cNvPr id="14" name="card"/>
          <p:cNvSpPr/>
          <p:nvPr/>
        </p:nvSpPr>
        <p:spPr>
          <a:xfrm>
            <a:off x="5989320" y="3785616"/>
            <a:ext cx="5623560" cy="960120"/>
          </a:xfrm>
          <a:prstGeom prst="roundRect">
            <a:avLst>
              <a:gd name="adj" fmla="val 9524"/>
            </a:avLst>
          </a:prstGeom>
          <a:solidFill>
            <a:schemeClr val="bg2"/>
          </a:solidFill>
          <a:ln/>
        </p:spPr>
      </p:sp>
      <p:sp>
        <p:nvSpPr>
          <p:cNvPr id="15" name="Text 13"/>
          <p:cNvSpPr txBox="1"/>
          <p:nvPr/>
        </p:nvSpPr>
        <p:spPr>
          <a:xfrm>
            <a:off x="6217920" y="3877056"/>
            <a:ext cx="5212080" cy="292608"/>
          </a:xfrm>
          <a:prstGeom prst="rect">
            <a:avLst/>
          </a:prstGeom>
          <a:noFill/>
          <a:ln/>
        </p:spPr>
        <p:txBody>
          <a:bodyPr wrap="square" lIns="0" tIns="0" rIns="0" bIns="0" rtlCol="0" anchor="t"/>
          <a:lstStyle/>
          <a:p>
            <a:pPr indent="0" marL="0">
              <a:buNone/>
            </a:pPr>
            <a:r>
              <a:rPr lang="en-US" sz="1500" b="1" dirty="0">
                <a:solidFill>
                  <a:schemeClr val="tx2"/>
                </a:solidFill>
              </a:rPr>
              <a:t>Rôles</a:t>
            </a:r>
            <a:endParaRPr lang="en-US" sz="1500" dirty="0"/>
          </a:p>
        </p:txBody>
      </p:sp>
      <p:sp>
        <p:nvSpPr>
          <p:cNvPr id="16" name="Text 14"/>
          <p:cNvSpPr txBox="1"/>
          <p:nvPr/>
        </p:nvSpPr>
        <p:spPr>
          <a:xfrm>
            <a:off x="6217920" y="4187952"/>
            <a:ext cx="5257800" cy="530352"/>
          </a:xfrm>
          <a:prstGeom prst="rect">
            <a:avLst/>
          </a:prstGeom>
          <a:noFill/>
          <a:ln/>
        </p:spPr>
        <p:txBody>
          <a:bodyPr wrap="square" lIns="0" tIns="0" rIns="0" bIns="0" rtlCol="0" anchor="t"/>
          <a:lstStyle/>
          <a:p>
            <a:pPr indent="0" marL="0">
              <a:buNone/>
            </a:pPr>
            <a:r>
              <a:rPr lang="en-US" sz="1200" dirty="0">
                <a:solidFill>
                  <a:schemeClr val="tx1"/>
                </a:solidFill>
              </a:rPr>
              <a:t>Connexion par identifiant et mot de passe une fois par rôle (User, Admin, Super Admin), session réutilisée. Secrets lus depuis Key Vault.</a:t>
            </a:r>
            <a:endParaRPr lang="en-US" sz="1200" dirty="0"/>
          </a:p>
        </p:txBody>
      </p:sp>
      <p:sp>
        <p:nvSpPr>
          <p:cNvPr id="17" name="card"/>
          <p:cNvSpPr/>
          <p:nvPr/>
        </p:nvSpPr>
        <p:spPr>
          <a:xfrm>
            <a:off x="5989320" y="4855464"/>
            <a:ext cx="5623560" cy="960120"/>
          </a:xfrm>
          <a:prstGeom prst="roundRect">
            <a:avLst>
              <a:gd name="adj" fmla="val 9524"/>
            </a:avLst>
          </a:prstGeom>
          <a:solidFill>
            <a:schemeClr val="bg2"/>
          </a:solidFill>
          <a:ln/>
        </p:spPr>
      </p:sp>
      <p:sp>
        <p:nvSpPr>
          <p:cNvPr id="18" name="Text 16"/>
          <p:cNvSpPr txBox="1"/>
          <p:nvPr/>
        </p:nvSpPr>
        <p:spPr>
          <a:xfrm>
            <a:off x="6217920" y="4946904"/>
            <a:ext cx="5212080" cy="292608"/>
          </a:xfrm>
          <a:prstGeom prst="rect">
            <a:avLst/>
          </a:prstGeom>
          <a:noFill/>
          <a:ln/>
        </p:spPr>
        <p:txBody>
          <a:bodyPr wrap="square" lIns="0" tIns="0" rIns="0" bIns="0" rtlCol="0" anchor="t"/>
          <a:lstStyle/>
          <a:p>
            <a:pPr indent="0" marL="0">
              <a:buNone/>
            </a:pPr>
            <a:r>
              <a:rPr lang="en-US" sz="1500" b="1" dirty="0">
                <a:solidFill>
                  <a:schemeClr val="tx2"/>
                </a:solidFill>
              </a:rPr>
              <a:t>Diagnostic</a:t>
            </a:r>
            <a:endParaRPr lang="en-US" sz="1500" dirty="0"/>
          </a:p>
        </p:txBody>
      </p:sp>
      <p:sp>
        <p:nvSpPr>
          <p:cNvPr id="19" name="Text 17"/>
          <p:cNvSpPr txBox="1"/>
          <p:nvPr/>
        </p:nvSpPr>
        <p:spPr>
          <a:xfrm>
            <a:off x="6217920" y="5257800"/>
            <a:ext cx="5257800" cy="530352"/>
          </a:xfrm>
          <a:prstGeom prst="rect">
            <a:avLst/>
          </a:prstGeom>
          <a:noFill/>
          <a:ln/>
        </p:spPr>
        <p:txBody>
          <a:bodyPr wrap="square" lIns="0" tIns="0" rIns="0" bIns="0" rtlCol="0" anchor="t"/>
          <a:lstStyle/>
          <a:p>
            <a:pPr indent="0" marL="0">
              <a:buNone/>
            </a:pPr>
            <a:r>
              <a:rPr lang="en-US" sz="1200" dirty="0">
                <a:solidFill>
                  <a:schemeClr val="tx1"/>
                </a:solidFill>
              </a:rPr>
              <a:t>Une relance en CI, tracée. Trace conservée à chaque échec, avec l'identifiant d'opération App Insights.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Portes de qualité et tests instables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Code sur GitHub, exécution dans Azure Pipelines ; un test qui n'inspire pas confiance ne protège rien.</a:t>
            </a:r>
            <a:endParaRPr lang="en-US" sz="1600" dirty="0"/>
          </a:p>
        </p:txBody>
      </p:sp>
      <p:graphicFrame>
        <p:nvGraphicFramePr>
          <p:cNvPr id="9" name="table-gates"/>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28800"/>
                <a:gridCol w="2743200"/>
                <a:gridCol w="3429000"/>
                <a:gridCol w="3063240"/>
              </a:tblGrid>
              <a:tr h="329184">
                <a:tc>
                  <a:txBody>
                    <a:bodyPr/>
                    <a:lstStyle/>
                    <a:p>
                      <a:pPr indent="0" marL="0">
                        <a:buNone/>
                      </a:pPr>
                      <a:r>
                        <a:rPr lang="en-US" sz="1200" b="1" dirty="0">
                          <a:solidFill>
                            <a:srgbClr val="FFFFFF"/>
                          </a:solidFill>
                        </a:rPr>
                        <a:t>Événement</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qui tourne</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Bloque</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Ne bloque pas</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4F"/>
                    </a:solidFill>
                  </a:tcPr>
                </a:tc>
              </a:tr>
              <a:tr h="457200">
                <a:tc>
                  <a:txBody>
                    <a:bodyPr/>
                    <a:lstStyle/>
                    <a:p>
                      <a:pPr indent="0" marL="0">
                        <a:buNone/>
                      </a:pPr>
                      <a:r>
                        <a:rPr lang="en-US" sz="1100" b="1" dirty="0">
                          <a:solidFill>
                            <a:srgbClr val="1A1A2E"/>
                          </a:solidFill>
                        </a:rPr>
                        <a:t>Pull request GitHub</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Lint, typage, tests modifiés sur ITG</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Le merge : erreur, test modifié en échec, test.only oublié</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Test passé au second essai : signalé dans la PR</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Chaque déploiement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Smoke API et UI ; lecture seule en PREPROD et PROD</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La promotion vers l'environnement suivant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Environnement indisponible : relance, pas d'anomalie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Chaque nuit sur ITG</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Les 5 à 10 scénarios</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La promotion vers PREPROD si un vrai écart apparaît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Test en quarantaine : exécuté et affiché, sans blocage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Avant la recette métier</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Smoke, puis campagne manuelle dans Test Plans</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L'ouverture de la recette si un critère de sortie manque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Anomalie mineure acceptée par écrit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bl>
          </a:graphicData>
        </a:graphic>
      </p:graphicFrame>
      <p:sp>
        <p:nvSpPr>
          <p:cNvPr id="5" name="card"/>
          <p:cNvSpPr/>
          <p:nvPr/>
        </p:nvSpPr>
        <p:spPr>
          <a:xfrm>
            <a:off x="548640" y="3977640"/>
            <a:ext cx="3520440" cy="1417320"/>
          </a:xfrm>
          <a:prstGeom prst="roundRect">
            <a:avLst>
              <a:gd name="adj" fmla="val 6452"/>
            </a:avLst>
          </a:prstGeom>
          <a:solidFill>
            <a:schemeClr val="bg2"/>
          </a:solidFill>
          <a:ln/>
        </p:spPr>
      </p:sp>
      <p:sp>
        <p:nvSpPr>
          <p:cNvPr id="6" name="Text 3"/>
          <p:cNvSpPr txBox="1"/>
          <p:nvPr/>
        </p:nvSpPr>
        <p:spPr>
          <a:xfrm>
            <a:off x="731520" y="4050792"/>
            <a:ext cx="3200400" cy="310896"/>
          </a:xfrm>
          <a:prstGeom prst="rect">
            <a:avLst/>
          </a:prstGeom>
          <a:noFill/>
          <a:ln/>
        </p:spPr>
        <p:txBody>
          <a:bodyPr wrap="square" lIns="0" tIns="0" rIns="0" bIns="0" rtlCol="0" anchor="t"/>
          <a:lstStyle/>
          <a:p>
            <a:pPr indent="0" marL="0">
              <a:buNone/>
            </a:pPr>
            <a:r>
              <a:rPr lang="en-US" sz="1500" b="1" dirty="0">
                <a:solidFill>
                  <a:schemeClr val="tx2"/>
                </a:solidFill>
              </a:rPr>
              <a:t>1. Prévenir</a:t>
            </a:r>
            <a:endParaRPr lang="en-US" sz="1500" dirty="0"/>
          </a:p>
        </p:txBody>
      </p:sp>
      <p:sp>
        <p:nvSpPr>
          <p:cNvPr id="7" name="Text 4"/>
          <p:cNvSpPr txBox="1"/>
          <p:nvPr/>
        </p:nvSpPr>
        <p:spPr>
          <a:xfrm>
            <a:off x="731520" y="4389120"/>
            <a:ext cx="3200400" cy="960120"/>
          </a:xfrm>
          <a:prstGeom prst="rect">
            <a:avLst/>
          </a:prstGeom>
          <a:noFill/>
          <a:ln/>
        </p:spPr>
        <p:txBody>
          <a:bodyPr wrap="square" lIns="0" tIns="0" rIns="0" bIns="0" rtlCol="0" anchor="t"/>
          <a:lstStyle/>
          <a:p>
            <a:pPr indent="0" marL="0">
              <a:buNone/>
            </a:pPr>
            <a:r>
              <a:rPr lang="en-US" sz="1150" dirty="0">
                <a:solidFill>
                  <a:schemeClr val="tx1"/>
                </a:solidFill>
              </a:rPr>
              <a:t>Aucune attente fixe : attendre une réponse réseau ou un état. Données créées et isolées par test. Locators par rôle et libellé, audités avant d'écrire le test.</a:t>
            </a:r>
            <a:endParaRPr lang="en-US" sz="1150" dirty="0"/>
          </a:p>
        </p:txBody>
      </p:sp>
      <p:sp>
        <p:nvSpPr>
          <p:cNvPr id="8" name="card"/>
          <p:cNvSpPr/>
          <p:nvPr/>
        </p:nvSpPr>
        <p:spPr>
          <a:xfrm>
            <a:off x="4297680" y="3977640"/>
            <a:ext cx="3520440" cy="1417320"/>
          </a:xfrm>
          <a:prstGeom prst="roundRect">
            <a:avLst>
              <a:gd name="adj" fmla="val 6452"/>
            </a:avLst>
          </a:prstGeom>
          <a:solidFill>
            <a:schemeClr val="bg2"/>
          </a:solidFill>
          <a:ln/>
        </p:spPr>
      </p:sp>
      <p:sp>
        <p:nvSpPr>
          <p:cNvPr id="9" name="Text 6"/>
          <p:cNvSpPr txBox="1"/>
          <p:nvPr/>
        </p:nvSpPr>
        <p:spPr>
          <a:xfrm>
            <a:off x="4480560" y="4050792"/>
            <a:ext cx="3200400" cy="310896"/>
          </a:xfrm>
          <a:prstGeom prst="rect">
            <a:avLst/>
          </a:prstGeom>
          <a:noFill/>
          <a:ln/>
        </p:spPr>
        <p:txBody>
          <a:bodyPr wrap="square" lIns="0" tIns="0" rIns="0" bIns="0" rtlCol="0" anchor="t"/>
          <a:lstStyle/>
          <a:p>
            <a:pPr indent="0" marL="0">
              <a:buNone/>
            </a:pPr>
            <a:r>
              <a:rPr lang="en-US" sz="1500" b="1" dirty="0">
                <a:solidFill>
                  <a:schemeClr val="tx2"/>
                </a:solidFill>
              </a:rPr>
              <a:t>2. Détecter</a:t>
            </a:r>
            <a:endParaRPr lang="en-US" sz="1500" dirty="0"/>
          </a:p>
        </p:txBody>
      </p:sp>
      <p:sp>
        <p:nvSpPr>
          <p:cNvPr id="10" name="Text 7"/>
          <p:cNvSpPr txBox="1"/>
          <p:nvPr/>
        </p:nvSpPr>
        <p:spPr>
          <a:xfrm>
            <a:off x="4480560" y="4389120"/>
            <a:ext cx="3200400" cy="960120"/>
          </a:xfrm>
          <a:prstGeom prst="rect">
            <a:avLst/>
          </a:prstGeom>
          <a:noFill/>
          <a:ln/>
        </p:spPr>
        <p:txBody>
          <a:bodyPr wrap="square" lIns="0" tIns="0" rIns="0" bIns="0" rtlCol="0" anchor="t"/>
          <a:lstStyle/>
          <a:p>
            <a:pPr indent="0" marL="0">
              <a:buNone/>
            </a:pPr>
            <a:r>
              <a:rPr lang="en-US" sz="1150" dirty="0">
                <a:solidFill>
                  <a:schemeClr val="tx1"/>
                </a:solidFill>
              </a:rPr>
              <a:t>Une seule relance en CI. Un test qui ne passe qu'au second essai est marqué instable par Playwright, et le taux est suivi sur les dix dernières nuits.</a:t>
            </a:r>
            <a:endParaRPr lang="en-US" sz="1150" dirty="0"/>
          </a:p>
        </p:txBody>
      </p:sp>
      <p:sp>
        <p:nvSpPr>
          <p:cNvPr id="11" name="card"/>
          <p:cNvSpPr/>
          <p:nvPr/>
        </p:nvSpPr>
        <p:spPr>
          <a:xfrm>
            <a:off x="8046720" y="3977640"/>
            <a:ext cx="3520440" cy="1417320"/>
          </a:xfrm>
          <a:prstGeom prst="roundRect">
            <a:avLst>
              <a:gd name="adj" fmla="val 6452"/>
            </a:avLst>
          </a:prstGeom>
          <a:solidFill>
            <a:schemeClr val="tx2"/>
          </a:solidFill>
          <a:ln/>
        </p:spPr>
      </p:sp>
      <p:sp>
        <p:nvSpPr>
          <p:cNvPr id="12" name="Text 9"/>
          <p:cNvSpPr txBox="1"/>
          <p:nvPr/>
        </p:nvSpPr>
        <p:spPr>
          <a:xfrm>
            <a:off x="8229600" y="4050792"/>
            <a:ext cx="3200400" cy="310896"/>
          </a:xfrm>
          <a:prstGeom prst="rect">
            <a:avLst/>
          </a:prstGeom>
          <a:noFill/>
          <a:ln/>
        </p:spPr>
        <p:txBody>
          <a:bodyPr wrap="square" lIns="0" tIns="0" rIns="0" bIns="0" rtlCol="0" anchor="t"/>
          <a:lstStyle/>
          <a:p>
            <a:pPr indent="0" marL="0">
              <a:buNone/>
            </a:pPr>
            <a:r>
              <a:rPr lang="en-US" sz="1500" b="1" dirty="0">
                <a:solidFill>
                  <a:schemeClr val="bg1"/>
                </a:solidFill>
              </a:rPr>
              <a:t>3. Traiter</a:t>
            </a:r>
            <a:endParaRPr lang="en-US" sz="1500" dirty="0"/>
          </a:p>
        </p:txBody>
      </p:sp>
      <p:sp>
        <p:nvSpPr>
          <p:cNvPr id="13" name="Text 10"/>
          <p:cNvSpPr txBox="1"/>
          <p:nvPr/>
        </p:nvSpPr>
        <p:spPr>
          <a:xfrm>
            <a:off x="8229600" y="4389120"/>
            <a:ext cx="3200400" cy="960120"/>
          </a:xfrm>
          <a:prstGeom prst="rect">
            <a:avLst/>
          </a:prstGeom>
          <a:noFill/>
          <a:ln/>
        </p:spPr>
        <p:txBody>
          <a:bodyPr wrap="square" lIns="0" tIns="0" rIns="0" bIns="0" rtlCol="0" anchor="t"/>
          <a:lstStyle/>
          <a:p>
            <a:pPr indent="0" marL="0">
              <a:buNone/>
            </a:pPr>
            <a:r>
              <a:rPr lang="en-US" sz="1150" dirty="0">
                <a:solidFill>
                  <a:schemeClr val="bg1"/>
                </a:solidFill>
              </a:rPr>
              <a:t>Instable deux nuits de suite : quarantaine avec ticket et date de sortie, contrôle repris en manuel. Retour dans la suite après dix nuits vertes.</a:t>
            </a:r>
            <a:endParaRPr lang="en-US" sz="1150" dirty="0"/>
          </a:p>
        </p:txBody>
      </p:sp>
      <p:sp>
        <p:nvSpPr>
          <p:cNvPr id="14" name="box"/>
          <p:cNvSpPr/>
          <p:nvPr/>
        </p:nvSpPr>
        <p:spPr>
          <a:xfrm>
            <a:off x="548640" y="5504688"/>
            <a:ext cx="11064240" cy="384048"/>
          </a:xfrm>
          <a:prstGeom prst="roundRect">
            <a:avLst>
              <a:gd name="adj" fmla="val 14286"/>
            </a:avLst>
          </a:prstGeom>
          <a:solidFill>
            <a:srgbClr val="F6DADA"/>
          </a:solidFill>
          <a:ln/>
        </p:spPr>
      </p:sp>
      <p:sp>
        <p:nvSpPr>
          <p:cNvPr id="15" name="Text 12"/>
          <p:cNvSpPr txBox="1"/>
          <p:nvPr/>
        </p:nvSpPr>
        <p:spPr>
          <a:xfrm>
            <a:off x="731520" y="5504688"/>
            <a:ext cx="10789920" cy="384048"/>
          </a:xfrm>
          <a:prstGeom prst="rect">
            <a:avLst/>
          </a:prstGeom>
          <a:noFill/>
          <a:ln/>
        </p:spPr>
        <p:txBody>
          <a:bodyPr wrap="square" lIns="0" tIns="0" rIns="0" bIns="0" rtlCol="0" anchor="ctr"/>
          <a:lstStyle/>
          <a:p>
            <a:pPr indent="0" marL="0">
              <a:buNone/>
            </a:pPr>
            <a:r>
              <a:rPr lang="en-US" sz="1200" b="1" dirty="0">
                <a:solidFill>
                  <a:srgbClr val="B23B3B"/>
                </a:solidFill>
              </a:rPr>
              <a:t>Interdit : </a:t>
            </a:r>
            <a:pPr indent="0" marL="0">
              <a:buNone/>
            </a:pPr>
            <a:r>
              <a:rPr lang="en-US" sz="1200" dirty="0">
                <a:solidFill>
                  <a:schemeClr val="tx1"/>
                </a:solidFill>
              </a:rPr>
              <a:t>relances en boucle, attente fixe ajoutée pour « faire passer », healer qui réécrit un test dans le pipeline.</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Quatre agents : l'IA propose, le code contrôle, l'humain valide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Chaque agent a ses skills, ses scripts de contrôle et ses garde-fous ; aucun n'écrit dans Azure DevOps sans accord.</a:t>
            </a:r>
            <a:endParaRPr lang="en-US" sz="1600" dirty="0"/>
          </a:p>
        </p:txBody>
      </p:sp>
      <p:sp>
        <p:nvSpPr>
          <p:cNvPr id="4" name="card"/>
          <p:cNvSpPr/>
          <p:nvPr/>
        </p:nvSpPr>
        <p:spPr>
          <a:xfrm>
            <a:off x="548640" y="1645920"/>
            <a:ext cx="2651760" cy="3291840"/>
          </a:xfrm>
          <a:prstGeom prst="roundRect">
            <a:avLst>
              <a:gd name="adj" fmla="val 3448"/>
            </a:avLst>
          </a:prstGeom>
          <a:solidFill>
            <a:schemeClr val="tx2"/>
          </a:solidFill>
          <a:ln/>
        </p:spPr>
      </p:sp>
      <p:sp>
        <p:nvSpPr>
          <p:cNvPr id="5" name="icon-circle"/>
          <p:cNvSpPr/>
          <p:nvPr/>
        </p:nvSpPr>
        <p:spPr>
          <a:xfrm>
            <a:off x="685800" y="1764792"/>
            <a:ext cx="548640" cy="54864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06501" y="1885493"/>
            <a:ext cx="307238" cy="307238"/>
          </a:xfrm>
          <a:prstGeom prst="rect">
            <a:avLst/>
          </a:prstGeom>
        </p:spPr>
      </p:pic>
      <p:sp>
        <p:nvSpPr>
          <p:cNvPr id="7" name="Text 4"/>
          <p:cNvSpPr txBox="1"/>
          <p:nvPr/>
        </p:nvSpPr>
        <p:spPr>
          <a:xfrm>
            <a:off x="1325880" y="1764792"/>
            <a:ext cx="1828800" cy="292608"/>
          </a:xfrm>
          <a:prstGeom prst="rect">
            <a:avLst/>
          </a:prstGeom>
          <a:noFill/>
          <a:ln/>
        </p:spPr>
        <p:txBody>
          <a:bodyPr wrap="square" lIns="0" tIns="0" rIns="0" bIns="0" rtlCol="0" anchor="t"/>
          <a:lstStyle/>
          <a:p>
            <a:pPr indent="0" marL="0">
              <a:buNone/>
            </a:pPr>
            <a:r>
              <a:rPr lang="en-US" sz="1400" b="1" dirty="0">
                <a:solidFill>
                  <a:schemeClr val="bg1"/>
                </a:solidFill>
              </a:rPr>
              <a:t>Agent QC</a:t>
            </a:r>
            <a:endParaRPr lang="en-US" sz="1400" dirty="0"/>
          </a:p>
        </p:txBody>
      </p:sp>
      <p:sp>
        <p:nvSpPr>
          <p:cNvPr id="8" name="Text 5"/>
          <p:cNvSpPr txBox="1"/>
          <p:nvPr/>
        </p:nvSpPr>
        <p:spPr>
          <a:xfrm>
            <a:off x="1325880" y="2057400"/>
            <a:ext cx="1828800" cy="274320"/>
          </a:xfrm>
          <a:prstGeom prst="rect">
            <a:avLst/>
          </a:prstGeom>
          <a:noFill/>
          <a:ln/>
        </p:spPr>
        <p:txBody>
          <a:bodyPr wrap="square" lIns="0" tIns="0" rIns="0" bIns="0" rtlCol="0" anchor="t"/>
          <a:lstStyle/>
          <a:p>
            <a:pPr indent="0" marL="0">
              <a:buNone/>
            </a:pPr>
            <a:r>
              <a:rPr lang="en-US" sz="1100" b="1" dirty="0">
                <a:solidFill>
                  <a:schemeClr val="accent3"/>
                </a:solidFill>
              </a:rPr>
              <a:t>Amélioration proposée</a:t>
            </a:r>
            <a:endParaRPr lang="en-US" sz="1100" dirty="0"/>
          </a:p>
        </p:txBody>
      </p:sp>
      <p:sp>
        <p:nvSpPr>
          <p:cNvPr id="9" name="Text 6"/>
          <p:cNvSpPr txBox="1"/>
          <p:nvPr/>
        </p:nvSpPr>
        <p:spPr>
          <a:xfrm>
            <a:off x="685800" y="2514600"/>
            <a:ext cx="2423160"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bg1"/>
                </a:solidFill>
              </a:rPr>
              <a:t>Porte de rédaction : US ambiguë = questions au PO, aucun cas</a:t>
            </a:r>
            <a:endParaRPr lang="en-US" sz="1150" dirty="0"/>
          </a:p>
          <a:p>
            <a:pPr marL="342900" indent="-342900">
              <a:spcAft>
                <a:spcPts val="500"/>
              </a:spcAft>
              <a:buSzPct val="100000"/>
              <a:buChar char="•"/>
            </a:pPr>
            <a:r>
              <a:rPr lang="en-US" sz="1150" dirty="0">
                <a:solidFill>
                  <a:schemeClr val="bg1"/>
                </a:solidFill>
              </a:rPr>
              <a:t>Couverture imposée : nominal, négatif, limites, cas aux bords, vérifiée par script</a:t>
            </a:r>
            <a:endParaRPr lang="en-US" sz="1150" dirty="0"/>
          </a:p>
          <a:p>
            <a:pPr marL="342900" indent="-342900">
              <a:spcAft>
                <a:spcPts val="500"/>
              </a:spcAft>
              <a:buSzPct val="100000"/>
              <a:buChar char="•"/>
            </a:pPr>
            <a:r>
              <a:rPr lang="en-US" sz="1150" dirty="0">
                <a:solidFill>
                  <a:schemeClr val="bg1"/>
                </a:solidFill>
              </a:rPr>
              <a:t>Cas au format Test Plans, rangés dans la suite indiquée</a:t>
            </a:r>
            <a:endParaRPr lang="en-US" sz="1150" dirty="0"/>
          </a:p>
        </p:txBody>
      </p:sp>
      <p:sp>
        <p:nvSpPr>
          <p:cNvPr id="10" name="card"/>
          <p:cNvSpPr/>
          <p:nvPr/>
        </p:nvSpPr>
        <p:spPr>
          <a:xfrm>
            <a:off x="3355848" y="1645920"/>
            <a:ext cx="2651760" cy="3291840"/>
          </a:xfrm>
          <a:prstGeom prst="roundRect">
            <a:avLst>
              <a:gd name="adj" fmla="val 3448"/>
            </a:avLst>
          </a:prstGeom>
          <a:solidFill>
            <a:schemeClr val="tx2"/>
          </a:solidFill>
          <a:ln/>
        </p:spPr>
      </p:sp>
      <p:sp>
        <p:nvSpPr>
          <p:cNvPr id="11" name="icon-circle"/>
          <p:cNvSpPr/>
          <p:nvPr/>
        </p:nvSpPr>
        <p:spPr>
          <a:xfrm>
            <a:off x="3493008" y="1764792"/>
            <a:ext cx="548640" cy="548640"/>
          </a:xfrm>
          <a:prstGeom prst="ellipse">
            <a:avLst/>
          </a:prstGeom>
          <a:solidFill>
            <a:schemeClr val="accent1"/>
          </a:solidFill>
          <a:ln/>
        </p:spPr>
      </p:sp>
      <p:pic>
        <p:nvPicPr>
          <p:cNvPr id="12" name="icon" descr="preencoded.png">    </p:cNvPr>
          <p:cNvPicPr>
            <a:picLocks noChangeAspect="1"/>
          </p:cNvPicPr>
          <p:nvPr/>
        </p:nvPicPr>
        <p:blipFill>
          <a:blip r:embed="rId2"/>
          <a:stretch>
            <a:fillRect/>
          </a:stretch>
        </p:blipFill>
        <p:spPr>
          <a:xfrm>
            <a:off x="3613709" y="1885493"/>
            <a:ext cx="307238" cy="307238"/>
          </a:xfrm>
          <a:prstGeom prst="rect">
            <a:avLst/>
          </a:prstGeom>
        </p:spPr>
      </p:pic>
      <p:sp>
        <p:nvSpPr>
          <p:cNvPr id="13" name="Text 9"/>
          <p:cNvSpPr txBox="1"/>
          <p:nvPr/>
        </p:nvSpPr>
        <p:spPr>
          <a:xfrm>
            <a:off x="4133088" y="1764792"/>
            <a:ext cx="1828800" cy="292608"/>
          </a:xfrm>
          <a:prstGeom prst="rect">
            <a:avLst/>
          </a:prstGeom>
          <a:noFill/>
          <a:ln/>
        </p:spPr>
        <p:txBody>
          <a:bodyPr wrap="square" lIns="0" tIns="0" rIns="0" bIns="0" rtlCol="0" anchor="t"/>
          <a:lstStyle/>
          <a:p>
            <a:pPr indent="0" marL="0">
              <a:buNone/>
            </a:pPr>
            <a:r>
              <a:rPr lang="en-US" sz="1400" b="1" dirty="0">
                <a:solidFill>
                  <a:schemeClr val="bg1"/>
                </a:solidFill>
              </a:rPr>
              <a:t>Agent anomalies</a:t>
            </a:r>
            <a:endParaRPr lang="en-US" sz="1400" dirty="0"/>
          </a:p>
        </p:txBody>
      </p:sp>
      <p:sp>
        <p:nvSpPr>
          <p:cNvPr id="14" name="Text 10"/>
          <p:cNvSpPr txBox="1"/>
          <p:nvPr/>
        </p:nvSpPr>
        <p:spPr>
          <a:xfrm>
            <a:off x="4133088" y="2057400"/>
            <a:ext cx="1828800" cy="274320"/>
          </a:xfrm>
          <a:prstGeom prst="rect">
            <a:avLst/>
          </a:prstGeom>
          <a:noFill/>
          <a:ln/>
        </p:spPr>
        <p:txBody>
          <a:bodyPr wrap="square" lIns="0" tIns="0" rIns="0" bIns="0" rtlCol="0" anchor="t"/>
          <a:lstStyle/>
          <a:p>
            <a:pPr indent="0" marL="0">
              <a:buNone/>
            </a:pPr>
            <a:r>
              <a:rPr lang="en-US" sz="1100" b="1" dirty="0">
                <a:solidFill>
                  <a:schemeClr val="accent3"/>
                </a:solidFill>
              </a:rPr>
              <a:t>Rédaction et priorisation</a:t>
            </a:r>
            <a:endParaRPr lang="en-US" sz="1100" dirty="0"/>
          </a:p>
        </p:txBody>
      </p:sp>
      <p:sp>
        <p:nvSpPr>
          <p:cNvPr id="15" name="Text 11"/>
          <p:cNvSpPr txBox="1"/>
          <p:nvPr/>
        </p:nvSpPr>
        <p:spPr>
          <a:xfrm>
            <a:off x="3493008" y="2514600"/>
            <a:ext cx="2423160"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bg1"/>
                </a:solidFill>
              </a:rPr>
              <a:t>Reçoit la capture, le cas de test et le modèle de fiche</a:t>
            </a:r>
            <a:endParaRPr lang="en-US" sz="1150" dirty="0"/>
          </a:p>
          <a:p>
            <a:pPr marL="342900" indent="-342900">
              <a:spcAft>
                <a:spcPts val="500"/>
              </a:spcAft>
              <a:buSzPct val="100000"/>
              <a:buChar char="•"/>
            </a:pPr>
            <a:r>
              <a:rPr lang="en-US" sz="1150" dirty="0">
                <a:solidFill>
                  <a:schemeClr val="bg1"/>
                </a:solidFill>
              </a:rPr>
              <a:t>Rédige sans rien inventer : ce qui manque reste « à préciser »</a:t>
            </a:r>
            <a:endParaRPr lang="en-US" sz="1150" dirty="0"/>
          </a:p>
          <a:p>
            <a:pPr marL="342900" indent="-342900">
              <a:spcAft>
                <a:spcPts val="500"/>
              </a:spcAft>
              <a:buSzPct val="100000"/>
              <a:buChar char="•"/>
            </a:pPr>
            <a:r>
              <a:rPr lang="en-US" sz="1150" dirty="0">
                <a:solidFill>
                  <a:schemeClr val="bg1"/>
                </a:solidFill>
              </a:rPr>
              <a:t>Un script note la fiche et calcule la priorité ; la QC valide</a:t>
            </a:r>
            <a:endParaRPr lang="en-US" sz="1150" dirty="0"/>
          </a:p>
          <a:p>
            <a:pPr marL="342900" indent="-342900">
              <a:spcAft>
                <a:spcPts val="500"/>
              </a:spcAft>
              <a:buSzPct val="100000"/>
              <a:buChar char="•"/>
            </a:pPr>
            <a:r>
              <a:rPr lang="en-US" sz="1150" dirty="0">
                <a:solidFill>
                  <a:schemeClr val="bg1"/>
                </a:solidFill>
              </a:rPr>
              <a:t>Crée le bug dans Azure DevOps après accord, lié à l'US et au cas</a:t>
            </a:r>
            <a:endParaRPr lang="en-US" sz="1150" dirty="0"/>
          </a:p>
        </p:txBody>
      </p:sp>
      <p:sp>
        <p:nvSpPr>
          <p:cNvPr id="16" name="card"/>
          <p:cNvSpPr/>
          <p:nvPr/>
        </p:nvSpPr>
        <p:spPr>
          <a:xfrm>
            <a:off x="6163056" y="1645920"/>
            <a:ext cx="2651760" cy="3291840"/>
          </a:xfrm>
          <a:prstGeom prst="roundRect">
            <a:avLst>
              <a:gd name="adj" fmla="val 3448"/>
            </a:avLst>
          </a:prstGeom>
          <a:solidFill>
            <a:schemeClr val="bg2"/>
          </a:solidFill>
          <a:ln/>
        </p:spPr>
      </p:sp>
      <p:sp>
        <p:nvSpPr>
          <p:cNvPr id="17" name="icon-circle"/>
          <p:cNvSpPr/>
          <p:nvPr/>
        </p:nvSpPr>
        <p:spPr>
          <a:xfrm>
            <a:off x="6300216" y="1764792"/>
            <a:ext cx="548640" cy="548640"/>
          </a:xfrm>
          <a:prstGeom prst="ellipse">
            <a:avLst/>
          </a:prstGeom>
          <a:solidFill>
            <a:schemeClr val="accent1"/>
          </a:solidFill>
          <a:ln/>
        </p:spPr>
      </p:sp>
      <p:pic>
        <p:nvPicPr>
          <p:cNvPr id="18" name="icon" descr="preencoded.png">    </p:cNvPr>
          <p:cNvPicPr>
            <a:picLocks noChangeAspect="1"/>
          </p:cNvPicPr>
          <p:nvPr/>
        </p:nvPicPr>
        <p:blipFill>
          <a:blip r:embed="rId3"/>
          <a:stretch>
            <a:fillRect/>
          </a:stretch>
        </p:blipFill>
        <p:spPr>
          <a:xfrm>
            <a:off x="6420917" y="1885493"/>
            <a:ext cx="307238" cy="307238"/>
          </a:xfrm>
          <a:prstGeom prst="rect">
            <a:avLst/>
          </a:prstGeom>
        </p:spPr>
      </p:pic>
      <p:sp>
        <p:nvSpPr>
          <p:cNvPr id="19" name="Text 14"/>
          <p:cNvSpPr txBox="1"/>
          <p:nvPr/>
        </p:nvSpPr>
        <p:spPr>
          <a:xfrm>
            <a:off x="6940296" y="1764792"/>
            <a:ext cx="1828800" cy="292608"/>
          </a:xfrm>
          <a:prstGeom prst="rect">
            <a:avLst/>
          </a:prstGeom>
          <a:noFill/>
          <a:ln/>
        </p:spPr>
        <p:txBody>
          <a:bodyPr wrap="square" lIns="0" tIns="0" rIns="0" bIns="0" rtlCol="0" anchor="t"/>
          <a:lstStyle/>
          <a:p>
            <a:pPr indent="0" marL="0">
              <a:buNone/>
            </a:pPr>
            <a:r>
              <a:rPr lang="en-US" sz="1400" b="1" dirty="0">
                <a:solidFill>
                  <a:schemeClr val="tx2"/>
                </a:solidFill>
              </a:rPr>
              <a:t>Agent Playwright</a:t>
            </a:r>
            <a:endParaRPr lang="en-US" sz="1400" dirty="0"/>
          </a:p>
        </p:txBody>
      </p:sp>
      <p:sp>
        <p:nvSpPr>
          <p:cNvPr id="20" name="Text 15"/>
          <p:cNvSpPr txBox="1"/>
          <p:nvPr/>
        </p:nvSpPr>
        <p:spPr>
          <a:xfrm>
            <a:off x="6940296" y="205740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UI et API</a:t>
            </a:r>
            <a:endParaRPr lang="en-US" sz="1100" dirty="0"/>
          </a:p>
        </p:txBody>
      </p:sp>
      <p:sp>
        <p:nvSpPr>
          <p:cNvPr id="21" name="Text 16"/>
          <p:cNvSpPr txBox="1"/>
          <p:nvPr/>
        </p:nvSpPr>
        <p:spPr>
          <a:xfrm>
            <a:off x="6300216" y="2514600"/>
            <a:ext cx="2423160"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Lit l'US dans Azure DevOps, explore l'écran avec Playwright MCP</a:t>
            </a:r>
            <a:endParaRPr lang="en-US" sz="1150" dirty="0"/>
          </a:p>
          <a:p>
            <a:pPr marL="342900" indent="-342900">
              <a:spcAft>
                <a:spcPts val="500"/>
              </a:spcAft>
              <a:buSzPct val="100000"/>
              <a:buChar char="•"/>
            </a:pPr>
            <a:r>
              <a:rPr lang="en-US" sz="1150" dirty="0">
                <a:solidFill>
                  <a:schemeClr val="tx1"/>
                </a:solidFill>
              </a:rPr>
              <a:t>Écrit les tests : Page Objects, clients API typés depuis l'OpenAPI</a:t>
            </a:r>
            <a:endParaRPr lang="en-US" sz="1150" dirty="0"/>
          </a:p>
          <a:p>
            <a:pPr marL="342900" indent="-342900">
              <a:spcAft>
                <a:spcPts val="500"/>
              </a:spcAft>
              <a:buSzPct val="100000"/>
              <a:buChar char="•"/>
            </a:pPr>
            <a:r>
              <a:rPr lang="en-US" sz="1150" dirty="0">
                <a:solidFill>
                  <a:schemeClr val="tx1"/>
                </a:solidFill>
              </a:rPr>
              <a:t>Règles et hooks : ni skip, ni attente fixe</a:t>
            </a:r>
            <a:endParaRPr lang="en-US" sz="1150" dirty="0"/>
          </a:p>
          <a:p>
            <a:pPr marL="342900" indent="-342900">
              <a:spcAft>
                <a:spcPts val="500"/>
              </a:spcAft>
              <a:buSzPct val="100000"/>
              <a:buChar char="•"/>
            </a:pPr>
            <a:r>
              <a:rPr lang="en-US" sz="1150" dirty="0">
                <a:solidFill>
                  <a:schemeClr val="tx1"/>
                </a:solidFill>
              </a:rPr>
              <a:t>Triage des échecs CI : produit, automatisation ou instabilité</a:t>
            </a:r>
            <a:endParaRPr lang="en-US" sz="1150" dirty="0"/>
          </a:p>
        </p:txBody>
      </p:sp>
      <p:sp>
        <p:nvSpPr>
          <p:cNvPr id="22" name="card"/>
          <p:cNvSpPr/>
          <p:nvPr/>
        </p:nvSpPr>
        <p:spPr>
          <a:xfrm>
            <a:off x="8970264" y="1645920"/>
            <a:ext cx="2651760" cy="3291840"/>
          </a:xfrm>
          <a:prstGeom prst="roundRect">
            <a:avLst>
              <a:gd name="adj" fmla="val 3448"/>
            </a:avLst>
          </a:prstGeom>
          <a:solidFill>
            <a:schemeClr val="bg2"/>
          </a:solidFill>
          <a:ln/>
        </p:spPr>
      </p:sp>
      <p:sp>
        <p:nvSpPr>
          <p:cNvPr id="23" name="icon-circle"/>
          <p:cNvSpPr/>
          <p:nvPr/>
        </p:nvSpPr>
        <p:spPr>
          <a:xfrm>
            <a:off x="9107424" y="1764792"/>
            <a:ext cx="548640" cy="548640"/>
          </a:xfrm>
          <a:prstGeom prst="ellipse">
            <a:avLst/>
          </a:prstGeom>
          <a:solidFill>
            <a:schemeClr val="accent1"/>
          </a:solidFill>
          <a:ln/>
        </p:spPr>
      </p:sp>
      <p:pic>
        <p:nvPicPr>
          <p:cNvPr id="24" name="icon" descr="preencoded.png">    </p:cNvPr>
          <p:cNvPicPr>
            <a:picLocks noChangeAspect="1"/>
          </p:cNvPicPr>
          <p:nvPr/>
        </p:nvPicPr>
        <p:blipFill>
          <a:blip r:embed="rId4"/>
          <a:stretch>
            <a:fillRect/>
          </a:stretch>
        </p:blipFill>
        <p:spPr>
          <a:xfrm>
            <a:off x="9228125" y="1885493"/>
            <a:ext cx="307238" cy="307238"/>
          </a:xfrm>
          <a:prstGeom prst="rect">
            <a:avLst/>
          </a:prstGeom>
        </p:spPr>
      </p:pic>
      <p:sp>
        <p:nvSpPr>
          <p:cNvPr id="25" name="Text 19"/>
          <p:cNvSpPr txBox="1"/>
          <p:nvPr/>
        </p:nvSpPr>
        <p:spPr>
          <a:xfrm>
            <a:off x="9747504" y="1764792"/>
            <a:ext cx="1828800" cy="292608"/>
          </a:xfrm>
          <a:prstGeom prst="rect">
            <a:avLst/>
          </a:prstGeom>
          <a:noFill/>
          <a:ln/>
        </p:spPr>
        <p:txBody>
          <a:bodyPr wrap="square" lIns="0" tIns="0" rIns="0" bIns="0" rtlCol="0" anchor="t"/>
          <a:lstStyle/>
          <a:p>
            <a:pPr indent="0" marL="0">
              <a:buNone/>
            </a:pPr>
            <a:r>
              <a:rPr lang="en-US" sz="1400" b="1" dirty="0">
                <a:solidFill>
                  <a:schemeClr val="tx2"/>
                </a:solidFill>
              </a:rPr>
              <a:t>Agent data testing</a:t>
            </a:r>
            <a:endParaRPr lang="en-US" sz="1400" dirty="0"/>
          </a:p>
        </p:txBody>
      </p:sp>
      <p:sp>
        <p:nvSpPr>
          <p:cNvPr id="26" name="Text 20"/>
          <p:cNvSpPr txBox="1"/>
          <p:nvPr/>
        </p:nvSpPr>
        <p:spPr>
          <a:xfrm>
            <a:off x="9747504" y="2057400"/>
            <a:ext cx="1828800" cy="274320"/>
          </a:xfrm>
          <a:prstGeom prst="rect">
            <a:avLst/>
          </a:prstGeom>
          <a:noFill/>
          <a:ln/>
        </p:spPr>
        <p:txBody>
          <a:bodyPr wrap="square" lIns="0" tIns="0" rIns="0" bIns="0" rtlCol="0" anchor="t"/>
          <a:lstStyle/>
          <a:p>
            <a:pPr indent="0" marL="0">
              <a:buNone/>
            </a:pPr>
            <a:r>
              <a:rPr lang="en-US" sz="1100" b="1" dirty="0">
                <a:solidFill>
                  <a:schemeClr val="accent1"/>
                </a:solidFill>
              </a:rPr>
              <a:t>Proposition</a:t>
            </a:r>
            <a:endParaRPr lang="en-US" sz="1100" dirty="0"/>
          </a:p>
        </p:txBody>
      </p:sp>
      <p:sp>
        <p:nvSpPr>
          <p:cNvPr id="27" name="Text 21"/>
          <p:cNvSpPr txBox="1"/>
          <p:nvPr/>
        </p:nvSpPr>
        <p:spPr>
          <a:xfrm>
            <a:off x="9107424" y="2514600"/>
            <a:ext cx="2423160" cy="23774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1"/>
                </a:solidFill>
              </a:rPr>
              <a:t>Lecture seule sur la base de test</a:t>
            </a:r>
            <a:endParaRPr lang="en-US" sz="1150" dirty="0"/>
          </a:p>
          <a:p>
            <a:pPr marL="342900" indent="-342900">
              <a:spcAft>
                <a:spcPts val="500"/>
              </a:spcAft>
              <a:buSzPct val="100000"/>
              <a:buChar char="•"/>
            </a:pPr>
            <a:r>
              <a:rPr lang="en-US" sz="1150" dirty="0">
                <a:solidFill>
                  <a:schemeClr val="tx1"/>
                </a:solidFill>
              </a:rPr>
              <a:t>Requêtes d'intégrité, de cohérence et de mapping</a:t>
            </a:r>
            <a:endParaRPr lang="en-US" sz="1150" dirty="0"/>
          </a:p>
          <a:p>
            <a:pPr marL="342900" indent="-342900">
              <a:spcAft>
                <a:spcPts val="500"/>
              </a:spcAft>
              <a:buSzPct val="100000"/>
              <a:buChar char="•"/>
            </a:pPr>
            <a:r>
              <a:rPr lang="en-US" sz="1150" dirty="0">
                <a:solidFill>
                  <a:schemeClr val="tx1"/>
                </a:solidFill>
              </a:rPr>
              <a:t>Garde-fou en code sur chaque requête</a:t>
            </a:r>
            <a:endParaRPr lang="en-US" sz="1150" dirty="0"/>
          </a:p>
        </p:txBody>
      </p:sp>
      <p:sp>
        <p:nvSpPr>
          <p:cNvPr id="28" name="card"/>
          <p:cNvSpPr/>
          <p:nvPr/>
        </p:nvSpPr>
        <p:spPr>
          <a:xfrm>
            <a:off x="548640" y="5074920"/>
            <a:ext cx="11064240" cy="804672"/>
          </a:xfrm>
          <a:prstGeom prst="roundRect">
            <a:avLst>
              <a:gd name="adj" fmla="val 11364"/>
            </a:avLst>
          </a:prstGeom>
          <a:solidFill>
            <a:schemeClr val="accent5"/>
          </a:solidFill>
          <a:ln/>
        </p:spPr>
      </p:sp>
      <p:sp>
        <p:nvSpPr>
          <p:cNvPr id="29" name="icon-circle"/>
          <p:cNvSpPr/>
          <p:nvPr/>
        </p:nvSpPr>
        <p:spPr>
          <a:xfrm>
            <a:off x="713232" y="5166360"/>
            <a:ext cx="603504" cy="603504"/>
          </a:xfrm>
          <a:prstGeom prst="ellipse">
            <a:avLst/>
          </a:prstGeom>
          <a:solidFill>
            <a:schemeClr val="accent1"/>
          </a:solidFill>
          <a:ln/>
        </p:spPr>
      </p:sp>
      <p:pic>
        <p:nvPicPr>
          <p:cNvPr id="30" name="icon" descr="preencoded.png">    </p:cNvPr>
          <p:cNvPicPr>
            <a:picLocks noChangeAspect="1"/>
          </p:cNvPicPr>
          <p:nvPr/>
        </p:nvPicPr>
        <p:blipFill>
          <a:blip r:embed="rId5"/>
          <a:stretch>
            <a:fillRect/>
          </a:stretch>
        </p:blipFill>
        <p:spPr>
          <a:xfrm>
            <a:off x="846003" y="5299131"/>
            <a:ext cx="337962" cy="337962"/>
          </a:xfrm>
          <a:prstGeom prst="rect">
            <a:avLst/>
          </a:prstGeom>
        </p:spPr>
      </p:pic>
      <p:sp>
        <p:nvSpPr>
          <p:cNvPr id="31" name="Text 24"/>
          <p:cNvSpPr txBox="1"/>
          <p:nvPr/>
        </p:nvSpPr>
        <p:spPr>
          <a:xfrm>
            <a:off x="1463040" y="5074920"/>
            <a:ext cx="10012680" cy="804672"/>
          </a:xfrm>
          <a:prstGeom prst="rect">
            <a:avLst/>
          </a:prstGeom>
          <a:noFill/>
          <a:ln/>
        </p:spPr>
        <p:txBody>
          <a:bodyPr wrap="square" lIns="0" tIns="0" rIns="0" bIns="0" rtlCol="0" anchor="ctr"/>
          <a:lstStyle/>
          <a:p>
            <a:pPr indent="0" marL="0">
              <a:buNone/>
            </a:pPr>
            <a:r>
              <a:rPr lang="en-US" sz="1250" b="1" dirty="0">
                <a:solidFill>
                  <a:srgbClr val="00338D"/>
                </a:solidFill>
              </a:rPr>
              <a:t>Un POC sur un vrai projet : </a:t>
            </a:r>
            <a:pPr indent="0" marL="0">
              <a:buNone/>
            </a:pPr>
            <a:r>
              <a:rPr lang="en-US" sz="1250" dirty="0">
                <a:solidFill>
                  <a:schemeClr val="tx1"/>
                </a:solidFill>
              </a:rPr>
              <a:t>InfoCAC sur ITG, avec des comptes de test par rôle et le contrat OpenAPI. Aucune règle inventée, aucun test ignoré pour passer au vert, données des CAC seulement dans l'outil autorisé par KPMG.</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Proposition : un agent de data testing qui interroge la base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Lecture seule, requêtes contrôlées par du code, chaque écart creusé jusqu'à une cause probable.</a:t>
            </a:r>
            <a:endParaRPr lang="en-US" sz="1600" dirty="0"/>
          </a:p>
        </p:txBody>
      </p:sp>
      <p:sp>
        <p:nvSpPr>
          <p:cNvPr id="4" name="etape-data"/>
          <p:cNvSpPr/>
          <p:nvPr/>
        </p:nvSpPr>
        <p:spPr>
          <a:xfrm>
            <a:off x="548640" y="1572768"/>
            <a:ext cx="2286000" cy="658368"/>
          </a:xfrm>
          <a:prstGeom prst="chevron">
            <a:avLst/>
          </a:prstGeom>
          <a:solidFill>
            <a:schemeClr val="tx2"/>
          </a:solidFill>
          <a:ln/>
        </p:spPr>
      </p:sp>
      <p:sp>
        <p:nvSpPr>
          <p:cNvPr id="5" name="Text 3"/>
          <p:cNvSpPr txBox="1"/>
          <p:nvPr/>
        </p:nvSpPr>
        <p:spPr>
          <a:xfrm>
            <a:off x="91440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Lit le schéma et le document de mapping</a:t>
            </a:r>
            <a:endParaRPr lang="en-US" sz="1050" dirty="0"/>
          </a:p>
        </p:txBody>
      </p:sp>
      <p:sp>
        <p:nvSpPr>
          <p:cNvPr id="6" name="etape-data"/>
          <p:cNvSpPr/>
          <p:nvPr/>
        </p:nvSpPr>
        <p:spPr>
          <a:xfrm>
            <a:off x="2743200" y="1572768"/>
            <a:ext cx="2286000" cy="658368"/>
          </a:xfrm>
          <a:prstGeom prst="chevron">
            <a:avLst/>
          </a:prstGeom>
          <a:solidFill>
            <a:schemeClr val="accent1"/>
          </a:solidFill>
          <a:ln/>
        </p:spPr>
      </p:sp>
      <p:sp>
        <p:nvSpPr>
          <p:cNvPr id="7" name="Text 5"/>
          <p:cNvSpPr txBox="1"/>
          <p:nvPr/>
        </p:nvSpPr>
        <p:spPr>
          <a:xfrm>
            <a:off x="310896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Écrit la requête du contrôle</a:t>
            </a:r>
            <a:endParaRPr lang="en-US" sz="1050" dirty="0"/>
          </a:p>
        </p:txBody>
      </p:sp>
      <p:sp>
        <p:nvSpPr>
          <p:cNvPr id="8" name="etape-data"/>
          <p:cNvSpPr/>
          <p:nvPr/>
        </p:nvSpPr>
        <p:spPr>
          <a:xfrm>
            <a:off x="4937760" y="1572768"/>
            <a:ext cx="2286000" cy="658368"/>
          </a:xfrm>
          <a:prstGeom prst="chevron">
            <a:avLst/>
          </a:prstGeom>
          <a:solidFill>
            <a:schemeClr val="accent2"/>
          </a:solidFill>
          <a:ln/>
        </p:spPr>
      </p:sp>
      <p:sp>
        <p:nvSpPr>
          <p:cNvPr id="9" name="Text 7"/>
          <p:cNvSpPr txBox="1"/>
          <p:nvPr/>
        </p:nvSpPr>
        <p:spPr>
          <a:xfrm>
            <a:off x="530352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Garde-fou : SELECT seul, tables connues</a:t>
            </a:r>
            <a:endParaRPr lang="en-US" sz="1050" dirty="0"/>
          </a:p>
        </p:txBody>
      </p:sp>
      <p:sp>
        <p:nvSpPr>
          <p:cNvPr id="10" name="etape-data"/>
          <p:cNvSpPr/>
          <p:nvPr/>
        </p:nvSpPr>
        <p:spPr>
          <a:xfrm>
            <a:off x="7132320" y="1572768"/>
            <a:ext cx="2286000" cy="658368"/>
          </a:xfrm>
          <a:prstGeom prst="chevron">
            <a:avLst/>
          </a:prstGeom>
          <a:solidFill>
            <a:schemeClr val="accent1"/>
          </a:solidFill>
          <a:ln/>
        </p:spPr>
      </p:sp>
      <p:sp>
        <p:nvSpPr>
          <p:cNvPr id="11" name="Text 9"/>
          <p:cNvSpPr txBox="1"/>
          <p:nvPr/>
        </p:nvSpPr>
        <p:spPr>
          <a:xfrm>
            <a:off x="749808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Exécute en lecture seule</a:t>
            </a:r>
            <a:endParaRPr lang="en-US" sz="1050" dirty="0"/>
          </a:p>
        </p:txBody>
      </p:sp>
      <p:sp>
        <p:nvSpPr>
          <p:cNvPr id="12" name="etape-data"/>
          <p:cNvSpPr/>
          <p:nvPr/>
        </p:nvSpPr>
        <p:spPr>
          <a:xfrm>
            <a:off x="9326880" y="1572768"/>
            <a:ext cx="2286000" cy="658368"/>
          </a:xfrm>
          <a:prstGeom prst="chevron">
            <a:avLst/>
          </a:prstGeom>
          <a:solidFill>
            <a:schemeClr val="tx2"/>
          </a:solidFill>
          <a:ln/>
        </p:spPr>
      </p:sp>
      <p:sp>
        <p:nvSpPr>
          <p:cNvPr id="13" name="Text 11"/>
          <p:cNvSpPr txBox="1"/>
          <p:nvPr/>
        </p:nvSpPr>
        <p:spPr>
          <a:xfrm>
            <a:off x="969264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Creuse l'écart, rédige le rapport</a:t>
            </a:r>
            <a:endParaRPr lang="en-US" sz="1050" dirty="0"/>
          </a:p>
        </p:txBody>
      </p:sp>
      <p:sp>
        <p:nvSpPr>
          <p:cNvPr id="14" name="Text 12"/>
          <p:cNvSpPr txBox="1"/>
          <p:nvPr/>
        </p:nvSpPr>
        <p:spPr>
          <a:xfrm>
            <a:off x="548640" y="2359152"/>
            <a:ext cx="1097280" cy="502920"/>
          </a:xfrm>
          <a:prstGeom prst="rect">
            <a:avLst/>
          </a:prstGeom>
          <a:noFill/>
          <a:ln/>
        </p:spPr>
        <p:txBody>
          <a:bodyPr wrap="square" lIns="0" tIns="0" rIns="0" bIns="0" rtlCol="0" anchor="ctr"/>
          <a:lstStyle/>
          <a:p>
            <a:pPr indent="0" marL="0">
              <a:buNone/>
            </a:pPr>
            <a:r>
              <a:rPr lang="en-US" sz="1300" b="1" dirty="0">
                <a:solidFill>
                  <a:schemeClr val="tx2"/>
                </a:solidFill>
              </a:rPr>
              <a:t>Connexion</a:t>
            </a:r>
            <a:endParaRPr lang="en-US" sz="1300" dirty="0"/>
          </a:p>
        </p:txBody>
      </p:sp>
      <p:sp>
        <p:nvSpPr>
          <p:cNvPr id="15" name="box"/>
          <p:cNvSpPr/>
          <p:nvPr/>
        </p:nvSpPr>
        <p:spPr>
          <a:xfrm>
            <a:off x="1691640" y="2331720"/>
            <a:ext cx="2194560" cy="566928"/>
          </a:xfrm>
          <a:prstGeom prst="roundRect">
            <a:avLst>
              <a:gd name="adj" fmla="val 9677"/>
            </a:avLst>
          </a:prstGeom>
          <a:solidFill>
            <a:schemeClr val="accent5"/>
          </a:solidFill>
          <a:ln/>
        </p:spPr>
      </p:sp>
      <p:sp>
        <p:nvSpPr>
          <p:cNvPr id="16" name="Text 14"/>
          <p:cNvSpPr txBox="1"/>
          <p:nvPr/>
        </p:nvSpPr>
        <p:spPr>
          <a:xfrm>
            <a:off x="17830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Claude Code</a:t>
            </a:r>
            <a:endParaRPr lang="en-US" sz="1150" dirty="0"/>
          </a:p>
          <a:p>
            <a:pPr algn="ctr" indent="0" marL="0">
              <a:buNone/>
            </a:pPr>
            <a:r>
              <a:rPr lang="en-US" sz="1000" dirty="0">
                <a:solidFill>
                  <a:schemeClr val="tx2"/>
                </a:solidFill>
              </a:rPr>
              <a:t>sur le poste</a:t>
            </a:r>
            <a:endParaRPr lang="en-US" sz="1150" dirty="0"/>
          </a:p>
        </p:txBody>
      </p:sp>
      <p:pic>
        <p:nvPicPr>
          <p:cNvPr id="17" name="arrow" descr="preencoded.png">    </p:cNvPr>
          <p:cNvPicPr>
            <a:picLocks noChangeAspect="1"/>
          </p:cNvPicPr>
          <p:nvPr/>
        </p:nvPicPr>
        <p:blipFill>
          <a:blip r:embed="rId1"/>
          <a:stretch>
            <a:fillRect/>
          </a:stretch>
        </p:blipFill>
        <p:spPr>
          <a:xfrm>
            <a:off x="3904488" y="2478024"/>
            <a:ext cx="274320" cy="274320"/>
          </a:xfrm>
          <a:prstGeom prst="rect">
            <a:avLst/>
          </a:prstGeom>
        </p:spPr>
      </p:pic>
      <p:sp>
        <p:nvSpPr>
          <p:cNvPr id="18" name="box"/>
          <p:cNvSpPr/>
          <p:nvPr/>
        </p:nvSpPr>
        <p:spPr>
          <a:xfrm>
            <a:off x="4206240" y="2331720"/>
            <a:ext cx="2194560" cy="566928"/>
          </a:xfrm>
          <a:prstGeom prst="roundRect">
            <a:avLst>
              <a:gd name="adj" fmla="val 9677"/>
            </a:avLst>
          </a:prstGeom>
          <a:solidFill>
            <a:schemeClr val="accent5"/>
          </a:solidFill>
          <a:ln/>
        </p:spPr>
      </p:sp>
      <p:sp>
        <p:nvSpPr>
          <p:cNvPr id="19" name="Text 16"/>
          <p:cNvSpPr txBox="1"/>
          <p:nvPr/>
        </p:nvSpPr>
        <p:spPr>
          <a:xfrm>
            <a:off x="42976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Serveur MCP data-testing</a:t>
            </a:r>
            <a:endParaRPr lang="en-US" sz="1150" dirty="0"/>
          </a:p>
          <a:p>
            <a:pPr algn="ctr" indent="0" marL="0">
              <a:buNone/>
            </a:pPr>
            <a:r>
              <a:rPr lang="en-US" sz="1000" dirty="0">
                <a:solidFill>
                  <a:schemeClr val="tx2"/>
                </a:solidFill>
              </a:rPr>
              <a:t>garde-fou SQL, trace</a:t>
            </a:r>
            <a:endParaRPr lang="en-US" sz="1150" dirty="0"/>
          </a:p>
        </p:txBody>
      </p:sp>
      <p:pic>
        <p:nvPicPr>
          <p:cNvPr id="20" name="arrow" descr="preencoded.png">    </p:cNvPr>
          <p:cNvPicPr>
            <a:picLocks noChangeAspect="1"/>
          </p:cNvPicPr>
          <p:nvPr/>
        </p:nvPicPr>
        <p:blipFill>
          <a:blip r:embed="rId2"/>
          <a:stretch>
            <a:fillRect/>
          </a:stretch>
        </p:blipFill>
        <p:spPr>
          <a:xfrm>
            <a:off x="6419088" y="2478024"/>
            <a:ext cx="274320" cy="274320"/>
          </a:xfrm>
          <a:prstGeom prst="rect">
            <a:avLst/>
          </a:prstGeom>
        </p:spPr>
      </p:pic>
      <p:sp>
        <p:nvSpPr>
          <p:cNvPr id="21" name="box"/>
          <p:cNvSpPr/>
          <p:nvPr/>
        </p:nvSpPr>
        <p:spPr>
          <a:xfrm>
            <a:off x="6720840" y="2331720"/>
            <a:ext cx="2194560" cy="566928"/>
          </a:xfrm>
          <a:prstGeom prst="roundRect">
            <a:avLst>
              <a:gd name="adj" fmla="val 9677"/>
            </a:avLst>
          </a:prstGeom>
          <a:solidFill>
            <a:schemeClr val="accent5"/>
          </a:solidFill>
          <a:ln/>
        </p:spPr>
      </p:sp>
      <p:sp>
        <p:nvSpPr>
          <p:cNvPr id="22" name="Text 18"/>
          <p:cNvSpPr txBox="1"/>
          <p:nvPr/>
        </p:nvSpPr>
        <p:spPr>
          <a:xfrm>
            <a:off x="68122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Identité Entra ID dédiée</a:t>
            </a:r>
            <a:endParaRPr lang="en-US" sz="1150" dirty="0"/>
          </a:p>
          <a:p>
            <a:pPr algn="ctr" indent="0" marL="0">
              <a:buNone/>
            </a:pPr>
            <a:r>
              <a:rPr lang="en-US" sz="1000" dirty="0">
                <a:solidFill>
                  <a:schemeClr val="tx2"/>
                </a:solidFill>
              </a:rPr>
              <a:t>sans mot de passe, SELECT seul</a:t>
            </a:r>
            <a:endParaRPr lang="en-US" sz="1150" dirty="0"/>
          </a:p>
        </p:txBody>
      </p:sp>
      <p:pic>
        <p:nvPicPr>
          <p:cNvPr id="23" name="arrow" descr="preencoded.png">    </p:cNvPr>
          <p:cNvPicPr>
            <a:picLocks noChangeAspect="1"/>
          </p:cNvPicPr>
          <p:nvPr/>
        </p:nvPicPr>
        <p:blipFill>
          <a:blip r:embed="rId3"/>
          <a:stretch>
            <a:fillRect/>
          </a:stretch>
        </p:blipFill>
        <p:spPr>
          <a:xfrm>
            <a:off x="8933688" y="2478024"/>
            <a:ext cx="274320" cy="274320"/>
          </a:xfrm>
          <a:prstGeom prst="rect">
            <a:avLst/>
          </a:prstGeom>
        </p:spPr>
      </p:pic>
      <p:sp>
        <p:nvSpPr>
          <p:cNvPr id="24" name="box"/>
          <p:cNvSpPr/>
          <p:nvPr/>
        </p:nvSpPr>
        <p:spPr>
          <a:xfrm>
            <a:off x="9235440" y="2331720"/>
            <a:ext cx="2194560" cy="566928"/>
          </a:xfrm>
          <a:prstGeom prst="roundRect">
            <a:avLst>
              <a:gd name="adj" fmla="val 9677"/>
            </a:avLst>
          </a:prstGeom>
          <a:solidFill>
            <a:schemeClr val="tx2"/>
          </a:solidFill>
          <a:ln/>
        </p:spPr>
      </p:sp>
      <p:sp>
        <p:nvSpPr>
          <p:cNvPr id="25" name="Text 20"/>
          <p:cNvSpPr txBox="1"/>
          <p:nvPr/>
        </p:nvSpPr>
        <p:spPr>
          <a:xfrm>
            <a:off x="9326880" y="2331720"/>
            <a:ext cx="2011680" cy="566928"/>
          </a:xfrm>
          <a:prstGeom prst="rect">
            <a:avLst/>
          </a:prstGeom>
          <a:noFill/>
          <a:ln/>
        </p:spPr>
        <p:txBody>
          <a:bodyPr wrap="square" lIns="0" tIns="0" rIns="0" bIns="0" rtlCol="0" anchor="ctr"/>
          <a:lstStyle/>
          <a:p>
            <a:pPr algn="ctr" indent="0" marL="0">
              <a:buNone/>
            </a:pPr>
            <a:r>
              <a:rPr lang="en-US" sz="1150" b="1" dirty="0">
                <a:solidFill>
                  <a:schemeClr val="bg1"/>
                </a:solidFill>
              </a:rPr>
              <a:t>Azure SQL</a:t>
            </a:r>
            <a:endParaRPr lang="en-US" sz="1150" dirty="0"/>
          </a:p>
          <a:p>
            <a:pPr algn="ctr" indent="0" marL="0">
              <a:buNone/>
            </a:pPr>
            <a:r>
              <a:rPr lang="en-US" sz="1000" dirty="0">
                <a:solidFill>
                  <a:schemeClr val="bg1"/>
                </a:solidFill>
              </a:rPr>
              <a:t>ITG ou PREPROD, jamais PROD</a:t>
            </a:r>
            <a:endParaRPr lang="en-US" sz="1150" dirty="0"/>
          </a:p>
        </p:txBody>
      </p:sp>
      <p:sp>
        <p:nvSpPr>
          <p:cNvPr id="26" name="card"/>
          <p:cNvSpPr/>
          <p:nvPr/>
        </p:nvSpPr>
        <p:spPr>
          <a:xfrm>
            <a:off x="548640" y="3035808"/>
            <a:ext cx="3520440" cy="2084832"/>
          </a:xfrm>
          <a:prstGeom prst="roundRect">
            <a:avLst>
              <a:gd name="adj" fmla="val 4386"/>
            </a:avLst>
          </a:prstGeom>
          <a:solidFill>
            <a:schemeClr val="bg2"/>
          </a:solidFill>
          <a:ln/>
        </p:spPr>
      </p:sp>
      <p:sp>
        <p:nvSpPr>
          <p:cNvPr id="27" name="Text 22"/>
          <p:cNvSpPr txBox="1"/>
          <p:nvPr/>
        </p:nvSpPr>
        <p:spPr>
          <a:xfrm>
            <a:off x="73152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Intégrité</a:t>
            </a:r>
            <a:endParaRPr lang="en-US" sz="1400" dirty="0"/>
          </a:p>
        </p:txBody>
      </p:sp>
      <p:sp>
        <p:nvSpPr>
          <p:cNvPr id="28" name="Text 23"/>
          <p:cNvSpPr txBox="1"/>
          <p:nvPr/>
        </p:nvSpPr>
        <p:spPr>
          <a:xfrm>
            <a:off x="73152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Des mandats pointent-ils vers une entité inexistante ?</a:t>
            </a:r>
            <a:endParaRPr lang="en-US" sz="1150" dirty="0"/>
          </a:p>
        </p:txBody>
      </p:sp>
      <p:sp>
        <p:nvSpPr>
          <p:cNvPr id="29" name="box"/>
          <p:cNvSpPr/>
          <p:nvPr/>
        </p:nvSpPr>
        <p:spPr>
          <a:xfrm>
            <a:off x="685800" y="3822192"/>
            <a:ext cx="3246120" cy="1225296"/>
          </a:xfrm>
          <a:prstGeom prst="roundRect">
            <a:avLst>
              <a:gd name="adj" fmla="val 4478"/>
            </a:avLst>
          </a:prstGeom>
          <a:solidFill>
            <a:schemeClr val="accent6"/>
          </a:solidFill>
          <a:ln/>
        </p:spPr>
      </p:sp>
      <p:sp>
        <p:nvSpPr>
          <p:cNvPr id="30" name="Text 25"/>
          <p:cNvSpPr txBox="1"/>
          <p:nvPr/>
        </p:nvSpPr>
        <p:spPr>
          <a:xfrm>
            <a:off x="79552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mandat m</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LEFT JOIN entite e ON e.id = m.entite_id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e.id IS NULL;</a:t>
            </a:r>
            <a:endParaRPr lang="en-US" sz="1000" dirty="0"/>
          </a:p>
        </p:txBody>
      </p:sp>
      <p:sp>
        <p:nvSpPr>
          <p:cNvPr id="31" name="card"/>
          <p:cNvSpPr/>
          <p:nvPr/>
        </p:nvSpPr>
        <p:spPr>
          <a:xfrm>
            <a:off x="4297680" y="3035808"/>
            <a:ext cx="3520440" cy="2084832"/>
          </a:xfrm>
          <a:prstGeom prst="roundRect">
            <a:avLst>
              <a:gd name="adj" fmla="val 4386"/>
            </a:avLst>
          </a:prstGeom>
          <a:solidFill>
            <a:schemeClr val="bg2"/>
          </a:solidFill>
          <a:ln/>
        </p:spPr>
      </p:sp>
      <p:sp>
        <p:nvSpPr>
          <p:cNvPr id="32" name="Text 27"/>
          <p:cNvSpPr txBox="1"/>
          <p:nvPr/>
        </p:nvSpPr>
        <p:spPr>
          <a:xfrm>
            <a:off x="448056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Cohérence</a:t>
            </a:r>
            <a:endParaRPr lang="en-US" sz="1400" dirty="0"/>
          </a:p>
        </p:txBody>
      </p:sp>
      <p:sp>
        <p:nvSpPr>
          <p:cNvPr id="33" name="Text 28"/>
          <p:cNvSpPr txBox="1"/>
          <p:nvPr/>
        </p:nvSpPr>
        <p:spPr>
          <a:xfrm>
            <a:off x="448056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Des dates de fin précèdent-elles la date de début ?</a:t>
            </a:r>
            <a:endParaRPr lang="en-US" sz="1150" dirty="0"/>
          </a:p>
        </p:txBody>
      </p:sp>
      <p:sp>
        <p:nvSpPr>
          <p:cNvPr id="34" name="box"/>
          <p:cNvSpPr/>
          <p:nvPr/>
        </p:nvSpPr>
        <p:spPr>
          <a:xfrm>
            <a:off x="4434840" y="3822192"/>
            <a:ext cx="3246120" cy="1225296"/>
          </a:xfrm>
          <a:prstGeom prst="roundRect">
            <a:avLst>
              <a:gd name="adj" fmla="val 4478"/>
            </a:avLst>
          </a:prstGeom>
          <a:solidFill>
            <a:schemeClr val="accent6"/>
          </a:solidFill>
          <a:ln/>
        </p:spPr>
      </p:sp>
      <p:sp>
        <p:nvSpPr>
          <p:cNvPr id="35" name="Text 30"/>
          <p:cNvSpPr txBox="1"/>
          <p:nvPr/>
        </p:nvSpPr>
        <p:spPr>
          <a:xfrm>
            <a:off x="454456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mandat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date_fin &lt; date_debut;</a:t>
            </a:r>
            <a:endParaRPr lang="en-US" sz="1000" dirty="0"/>
          </a:p>
        </p:txBody>
      </p:sp>
      <p:sp>
        <p:nvSpPr>
          <p:cNvPr id="36" name="card"/>
          <p:cNvSpPr/>
          <p:nvPr/>
        </p:nvSpPr>
        <p:spPr>
          <a:xfrm>
            <a:off x="8046720" y="3035808"/>
            <a:ext cx="3520440" cy="2084832"/>
          </a:xfrm>
          <a:prstGeom prst="roundRect">
            <a:avLst>
              <a:gd name="adj" fmla="val 4386"/>
            </a:avLst>
          </a:prstGeom>
          <a:solidFill>
            <a:schemeClr val="bg2"/>
          </a:solidFill>
          <a:ln/>
        </p:spPr>
      </p:sp>
      <p:sp>
        <p:nvSpPr>
          <p:cNvPr id="37" name="Text 32"/>
          <p:cNvSpPr txBox="1"/>
          <p:nvPr/>
        </p:nvSpPr>
        <p:spPr>
          <a:xfrm>
            <a:off x="822960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Mapping</a:t>
            </a:r>
            <a:endParaRPr lang="en-US" sz="1400" dirty="0"/>
          </a:p>
        </p:txBody>
      </p:sp>
      <p:sp>
        <p:nvSpPr>
          <p:cNvPr id="38" name="Text 33"/>
          <p:cNvSpPr txBox="1"/>
          <p:nvPr/>
        </p:nvSpPr>
        <p:spPr>
          <a:xfrm>
            <a:off x="822960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Le statut IBS « V » est-il devenu « Validé » ?</a:t>
            </a:r>
            <a:endParaRPr lang="en-US" sz="1150" dirty="0"/>
          </a:p>
        </p:txBody>
      </p:sp>
      <p:sp>
        <p:nvSpPr>
          <p:cNvPr id="39" name="box"/>
          <p:cNvSpPr/>
          <p:nvPr/>
        </p:nvSpPr>
        <p:spPr>
          <a:xfrm>
            <a:off x="8183880" y="3822192"/>
            <a:ext cx="3246120" cy="1225296"/>
          </a:xfrm>
          <a:prstGeom prst="roundRect">
            <a:avLst>
              <a:gd name="adj" fmla="val 4478"/>
            </a:avLst>
          </a:prstGeom>
          <a:solidFill>
            <a:schemeClr val="accent6"/>
          </a:solidFill>
          <a:ln/>
        </p:spPr>
      </p:sp>
      <p:sp>
        <p:nvSpPr>
          <p:cNvPr id="40" name="Text 35"/>
          <p:cNvSpPr txBox="1"/>
          <p:nvPr/>
        </p:nvSpPr>
        <p:spPr>
          <a:xfrm>
            <a:off x="829360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ibs.mandat 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JOIN infocac.mandat c</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ON c.code_origine = s.code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s.statut = 'V'</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AND c.statut &lt;&gt; 'Validé';</a:t>
            </a:r>
            <a:endParaRPr lang="en-US" sz="1000" dirty="0"/>
          </a:p>
        </p:txBody>
      </p:sp>
      <p:sp>
        <p:nvSpPr>
          <p:cNvPr id="41" name="card"/>
          <p:cNvSpPr/>
          <p:nvPr/>
        </p:nvSpPr>
        <p:spPr>
          <a:xfrm>
            <a:off x="548640" y="5212080"/>
            <a:ext cx="11064240" cy="685800"/>
          </a:xfrm>
          <a:prstGeom prst="roundRect">
            <a:avLst>
              <a:gd name="adj" fmla="val 13333"/>
            </a:avLst>
          </a:prstGeom>
          <a:solidFill>
            <a:schemeClr val="tx2"/>
          </a:solidFill>
          <a:ln/>
        </p:spPr>
      </p:sp>
      <p:sp>
        <p:nvSpPr>
          <p:cNvPr id="42" name="Text 37"/>
          <p:cNvSpPr txBox="1"/>
          <p:nvPr/>
        </p:nvSpPr>
        <p:spPr>
          <a:xfrm>
            <a:off x="777240" y="5230368"/>
            <a:ext cx="10607040" cy="649224"/>
          </a:xfrm>
          <a:prstGeom prst="rect">
            <a:avLst/>
          </a:prstGeom>
          <a:noFill/>
          <a:ln/>
        </p:spPr>
        <p:txBody>
          <a:bodyPr wrap="square" lIns="0" tIns="0" rIns="0" bIns="0" rtlCol="0" anchor="ctr"/>
          <a:lstStyle/>
          <a:p>
            <a:pPr indent="0" marL="0">
              <a:buNone/>
            </a:pPr>
            <a:r>
              <a:rPr lang="en-US" sz="1250" b="1" dirty="0">
                <a:solidFill>
                  <a:schemeClr val="bg1"/>
                </a:solidFill>
              </a:rPr>
              <a:t>Sécurité : </a:t>
            </a:r>
            <a:pPr indent="0" marL="0">
              <a:buNone/>
            </a:pPr>
            <a:r>
              <a:rPr lang="en-US" sz="1250" dirty="0">
                <a:solidFill>
                  <a:schemeClr val="bg1"/>
                </a:solidFill>
              </a:rPr>
              <a:t>seuls des comptages et des identifiants remontent au modèle ; requêtes relues par un humain, puis rejouées sans IA dans Azure Pipelines ; accord KPMG requis avant tout accès d'un agent à une base.</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Suivre les livraisons, transmettre avant fin 2026</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Chaque fonctionnalité s'évalue au plus tôt un sprint après sa livraison, quand elle ne bouge plus.</a:t>
            </a:r>
            <a:endParaRPr lang="en-US" sz="1600" dirty="0"/>
          </a:p>
        </p:txBody>
      </p:sp>
      <p:sp>
        <p:nvSpPr>
          <p:cNvPr id="4" name="Text 2"/>
          <p:cNvSpPr txBox="1"/>
          <p:nvPr/>
        </p:nvSpPr>
        <p:spPr>
          <a:xfrm>
            <a:off x="2743200"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S4</a:t>
            </a:r>
            <a:endParaRPr lang="en-US" sz="1100" dirty="0"/>
          </a:p>
          <a:p>
            <a:pPr algn="ctr" indent="0" marL="0">
              <a:buNone/>
            </a:pPr>
            <a:r>
              <a:rPr lang="en-US" sz="900" dirty="0">
                <a:solidFill>
                  <a:schemeClr val="accent4"/>
                </a:solidFill>
              </a:rPr>
              <a:t>19/10</a:t>
            </a:r>
            <a:endParaRPr lang="en-US" sz="1100" dirty="0"/>
          </a:p>
        </p:txBody>
      </p:sp>
      <p:sp>
        <p:nvSpPr>
          <p:cNvPr id="5" name="grille"/>
          <p:cNvSpPr/>
          <p:nvPr/>
        </p:nvSpPr>
        <p:spPr>
          <a:xfrm>
            <a:off x="2743200" y="1965960"/>
            <a:ext cx="0" cy="2560320"/>
          </a:xfrm>
          <a:prstGeom prst="line">
            <a:avLst/>
          </a:prstGeom>
          <a:noFill/>
          <a:ln w="9525">
            <a:solidFill>
              <a:srgbClr val="D9E4F2"/>
            </a:solidFill>
            <a:prstDash val="solid"/>
          </a:ln>
        </p:spPr>
      </p:sp>
      <p:sp>
        <p:nvSpPr>
          <p:cNvPr id="6" name="Text 4"/>
          <p:cNvSpPr txBox="1"/>
          <p:nvPr/>
        </p:nvSpPr>
        <p:spPr>
          <a:xfrm>
            <a:off x="3730752"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S5</a:t>
            </a:r>
            <a:endParaRPr lang="en-US" sz="1100" dirty="0"/>
          </a:p>
          <a:p>
            <a:pPr algn="ctr" indent="0" marL="0">
              <a:buNone/>
            </a:pPr>
            <a:r>
              <a:rPr lang="en-US" sz="900" dirty="0">
                <a:solidFill>
                  <a:schemeClr val="accent4"/>
                </a:solidFill>
              </a:rPr>
              <a:t>02/11</a:t>
            </a:r>
            <a:endParaRPr lang="en-US" sz="1100" dirty="0"/>
          </a:p>
        </p:txBody>
      </p:sp>
      <p:sp>
        <p:nvSpPr>
          <p:cNvPr id="7" name="grille"/>
          <p:cNvSpPr/>
          <p:nvPr/>
        </p:nvSpPr>
        <p:spPr>
          <a:xfrm>
            <a:off x="3730752" y="1965960"/>
            <a:ext cx="0" cy="2560320"/>
          </a:xfrm>
          <a:prstGeom prst="line">
            <a:avLst/>
          </a:prstGeom>
          <a:noFill/>
          <a:ln w="9525">
            <a:solidFill>
              <a:srgbClr val="D9E4F2"/>
            </a:solidFill>
            <a:prstDash val="solid"/>
          </a:ln>
        </p:spPr>
      </p:sp>
      <p:sp>
        <p:nvSpPr>
          <p:cNvPr id="8" name="Text 6"/>
          <p:cNvSpPr txBox="1"/>
          <p:nvPr/>
        </p:nvSpPr>
        <p:spPr>
          <a:xfrm>
            <a:off x="4718304"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S6</a:t>
            </a:r>
            <a:endParaRPr lang="en-US" sz="1100" dirty="0"/>
          </a:p>
          <a:p>
            <a:pPr algn="ctr" indent="0" marL="0">
              <a:buNone/>
            </a:pPr>
            <a:r>
              <a:rPr lang="en-US" sz="900" dirty="0">
                <a:solidFill>
                  <a:schemeClr val="accent4"/>
                </a:solidFill>
              </a:rPr>
              <a:t>16/11</a:t>
            </a:r>
            <a:endParaRPr lang="en-US" sz="1100" dirty="0"/>
          </a:p>
        </p:txBody>
      </p:sp>
      <p:sp>
        <p:nvSpPr>
          <p:cNvPr id="9" name="grille"/>
          <p:cNvSpPr/>
          <p:nvPr/>
        </p:nvSpPr>
        <p:spPr>
          <a:xfrm>
            <a:off x="4718304" y="1965960"/>
            <a:ext cx="0" cy="2560320"/>
          </a:xfrm>
          <a:prstGeom prst="line">
            <a:avLst/>
          </a:prstGeom>
          <a:noFill/>
          <a:ln w="9525">
            <a:solidFill>
              <a:srgbClr val="D9E4F2"/>
            </a:solidFill>
            <a:prstDash val="solid"/>
          </a:ln>
        </p:spPr>
      </p:sp>
      <p:sp>
        <p:nvSpPr>
          <p:cNvPr id="10" name="Text 8"/>
          <p:cNvSpPr txBox="1"/>
          <p:nvPr/>
        </p:nvSpPr>
        <p:spPr>
          <a:xfrm>
            <a:off x="5705856"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S7</a:t>
            </a:r>
            <a:endParaRPr lang="en-US" sz="1100" dirty="0"/>
          </a:p>
          <a:p>
            <a:pPr algn="ctr" indent="0" marL="0">
              <a:buNone/>
            </a:pPr>
            <a:r>
              <a:rPr lang="en-US" sz="900" dirty="0">
                <a:solidFill>
                  <a:schemeClr val="accent4"/>
                </a:solidFill>
              </a:rPr>
              <a:t>30/11</a:t>
            </a:r>
            <a:endParaRPr lang="en-US" sz="1100" dirty="0"/>
          </a:p>
        </p:txBody>
      </p:sp>
      <p:sp>
        <p:nvSpPr>
          <p:cNvPr id="11" name="grille"/>
          <p:cNvSpPr/>
          <p:nvPr/>
        </p:nvSpPr>
        <p:spPr>
          <a:xfrm>
            <a:off x="5705856" y="1965960"/>
            <a:ext cx="0" cy="2560320"/>
          </a:xfrm>
          <a:prstGeom prst="line">
            <a:avLst/>
          </a:prstGeom>
          <a:noFill/>
          <a:ln w="9525">
            <a:solidFill>
              <a:srgbClr val="D9E4F2"/>
            </a:solidFill>
            <a:prstDash val="solid"/>
          </a:ln>
        </p:spPr>
      </p:sp>
      <p:sp>
        <p:nvSpPr>
          <p:cNvPr id="12" name="Text 10"/>
          <p:cNvSpPr txBox="1"/>
          <p:nvPr/>
        </p:nvSpPr>
        <p:spPr>
          <a:xfrm>
            <a:off x="6693408"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S8</a:t>
            </a:r>
            <a:endParaRPr lang="en-US" sz="1100" dirty="0"/>
          </a:p>
          <a:p>
            <a:pPr algn="ctr" indent="0" marL="0">
              <a:buNone/>
            </a:pPr>
            <a:r>
              <a:rPr lang="en-US" sz="900" dirty="0">
                <a:solidFill>
                  <a:schemeClr val="accent4"/>
                </a:solidFill>
              </a:rPr>
              <a:t>14/12</a:t>
            </a:r>
            <a:endParaRPr lang="en-US" sz="1100" dirty="0"/>
          </a:p>
        </p:txBody>
      </p:sp>
      <p:sp>
        <p:nvSpPr>
          <p:cNvPr id="13" name="grille"/>
          <p:cNvSpPr/>
          <p:nvPr/>
        </p:nvSpPr>
        <p:spPr>
          <a:xfrm>
            <a:off x="6693408" y="1965960"/>
            <a:ext cx="0" cy="2560320"/>
          </a:xfrm>
          <a:prstGeom prst="line">
            <a:avLst/>
          </a:prstGeom>
          <a:noFill/>
          <a:ln w="9525">
            <a:solidFill>
              <a:srgbClr val="D9E4F2"/>
            </a:solidFill>
            <a:prstDash val="solid"/>
          </a:ln>
        </p:spPr>
      </p:sp>
      <p:sp>
        <p:nvSpPr>
          <p:cNvPr id="14" name="Text 12"/>
          <p:cNvSpPr txBox="1"/>
          <p:nvPr/>
        </p:nvSpPr>
        <p:spPr>
          <a:xfrm>
            <a:off x="7680960"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S9</a:t>
            </a:r>
            <a:endParaRPr lang="en-US" sz="1100" dirty="0"/>
          </a:p>
          <a:p>
            <a:pPr algn="ctr" indent="0" marL="0">
              <a:buNone/>
            </a:pPr>
            <a:r>
              <a:rPr lang="en-US" sz="900" dirty="0">
                <a:solidFill>
                  <a:schemeClr val="accent4"/>
                </a:solidFill>
              </a:rPr>
              <a:t>janv.</a:t>
            </a:r>
            <a:endParaRPr lang="en-US" sz="1100" dirty="0"/>
          </a:p>
        </p:txBody>
      </p:sp>
      <p:sp>
        <p:nvSpPr>
          <p:cNvPr id="15" name="grille"/>
          <p:cNvSpPr/>
          <p:nvPr/>
        </p:nvSpPr>
        <p:spPr>
          <a:xfrm>
            <a:off x="7680960" y="1965960"/>
            <a:ext cx="0" cy="2560320"/>
          </a:xfrm>
          <a:prstGeom prst="line">
            <a:avLst/>
          </a:prstGeom>
          <a:noFill/>
          <a:ln w="9525">
            <a:solidFill>
              <a:srgbClr val="D9E4F2"/>
            </a:solidFill>
            <a:prstDash val="solid"/>
          </a:ln>
        </p:spPr>
      </p:sp>
      <p:sp>
        <p:nvSpPr>
          <p:cNvPr id="16" name="Text 14"/>
          <p:cNvSpPr txBox="1"/>
          <p:nvPr/>
        </p:nvSpPr>
        <p:spPr>
          <a:xfrm>
            <a:off x="8668512"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S10</a:t>
            </a:r>
            <a:endParaRPr lang="en-US" sz="1100" dirty="0"/>
          </a:p>
          <a:p>
            <a:pPr algn="ctr" indent="0" marL="0">
              <a:buNone/>
            </a:pPr>
            <a:r>
              <a:rPr lang="en-US" sz="900" dirty="0">
                <a:solidFill>
                  <a:schemeClr val="accent4"/>
                </a:solidFill>
              </a:rPr>
              <a:t>11/01</a:t>
            </a:r>
            <a:endParaRPr lang="en-US" sz="1100" dirty="0"/>
          </a:p>
        </p:txBody>
      </p:sp>
      <p:sp>
        <p:nvSpPr>
          <p:cNvPr id="17" name="grille"/>
          <p:cNvSpPr/>
          <p:nvPr/>
        </p:nvSpPr>
        <p:spPr>
          <a:xfrm>
            <a:off x="8668512" y="1965960"/>
            <a:ext cx="0" cy="2560320"/>
          </a:xfrm>
          <a:prstGeom prst="line">
            <a:avLst/>
          </a:prstGeom>
          <a:noFill/>
          <a:ln w="9525">
            <a:solidFill>
              <a:srgbClr val="D9E4F2"/>
            </a:solidFill>
            <a:prstDash val="solid"/>
          </a:ln>
        </p:spPr>
      </p:sp>
      <p:sp>
        <p:nvSpPr>
          <p:cNvPr id="18" name="Text 16"/>
          <p:cNvSpPr txBox="1"/>
          <p:nvPr/>
        </p:nvSpPr>
        <p:spPr>
          <a:xfrm>
            <a:off x="9656064"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S11</a:t>
            </a:r>
            <a:endParaRPr lang="en-US" sz="1100" dirty="0"/>
          </a:p>
          <a:p>
            <a:pPr algn="ctr" indent="0" marL="0">
              <a:buNone/>
            </a:pPr>
            <a:r>
              <a:rPr lang="en-US" sz="900" dirty="0">
                <a:solidFill>
                  <a:schemeClr val="accent4"/>
                </a:solidFill>
              </a:rPr>
              <a:t>25/01</a:t>
            </a:r>
            <a:endParaRPr lang="en-US" sz="1100" dirty="0"/>
          </a:p>
        </p:txBody>
      </p:sp>
      <p:sp>
        <p:nvSpPr>
          <p:cNvPr id="19" name="grille"/>
          <p:cNvSpPr/>
          <p:nvPr/>
        </p:nvSpPr>
        <p:spPr>
          <a:xfrm>
            <a:off x="9656064" y="1965960"/>
            <a:ext cx="0" cy="2560320"/>
          </a:xfrm>
          <a:prstGeom prst="line">
            <a:avLst/>
          </a:prstGeom>
          <a:noFill/>
          <a:ln w="9525">
            <a:solidFill>
              <a:srgbClr val="D9E4F2"/>
            </a:solidFill>
            <a:prstDash val="solid"/>
          </a:ln>
        </p:spPr>
      </p:sp>
      <p:sp>
        <p:nvSpPr>
          <p:cNvPr id="20" name="Text 18"/>
          <p:cNvSpPr txBox="1"/>
          <p:nvPr/>
        </p:nvSpPr>
        <p:spPr>
          <a:xfrm>
            <a:off x="10643616"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Fév.</a:t>
            </a:r>
            <a:endParaRPr lang="en-US" sz="1100" dirty="0"/>
          </a:p>
          <a:p>
            <a:pPr algn="ctr" indent="0" marL="0">
              <a:buNone/>
            </a:pPr>
            <a:r>
              <a:rPr lang="en-US" sz="900" dirty="0">
                <a:solidFill>
                  <a:schemeClr val="accent4"/>
                </a:solidFill>
              </a:rPr>
              <a:t>mars</a:t>
            </a:r>
            <a:endParaRPr lang="en-US" sz="1100" dirty="0"/>
          </a:p>
        </p:txBody>
      </p:sp>
      <p:sp>
        <p:nvSpPr>
          <p:cNvPr id="21" name="grille"/>
          <p:cNvSpPr/>
          <p:nvPr/>
        </p:nvSpPr>
        <p:spPr>
          <a:xfrm>
            <a:off x="10643616" y="1965960"/>
            <a:ext cx="0" cy="2560320"/>
          </a:xfrm>
          <a:prstGeom prst="line">
            <a:avLst/>
          </a:prstGeom>
          <a:noFill/>
          <a:ln w="9525">
            <a:solidFill>
              <a:srgbClr val="D9E4F2"/>
            </a:solidFill>
            <a:prstDash val="solid"/>
          </a:ln>
        </p:spPr>
      </p:sp>
      <p:sp>
        <p:nvSpPr>
          <p:cNvPr id="22" name="grille"/>
          <p:cNvSpPr/>
          <p:nvPr/>
        </p:nvSpPr>
        <p:spPr>
          <a:xfrm>
            <a:off x="11631168" y="1965960"/>
            <a:ext cx="0" cy="2560320"/>
          </a:xfrm>
          <a:prstGeom prst="line">
            <a:avLst/>
          </a:prstGeom>
          <a:noFill/>
          <a:ln w="9525">
            <a:solidFill>
              <a:srgbClr val="D9E4F2"/>
            </a:solidFill>
            <a:prstDash val="solid"/>
          </a:ln>
        </p:spPr>
      </p:sp>
      <p:sp>
        <p:nvSpPr>
          <p:cNvPr id="23" name="Text 21"/>
          <p:cNvSpPr txBox="1"/>
          <p:nvPr/>
        </p:nvSpPr>
        <p:spPr>
          <a:xfrm>
            <a:off x="548640" y="1965960"/>
            <a:ext cx="2148840" cy="384048"/>
          </a:xfrm>
          <a:prstGeom prst="rect">
            <a:avLst/>
          </a:prstGeom>
          <a:noFill/>
          <a:ln/>
        </p:spPr>
        <p:txBody>
          <a:bodyPr wrap="square" lIns="0" tIns="0" rIns="0" bIns="0" rtlCol="0" anchor="ctr"/>
          <a:lstStyle/>
          <a:p>
            <a:pPr indent="0" marL="0">
              <a:buNone/>
            </a:pPr>
            <a:r>
              <a:rPr lang="en-US" sz="1200" b="1" i="1" dirty="0">
                <a:solidFill>
                  <a:schemeClr val="accent4"/>
                </a:solidFill>
              </a:rPr>
              <a:t>Projet : recette métier</a:t>
            </a:r>
            <a:endParaRPr lang="en-US" sz="1200" dirty="0"/>
          </a:p>
        </p:txBody>
      </p:sp>
      <p:sp>
        <p:nvSpPr>
          <p:cNvPr id="24" name="box"/>
          <p:cNvSpPr/>
          <p:nvPr/>
        </p:nvSpPr>
        <p:spPr>
          <a:xfrm>
            <a:off x="4745736" y="2020824"/>
            <a:ext cx="2907792" cy="274320"/>
          </a:xfrm>
          <a:prstGeom prst="roundRect">
            <a:avLst>
              <a:gd name="adj" fmla="val 20000"/>
            </a:avLst>
          </a:prstGeom>
          <a:solidFill>
            <a:srgbClr val="FBEFD5"/>
          </a:solidFill>
          <a:ln/>
        </p:spPr>
      </p:sp>
      <p:sp>
        <p:nvSpPr>
          <p:cNvPr id="25" name="Text 23"/>
          <p:cNvSpPr txBox="1"/>
          <p:nvPr/>
        </p:nvSpPr>
        <p:spPr>
          <a:xfrm>
            <a:off x="4718304" y="2020824"/>
            <a:ext cx="2962656" cy="274320"/>
          </a:xfrm>
          <a:prstGeom prst="rect">
            <a:avLst/>
          </a:prstGeom>
          <a:noFill/>
          <a:ln/>
        </p:spPr>
        <p:txBody>
          <a:bodyPr wrap="square" lIns="0" tIns="0" rIns="0" bIns="0" rtlCol="0" anchor="ctr"/>
          <a:lstStyle/>
          <a:p>
            <a:pPr algn="ctr" indent="0" marL="0">
              <a:buNone/>
            </a:pPr>
            <a:r>
              <a:rPr lang="en-US" sz="1000" b="1" dirty="0">
                <a:solidFill>
                  <a:srgbClr val="B7791F"/>
                </a:solidFill>
              </a:rPr>
              <a:t>Test métiers</a:t>
            </a:r>
            <a:endParaRPr lang="en-US" sz="1000" dirty="0"/>
          </a:p>
        </p:txBody>
      </p:sp>
      <p:sp>
        <p:nvSpPr>
          <p:cNvPr id="26" name="box"/>
          <p:cNvSpPr/>
          <p:nvPr/>
        </p:nvSpPr>
        <p:spPr>
          <a:xfrm>
            <a:off x="7708392" y="2020824"/>
            <a:ext cx="2907792" cy="274320"/>
          </a:xfrm>
          <a:prstGeom prst="roundRect">
            <a:avLst>
              <a:gd name="adj" fmla="val 20000"/>
            </a:avLst>
          </a:prstGeom>
          <a:solidFill>
            <a:srgbClr val="FBEFD5"/>
          </a:solidFill>
          <a:ln/>
        </p:spPr>
      </p:sp>
      <p:sp>
        <p:nvSpPr>
          <p:cNvPr id="27" name="Text 25"/>
          <p:cNvSpPr txBox="1"/>
          <p:nvPr/>
        </p:nvSpPr>
        <p:spPr>
          <a:xfrm>
            <a:off x="7680960" y="2020824"/>
            <a:ext cx="2962656" cy="274320"/>
          </a:xfrm>
          <a:prstGeom prst="rect">
            <a:avLst/>
          </a:prstGeom>
          <a:noFill/>
          <a:ln/>
        </p:spPr>
        <p:txBody>
          <a:bodyPr wrap="square" lIns="0" tIns="0" rIns="0" bIns="0" rtlCol="0" anchor="ctr"/>
          <a:lstStyle/>
          <a:p>
            <a:pPr algn="ctr" indent="0" marL="0">
              <a:buNone/>
            </a:pPr>
            <a:r>
              <a:rPr lang="en-US" sz="1000" b="1" dirty="0">
                <a:solidFill>
                  <a:srgbClr val="B7791F"/>
                </a:solidFill>
              </a:rPr>
              <a:t>Test métiers</a:t>
            </a:r>
            <a:endParaRPr lang="en-US" sz="1000" dirty="0"/>
          </a:p>
        </p:txBody>
      </p:sp>
      <p:sp>
        <p:nvSpPr>
          <p:cNvPr id="28" name="Text 26"/>
          <p:cNvSpPr txBox="1"/>
          <p:nvPr/>
        </p:nvSpPr>
        <p:spPr>
          <a:xfrm>
            <a:off x="548640" y="2386584"/>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1. Cadrage</a:t>
            </a:r>
            <a:endParaRPr lang="en-US" sz="1400" dirty="0"/>
          </a:p>
        </p:txBody>
      </p:sp>
      <p:sp>
        <p:nvSpPr>
          <p:cNvPr id="29" name="box"/>
          <p:cNvSpPr/>
          <p:nvPr/>
        </p:nvSpPr>
        <p:spPr>
          <a:xfrm>
            <a:off x="2743200" y="2414016"/>
            <a:ext cx="1975104" cy="347472"/>
          </a:xfrm>
          <a:prstGeom prst="roundRect">
            <a:avLst>
              <a:gd name="adj" fmla="val 15789"/>
            </a:avLst>
          </a:prstGeom>
          <a:solidFill>
            <a:schemeClr val="accent3"/>
          </a:solidFill>
          <a:ln/>
        </p:spPr>
      </p:sp>
      <p:sp>
        <p:nvSpPr>
          <p:cNvPr id="30" name="Text 28"/>
          <p:cNvSpPr txBox="1"/>
          <p:nvPr/>
        </p:nvSpPr>
        <p:spPr>
          <a:xfrm>
            <a:off x="2834640" y="2414016"/>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Critères validés, prérequis obtenus</a:t>
            </a:r>
            <a:endParaRPr lang="en-US" sz="1150" dirty="0"/>
          </a:p>
        </p:txBody>
      </p:sp>
      <p:sp>
        <p:nvSpPr>
          <p:cNvPr id="31" name="Text 29"/>
          <p:cNvSpPr txBox="1"/>
          <p:nvPr/>
        </p:nvSpPr>
        <p:spPr>
          <a:xfrm>
            <a:off x="548640" y="2807208"/>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2. Socle et API</a:t>
            </a:r>
            <a:endParaRPr lang="en-US" sz="1400" dirty="0"/>
          </a:p>
        </p:txBody>
      </p:sp>
      <p:sp>
        <p:nvSpPr>
          <p:cNvPr id="32" name="box"/>
          <p:cNvSpPr/>
          <p:nvPr/>
        </p:nvSpPr>
        <p:spPr>
          <a:xfrm>
            <a:off x="7680960" y="2834640"/>
            <a:ext cx="2962656" cy="347472"/>
          </a:xfrm>
          <a:prstGeom prst="roundRect">
            <a:avLst>
              <a:gd name="adj" fmla="val 15789"/>
            </a:avLst>
          </a:prstGeom>
          <a:solidFill>
            <a:srgbClr val="E6E9ED"/>
          </a:solidFill>
          <a:ln/>
        </p:spPr>
      </p:sp>
      <p:sp>
        <p:nvSpPr>
          <p:cNvPr id="33" name="box"/>
          <p:cNvSpPr/>
          <p:nvPr/>
        </p:nvSpPr>
        <p:spPr>
          <a:xfrm>
            <a:off x="3730752" y="2834640"/>
            <a:ext cx="3950208" cy="347472"/>
          </a:xfrm>
          <a:prstGeom prst="roundRect">
            <a:avLst>
              <a:gd name="adj" fmla="val 15789"/>
            </a:avLst>
          </a:prstGeom>
          <a:solidFill>
            <a:schemeClr val="accent3"/>
          </a:solidFill>
          <a:ln/>
        </p:spPr>
      </p:sp>
      <p:sp>
        <p:nvSpPr>
          <p:cNvPr id="34" name="Text 32"/>
          <p:cNvSpPr txBox="1"/>
          <p:nvPr/>
        </p:nvSpPr>
        <p:spPr>
          <a:xfrm>
            <a:off x="3822192" y="2834640"/>
            <a:ext cx="6729984" cy="347472"/>
          </a:xfrm>
          <a:prstGeom prst="rect">
            <a:avLst/>
          </a:prstGeom>
          <a:noFill/>
          <a:ln/>
        </p:spPr>
        <p:txBody>
          <a:bodyPr wrap="square" lIns="0" tIns="0" rIns="0" bIns="0" rtlCol="0" anchor="ctr"/>
          <a:lstStyle/>
          <a:p>
            <a:pPr indent="0" marL="0">
              <a:buNone/>
            </a:pPr>
            <a:r>
              <a:rPr lang="en-US" sz="1150" b="1" dirty="0">
                <a:solidFill>
                  <a:schemeClr val="tx2"/>
                </a:solidFill>
              </a:rPr>
              <a:t>Socle, puis tests API un sprint après chaque livraison stable</a:t>
            </a:r>
            <a:endParaRPr lang="en-US" sz="1150" dirty="0"/>
          </a:p>
        </p:txBody>
      </p:sp>
      <p:sp>
        <p:nvSpPr>
          <p:cNvPr id="35" name="Text 33"/>
          <p:cNvSpPr txBox="1"/>
          <p:nvPr/>
        </p:nvSpPr>
        <p:spPr>
          <a:xfrm>
            <a:off x="548640" y="3227832"/>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3. UI ciblée</a:t>
            </a:r>
            <a:endParaRPr lang="en-US" sz="1400" dirty="0"/>
          </a:p>
        </p:txBody>
      </p:sp>
      <p:sp>
        <p:nvSpPr>
          <p:cNvPr id="36" name="box"/>
          <p:cNvSpPr/>
          <p:nvPr/>
        </p:nvSpPr>
        <p:spPr>
          <a:xfrm>
            <a:off x="7680960" y="3255264"/>
            <a:ext cx="2962656" cy="347472"/>
          </a:xfrm>
          <a:prstGeom prst="roundRect">
            <a:avLst>
              <a:gd name="adj" fmla="val 15789"/>
            </a:avLst>
          </a:prstGeom>
          <a:solidFill>
            <a:srgbClr val="E6E9ED"/>
          </a:solidFill>
          <a:ln/>
        </p:spPr>
      </p:sp>
      <p:sp>
        <p:nvSpPr>
          <p:cNvPr id="37" name="Text 35"/>
          <p:cNvSpPr txBox="1"/>
          <p:nvPr/>
        </p:nvSpPr>
        <p:spPr>
          <a:xfrm>
            <a:off x="7772400" y="3255264"/>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Parcours de bout en bout, si l'écran est stable</a:t>
            </a:r>
            <a:endParaRPr lang="en-US" sz="1150" dirty="0"/>
          </a:p>
        </p:txBody>
      </p:sp>
      <p:sp>
        <p:nvSpPr>
          <p:cNvPr id="38" name="Text 36"/>
          <p:cNvSpPr txBox="1"/>
          <p:nvPr/>
        </p:nvSpPr>
        <p:spPr>
          <a:xfrm>
            <a:off x="548640" y="3648456"/>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4. CI et portes</a:t>
            </a:r>
            <a:endParaRPr lang="en-US" sz="1400" dirty="0"/>
          </a:p>
        </p:txBody>
      </p:sp>
      <p:sp>
        <p:nvSpPr>
          <p:cNvPr id="39" name="box"/>
          <p:cNvSpPr/>
          <p:nvPr/>
        </p:nvSpPr>
        <p:spPr>
          <a:xfrm>
            <a:off x="7680960" y="3675888"/>
            <a:ext cx="3950208" cy="347472"/>
          </a:xfrm>
          <a:prstGeom prst="roundRect">
            <a:avLst>
              <a:gd name="adj" fmla="val 15789"/>
            </a:avLst>
          </a:prstGeom>
          <a:solidFill>
            <a:srgbClr val="E6E9ED"/>
          </a:solidFill>
          <a:ln/>
        </p:spPr>
      </p:sp>
      <p:sp>
        <p:nvSpPr>
          <p:cNvPr id="40" name="box"/>
          <p:cNvSpPr/>
          <p:nvPr/>
        </p:nvSpPr>
        <p:spPr>
          <a:xfrm>
            <a:off x="4718304" y="3675888"/>
            <a:ext cx="2962656" cy="347472"/>
          </a:xfrm>
          <a:prstGeom prst="roundRect">
            <a:avLst>
              <a:gd name="adj" fmla="val 15789"/>
            </a:avLst>
          </a:prstGeom>
          <a:solidFill>
            <a:schemeClr val="accent3"/>
          </a:solidFill>
          <a:ln/>
        </p:spPr>
      </p:sp>
      <p:sp>
        <p:nvSpPr>
          <p:cNvPr id="41" name="Text 39"/>
          <p:cNvSpPr txBox="1"/>
          <p:nvPr/>
        </p:nvSpPr>
        <p:spPr>
          <a:xfrm>
            <a:off x="4809744" y="3675888"/>
            <a:ext cx="6729984" cy="347472"/>
          </a:xfrm>
          <a:prstGeom prst="rect">
            <a:avLst/>
          </a:prstGeom>
          <a:noFill/>
          <a:ln/>
        </p:spPr>
        <p:txBody>
          <a:bodyPr wrap="square" lIns="0" tIns="0" rIns="0" bIns="0" rtlCol="0" anchor="ctr"/>
          <a:lstStyle/>
          <a:p>
            <a:pPr indent="0" marL="0">
              <a:buNone/>
            </a:pPr>
            <a:r>
              <a:rPr lang="en-US" sz="1150" b="1" dirty="0">
                <a:solidFill>
                  <a:schemeClr val="tx2"/>
                </a:solidFill>
              </a:rPr>
              <a:t>Smoke à chaque déploiement, résultats dans Test Plans</a:t>
            </a:r>
            <a:endParaRPr lang="en-US" sz="1150" dirty="0"/>
          </a:p>
        </p:txBody>
      </p:sp>
      <p:sp>
        <p:nvSpPr>
          <p:cNvPr id="42" name="Text 40"/>
          <p:cNvSpPr txBox="1"/>
          <p:nvPr/>
        </p:nvSpPr>
        <p:spPr>
          <a:xfrm>
            <a:off x="548640" y="4069080"/>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5. Agents</a:t>
            </a:r>
            <a:endParaRPr lang="en-US" sz="1400" dirty="0"/>
          </a:p>
        </p:txBody>
      </p:sp>
      <p:sp>
        <p:nvSpPr>
          <p:cNvPr id="43" name="box"/>
          <p:cNvSpPr/>
          <p:nvPr/>
        </p:nvSpPr>
        <p:spPr>
          <a:xfrm>
            <a:off x="2743200" y="4096512"/>
            <a:ext cx="3950208" cy="347472"/>
          </a:xfrm>
          <a:prstGeom prst="roundRect">
            <a:avLst>
              <a:gd name="adj" fmla="val 15789"/>
            </a:avLst>
          </a:prstGeom>
          <a:solidFill>
            <a:schemeClr val="accent3"/>
          </a:solidFill>
          <a:ln/>
        </p:spPr>
      </p:sp>
      <p:sp>
        <p:nvSpPr>
          <p:cNvPr id="44" name="Text 42"/>
          <p:cNvSpPr txBox="1"/>
          <p:nvPr/>
        </p:nvSpPr>
        <p:spPr>
          <a:xfrm>
            <a:off x="2834640" y="4096512"/>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Agent QC dès S4, POC Playwright ensuite</a:t>
            </a:r>
            <a:endParaRPr lang="en-US" sz="1150" dirty="0"/>
          </a:p>
        </p:txBody>
      </p:sp>
      <p:sp>
        <p:nvSpPr>
          <p:cNvPr id="45" name="box"/>
          <p:cNvSpPr/>
          <p:nvPr/>
        </p:nvSpPr>
        <p:spPr>
          <a:xfrm>
            <a:off x="548640" y="4645152"/>
            <a:ext cx="274320" cy="201168"/>
          </a:xfrm>
          <a:prstGeom prst="roundRect">
            <a:avLst>
              <a:gd name="adj" fmla="val 27273"/>
            </a:avLst>
          </a:prstGeom>
          <a:solidFill>
            <a:schemeClr val="accent3"/>
          </a:solidFill>
          <a:ln/>
        </p:spPr>
      </p:sp>
      <p:sp>
        <p:nvSpPr>
          <p:cNvPr id="46" name="Text 44"/>
          <p:cNvSpPr txBox="1"/>
          <p:nvPr/>
        </p:nvSpPr>
        <p:spPr>
          <a:xfrm>
            <a:off x="896112" y="4617720"/>
            <a:ext cx="2011680" cy="256032"/>
          </a:xfrm>
          <a:prstGeom prst="rect">
            <a:avLst/>
          </a:prstGeom>
          <a:noFill/>
          <a:ln/>
        </p:spPr>
        <p:txBody>
          <a:bodyPr wrap="square" lIns="0" tIns="0" rIns="0" bIns="0" rtlCol="0" anchor="ctr"/>
          <a:lstStyle/>
          <a:p>
            <a:pPr indent="0" marL="0">
              <a:buNone/>
            </a:pPr>
            <a:r>
              <a:rPr lang="en-US" sz="1000" dirty="0">
                <a:solidFill>
                  <a:schemeClr val="accent4"/>
                </a:solidFill>
              </a:rPr>
              <a:t>avant la passation</a:t>
            </a:r>
            <a:endParaRPr lang="en-US" sz="1000" dirty="0"/>
          </a:p>
        </p:txBody>
      </p:sp>
      <p:sp>
        <p:nvSpPr>
          <p:cNvPr id="47" name="box"/>
          <p:cNvSpPr/>
          <p:nvPr/>
        </p:nvSpPr>
        <p:spPr>
          <a:xfrm>
            <a:off x="548640" y="4937760"/>
            <a:ext cx="274320" cy="201168"/>
          </a:xfrm>
          <a:prstGeom prst="roundRect">
            <a:avLst>
              <a:gd name="adj" fmla="val 27273"/>
            </a:avLst>
          </a:prstGeom>
          <a:solidFill>
            <a:srgbClr val="E6E9ED"/>
          </a:solidFill>
          <a:ln/>
        </p:spPr>
      </p:sp>
      <p:sp>
        <p:nvSpPr>
          <p:cNvPr id="48" name="Text 46"/>
          <p:cNvSpPr txBox="1"/>
          <p:nvPr/>
        </p:nvSpPr>
        <p:spPr>
          <a:xfrm>
            <a:off x="896112" y="4910328"/>
            <a:ext cx="2103120" cy="256032"/>
          </a:xfrm>
          <a:prstGeom prst="rect">
            <a:avLst/>
          </a:prstGeom>
          <a:noFill/>
          <a:ln/>
        </p:spPr>
        <p:txBody>
          <a:bodyPr wrap="square" lIns="0" tIns="0" rIns="0" bIns="0" rtlCol="0" anchor="ctr"/>
          <a:lstStyle/>
          <a:p>
            <a:pPr indent="0" marL="0">
              <a:buNone/>
            </a:pPr>
            <a:r>
              <a:rPr lang="en-US" sz="1000" dirty="0">
                <a:solidFill>
                  <a:schemeClr val="accent4"/>
                </a:solidFill>
              </a:rPr>
              <a:t>porté par le propriétaire nommé</a:t>
            </a:r>
            <a:endParaRPr lang="en-US" sz="1000" dirty="0"/>
          </a:p>
        </p:txBody>
      </p:sp>
      <p:sp>
        <p:nvSpPr>
          <p:cNvPr id="49" name="axe"/>
          <p:cNvSpPr/>
          <p:nvPr/>
        </p:nvSpPr>
        <p:spPr>
          <a:xfrm>
            <a:off x="2743200" y="4754880"/>
            <a:ext cx="9070848" cy="0"/>
          </a:xfrm>
          <a:prstGeom prst="line">
            <a:avLst/>
          </a:prstGeom>
          <a:noFill/>
          <a:ln w="15875">
            <a:solidFill>
              <a:srgbClr val="5F6B7A"/>
            </a:solidFill>
            <a:prstDash val="solid"/>
            <a:tailEnd type="triangle"/>
          </a:ln>
        </p:spPr>
      </p:sp>
      <p:sp>
        <p:nvSpPr>
          <p:cNvPr id="50" name="jalon"/>
          <p:cNvSpPr/>
          <p:nvPr/>
        </p:nvSpPr>
        <p:spPr>
          <a:xfrm>
            <a:off x="7543800" y="4617720"/>
            <a:ext cx="274320" cy="274320"/>
          </a:xfrm>
          <a:prstGeom prst="diamond">
            <a:avLst/>
          </a:prstGeom>
          <a:solidFill>
            <a:srgbClr val="5F6B7A"/>
          </a:solidFill>
          <a:ln/>
        </p:spPr>
      </p:sp>
      <p:sp>
        <p:nvSpPr>
          <p:cNvPr id="51" name="Text 49"/>
          <p:cNvSpPr txBox="1"/>
          <p:nvPr/>
        </p:nvSpPr>
        <p:spPr>
          <a:xfrm>
            <a:off x="5852160" y="4919472"/>
            <a:ext cx="3657600" cy="274320"/>
          </a:xfrm>
          <a:prstGeom prst="rect">
            <a:avLst/>
          </a:prstGeom>
          <a:noFill/>
          <a:ln/>
        </p:spPr>
        <p:txBody>
          <a:bodyPr wrap="square" lIns="0" tIns="0" rIns="0" bIns="0" rtlCol="0" anchor="t"/>
          <a:lstStyle/>
          <a:p>
            <a:pPr algn="ctr" indent="0" marL="0">
              <a:buNone/>
            </a:pPr>
            <a:r>
              <a:rPr lang="en-US" sz="1200" b="1" dirty="0">
                <a:solidFill>
                  <a:srgbClr val="00338D"/>
                </a:solidFill>
              </a:rPr>
              <a:t>Passation de la suite · </a:t>
            </a:r>
            <a:pPr algn="ctr" indent="0" marL="0">
              <a:buNone/>
            </a:pPr>
            <a:r>
              <a:rPr lang="en-US" sz="1200" dirty="0">
                <a:solidFill>
                  <a:srgbClr val="5F6B7A"/>
                </a:solidFill>
              </a:rPr>
              <a:t>fin décembre 2026</a:t>
            </a:r>
            <a:endParaRPr lang="en-US" sz="1200" dirty="0"/>
          </a:p>
        </p:txBody>
      </p:sp>
      <p:sp>
        <p:nvSpPr>
          <p:cNvPr id="52" name="jalon"/>
          <p:cNvSpPr/>
          <p:nvPr/>
        </p:nvSpPr>
        <p:spPr>
          <a:xfrm>
            <a:off x="11296498" y="4617720"/>
            <a:ext cx="274320" cy="274320"/>
          </a:xfrm>
          <a:prstGeom prst="diamond">
            <a:avLst/>
          </a:prstGeom>
          <a:solidFill>
            <a:srgbClr val="005EB8"/>
          </a:solidFill>
          <a:ln/>
        </p:spPr>
      </p:sp>
      <p:sp>
        <p:nvSpPr>
          <p:cNvPr id="53" name="Text 51"/>
          <p:cNvSpPr txBox="1"/>
          <p:nvPr/>
        </p:nvSpPr>
        <p:spPr>
          <a:xfrm>
            <a:off x="7955280" y="4919472"/>
            <a:ext cx="3657600" cy="274320"/>
          </a:xfrm>
          <a:prstGeom prst="rect">
            <a:avLst/>
          </a:prstGeom>
          <a:noFill/>
          <a:ln/>
        </p:spPr>
        <p:txBody>
          <a:bodyPr wrap="square" lIns="0" tIns="0" rIns="0" bIns="0" rtlCol="0" anchor="t"/>
          <a:lstStyle/>
          <a:p>
            <a:pPr algn="r" indent="0" marL="0">
              <a:buNone/>
            </a:pPr>
            <a:r>
              <a:rPr lang="en-US" sz="1200" b="1" dirty="0">
                <a:solidFill>
                  <a:srgbClr val="00338D"/>
                </a:solidFill>
              </a:rPr>
              <a:t>Mise en production · </a:t>
            </a:r>
            <a:pPr algn="r" indent="0" marL="0">
              <a:buNone/>
            </a:pPr>
            <a:r>
              <a:rPr lang="en-US" sz="1200" dirty="0">
                <a:solidFill>
                  <a:srgbClr val="5F6B7A"/>
                </a:solidFill>
              </a:rPr>
              <a:t>mars 2027</a:t>
            </a:r>
            <a:endParaRPr lang="en-US" sz="1200" dirty="0"/>
          </a:p>
        </p:txBody>
      </p:sp>
      <p:sp>
        <p:nvSpPr>
          <p:cNvPr id="54" name="card"/>
          <p:cNvSpPr/>
          <p:nvPr/>
        </p:nvSpPr>
        <p:spPr>
          <a:xfrm>
            <a:off x="548640" y="5349240"/>
            <a:ext cx="11064240" cy="548640"/>
          </a:xfrm>
          <a:prstGeom prst="roundRect">
            <a:avLst>
              <a:gd name="adj" fmla="val 16667"/>
            </a:avLst>
          </a:prstGeom>
          <a:solidFill>
            <a:schemeClr val="tx2"/>
          </a:solidFill>
          <a:ln/>
        </p:spPr>
      </p:sp>
      <p:sp>
        <p:nvSpPr>
          <p:cNvPr id="55" name="Text 53"/>
          <p:cNvSpPr txBox="1"/>
          <p:nvPr/>
        </p:nvSpPr>
        <p:spPr>
          <a:xfrm>
            <a:off x="777240" y="5349240"/>
            <a:ext cx="10607040" cy="548640"/>
          </a:xfrm>
          <a:prstGeom prst="rect">
            <a:avLst/>
          </a:prstGeom>
          <a:noFill/>
          <a:ln/>
        </p:spPr>
        <p:txBody>
          <a:bodyPr wrap="square" lIns="0" tIns="0" rIns="0" bIns="0" rtlCol="0" anchor="ctr"/>
          <a:lstStyle/>
          <a:p>
            <a:pPr indent="0" marL="0">
              <a:buNone/>
            </a:pPr>
            <a:r>
              <a:rPr lang="en-US" sz="1300" b="1" dirty="0">
                <a:solidFill>
                  <a:schemeClr val="bg1"/>
                </a:solidFill>
              </a:rPr>
              <a:t>Mes deux prochaines semaines : </a:t>
            </a:r>
            <a:pPr indent="0" marL="0">
              <a:buNone/>
            </a:pPr>
            <a:r>
              <a:rPr lang="en-US" sz="1300" dirty="0">
                <a:solidFill>
                  <a:schemeClr val="bg1"/>
                </a:solidFill>
              </a:rPr>
              <a:t>critères d'entrée à valider ensemble · prérequis à obtenir : accès ITG, comptes par rôle, contrat OpenAPI · démonstration de l'agent QC sur les US existantes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InfoCAC KPMG">
  <a:themeElements>
    <a:clrScheme name="InfoCAC KPMG">
      <a:dk1>
        <a:srgbClr val="1A1A2E"/>
      </a:dk1>
      <a:lt1>
        <a:srgbClr val="FFFFFF"/>
      </a:lt1>
      <a:dk2>
        <a:srgbClr val="00338D"/>
      </a:dk2>
      <a:lt2>
        <a:srgbClr val="EEF3FA"/>
      </a:lt2>
      <a:accent1>
        <a:srgbClr val="005EB8"/>
      </a:accent1>
      <a:accent2>
        <a:srgbClr val="0091DA"/>
      </a:accent2>
      <a:accent3>
        <a:srgbClr val="B8D4F0"/>
      </a:accent3>
      <a:accent4>
        <a:srgbClr val="5F6B7A"/>
      </a:accent4>
      <a:accent5>
        <a:srgbClr val="D9E4F2"/>
      </a:accent5>
      <a:accent6>
        <a:srgbClr val="00205B"/>
      </a:accent6>
      <a:hlink>
        <a:srgbClr val="005EB8"/>
      </a:hlink>
      <a:folHlink>
        <a:srgbClr val="00338D"/>
      </a:folHlink>
    </a:clrScheme>
    <a:fontScheme name="InfoCAC KPM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InfoCAC : vision de l'automatisation des tests</dc:title>
  <dc:subject>PptxGenJS Presentation</dc:subject>
  <dc:creator>Daura</dc:creator>
  <cp:lastModifiedBy>Daura</cp:lastModifiedBy>
  <cp:revision>1</cp:revision>
  <dcterms:created xsi:type="dcterms:W3CDTF">2026-10-14T14:06:02Z</dcterms:created>
  <dcterms:modified xsi:type="dcterms:W3CDTF">2026-10-14T14:06:02Z</dcterms:modified>
</cp:coreProperties>
</file>