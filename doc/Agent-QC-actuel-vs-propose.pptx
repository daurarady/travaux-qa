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 QC" id="{cb60ade3-0637-78d5-4d17-bfc8d81ab1da}">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courte : pourquoi l'agent QC actuel produit des cas difficiles à exécuter et parfois faux, ce que propose la nouvelle version, et la comparaison des deux résultats sur la même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par ce qui fonctionne : l'agent actuel parcourt correctement les sections de l'US qui décrivent l'écran, et sa publication dans Azure DevOps est techniquement fiable. La proposition ne repart pas de zéro : elle garde ces acquis et corrige la manière d'écrire les cas et de lire les règles métier.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Relevé dans le fichier qc.agent.md du dépôt de l'équipe, sur ses cas pour l'US 417829 et dans le retour d'équipe sur un autre projet. Le défaut le plus visible : chaque cas tient en une ligne Given, When, Then, en anglais, sans dire avec quel rôle se connecter, sur quel écran partir ni quelles données préparer. Le plus grave : quand l'US est floue, il écrit quand même un résultat attendu, parce que ses consignes lui interdisent d'ajouter une section où poser une question. La publication technique dans Azure DevOps fonctionne et est conservée.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est créé une fois à partir du PRD et du DAG, puis complété après chaque US avec ce que l'équipe a validé. Il évite de traiter chaque US isolément. L'analyse lit l'US phrase par phrase, classe chaque règle (claire, à arbitrer, exploratoire), relève les préconditions et les combinaisons à tester, et rend un verdict qui dit quoi rédiger. La rédaction écrit ensuite les scénarios en français, seulement pour les règles claires. Les fichiers sont prêts : l'agent, six skills, un modèle de contexte projet et un script de contrôle sans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L'agent ne fait qu'une étape par commande et s'arrête : on relit avant de passer à la suite. Un document déposé ou un texte collé sans commande ne déclenche rien. Le contexte du projet est créé une fois à partir du PRD et du DAG, puis chaque analyse d'US propose des lignes à y ajouter : une règle confirmée, un statut, un rôle, un point à confirmer. Rien n'y entre sans source ni sans validation : sinon une erreur faite sur une US se répéterait dans toutes les suivantes. Les écritures dans Azure DevOps, les commits et les push passent par une confirmation contrôlée par un script, en plus des consignes. Le vrai verrou reste le PAT : en lecture seule pour ceux qui analysent. Ces contrôles techniques existent dans Claude Code ; dans VS Code avec Copilot, l'agent et les skills fonctionnent mais sans 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Limite de la comparaison : la sortie de l'agent actuel a été produite par l'agent de l'équipe ; notre résultat a été produit en appliquant les nouvelles consignes en dehors de cet outil. Le vrai test sera de rejouer le nouvel agent dans l'outil de l'équipe sur la même US. Comparaison faite sur la sortie de l'agent actuel (TC-001 à TC-014 et début de TC-015) et sur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 l'agent actuel n'en teste qu'un cas. Honnêteté : l'US dit qu'une entité inconnue est refusée alors que la saisie libre est impossible ; l'agent actuel ne le voit pas, la version proposée en fait une question bloquante. Les textes exacts des messages sont dans les maquettes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règle métier la plus importante de l'US, dans sa section Validation. Elle compte cinq situations : deux où la création est acceptée, trois où elle est refusée. L'agent actuel n'en teste qu'une, la plus simple. La version proposée les teste toutes ; pour chaque refus, elle vérifie aussi que la demande déjà existante n'a pas été modifiée. À droite, l'un des trois scénarios de refus, en version abrégée. Le texte exact du message d'erreur est dans les maquettes : il sera recopié dans le scénario.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à dire en une phrase : l'agent actuel sait décrire l'écran et publier, mais ses cas ne sont pas exécutables tels quels et il passe à côté des règles métier et de ce que l'US ne dit pas. La proposition garde les deux points forts et corrige les quatre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3 US de référence sont des US déjà traitées à la main, dont les cas sont validés : on connaît la bonne réponse, on peut donc juger l'agent objectivement. Zéro cas inventé est la seule cible non négociable : un cas avec un résultat inventé coûte plus de temps qu'il n'en fait gagner. Le contenu des US, du PRD et du DAG est envoyé à l'outil IA : rester dans l'outil et le périmètre de données autorisés par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 QC : actuel et proposé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 QC : ce qui ne va pas, ce qu'on propose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Comparaison sur une vraie US : 417829 « Créer une nouvelle demande »</a:t>
            </a:r>
            <a:endParaRPr lang="en-US" sz="1800" dirty="0"/>
          </a:p>
          <a:p>
            <a:pPr algn="l" indent="0" marL="0">
              <a:buNone/>
            </a:pPr>
            <a:r>
              <a:rPr lang="en-US" sz="1800" dirty="0">
                <a:solidFill>
                  <a:schemeClr val="accent3"/>
                </a:solidFill>
              </a:rPr>
              <a:t>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que l'agent actuel fait bien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bon premier jet pour décrire l'écran : on le garde comme base.</a:t>
            </a:r>
            <a:endParaRPr lang="en-US" sz="1600" dirty="0"/>
          </a:p>
        </p:txBody>
      </p:sp>
      <p:sp>
        <p:nvSpPr>
          <p:cNvPr id="4" name="card"/>
          <p:cNvSpPr/>
          <p:nvPr/>
        </p:nvSpPr>
        <p:spPr>
          <a:xfrm>
            <a:off x="548640" y="1645920"/>
            <a:ext cx="3520440" cy="1965960"/>
          </a:xfrm>
          <a:prstGeom prst="roundRect">
            <a:avLst>
              <a:gd name="adj" fmla="val 4651"/>
            </a:avLst>
          </a:prstGeom>
          <a:solidFill>
            <a:schemeClr val="bg2"/>
          </a:solidFill>
          <a:ln/>
        </p:spPr>
      </p:sp>
      <p:pic>
        <p:nvPicPr>
          <p:cNvPr id="5" name="check" descr="preencoded.png">    </p:cNvPr>
          <p:cNvPicPr>
            <a:picLocks noChangeAspect="1"/>
          </p:cNvPicPr>
          <p:nvPr/>
        </p:nvPicPr>
        <p:blipFill>
          <a:blip r:embed="rId1"/>
          <a:stretch>
            <a:fillRect/>
          </a:stretch>
        </p:blipFill>
        <p:spPr>
          <a:xfrm>
            <a:off x="731520" y="1847088"/>
            <a:ext cx="329184" cy="329184"/>
          </a:xfrm>
          <a:prstGeom prst="rect">
            <a:avLst/>
          </a:prstGeom>
        </p:spPr>
      </p:pic>
      <p:sp>
        <p:nvSpPr>
          <p:cNvPr id="6" name="Text 3"/>
          <p:cNvSpPr txBox="1"/>
          <p:nvPr/>
        </p:nvSpPr>
        <p:spPr>
          <a:xfrm>
            <a:off x="118872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Couvre l'US dans l'ordre</a:t>
            </a:r>
            <a:endParaRPr lang="en-US" sz="1450" dirty="0"/>
          </a:p>
        </p:txBody>
      </p:sp>
      <p:sp>
        <p:nvSpPr>
          <p:cNvPr id="7" name="Text 4"/>
          <p:cNvSpPr txBox="1"/>
          <p:nvPr/>
        </p:nvSpPr>
        <p:spPr>
          <a:xfrm>
            <a:off x="73152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Rôles, panneau, champs par nature, Affectée à, Millésime, Entité ID : sans oubli majeur sur l'écran</a:t>
            </a:r>
            <a:endParaRPr lang="en-US" sz="1250" dirty="0"/>
          </a:p>
        </p:txBody>
      </p:sp>
      <p:sp>
        <p:nvSpPr>
          <p:cNvPr id="8" name="card"/>
          <p:cNvSpPr/>
          <p:nvPr/>
        </p:nvSpPr>
        <p:spPr>
          <a:xfrm>
            <a:off x="4297680" y="1645920"/>
            <a:ext cx="3520440" cy="1965960"/>
          </a:xfrm>
          <a:prstGeom prst="roundRect">
            <a:avLst>
              <a:gd name="adj" fmla="val 4651"/>
            </a:avLst>
          </a:prstGeom>
          <a:solidFill>
            <a:schemeClr val="bg2"/>
          </a:solidFill>
          <a:ln/>
        </p:spPr>
      </p:sp>
      <p:pic>
        <p:nvPicPr>
          <p:cNvPr id="9" name="check" descr="preencoded.png">    </p:cNvPr>
          <p:cNvPicPr>
            <a:picLocks noChangeAspect="1"/>
          </p:cNvPicPr>
          <p:nvPr/>
        </p:nvPicPr>
        <p:blipFill>
          <a:blip r:embed="rId2"/>
          <a:stretch>
            <a:fillRect/>
          </a:stretch>
        </p:blipFill>
        <p:spPr>
          <a:xfrm>
            <a:off x="4480560" y="1847088"/>
            <a:ext cx="329184" cy="329184"/>
          </a:xfrm>
          <a:prstGeom prst="rect">
            <a:avLst/>
          </a:prstGeom>
        </p:spPr>
      </p:pic>
      <p:sp>
        <p:nvSpPr>
          <p:cNvPr id="10" name="Text 6"/>
          <p:cNvSpPr txBox="1"/>
          <p:nvPr/>
        </p:nvSpPr>
        <p:spPr>
          <a:xfrm>
            <a:off x="493776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Voit les différences entre natures</a:t>
            </a:r>
            <a:endParaRPr lang="en-US" sz="1450" dirty="0"/>
          </a:p>
        </p:txBody>
      </p:sp>
      <p:sp>
        <p:nvSpPr>
          <p:cNvPr id="11" name="Text 7"/>
          <p:cNvSpPr txBox="1"/>
          <p:nvPr/>
        </p:nvSpPr>
        <p:spPr>
          <a:xfrm>
            <a:off x="448056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TC-005 vérifie que le champ Reprise n'est pas affiché en Renouvellement</a:t>
            </a:r>
            <a:endParaRPr lang="en-US" sz="1250" dirty="0"/>
          </a:p>
        </p:txBody>
      </p:sp>
      <p:sp>
        <p:nvSpPr>
          <p:cNvPr id="12" name="card"/>
          <p:cNvSpPr/>
          <p:nvPr/>
        </p:nvSpPr>
        <p:spPr>
          <a:xfrm>
            <a:off x="8046720" y="1645920"/>
            <a:ext cx="3520440" cy="1965960"/>
          </a:xfrm>
          <a:prstGeom prst="roundRect">
            <a:avLst>
              <a:gd name="adj" fmla="val 4651"/>
            </a:avLst>
          </a:prstGeom>
          <a:solidFill>
            <a:schemeClr val="bg2"/>
          </a:solidFill>
          <a:ln/>
        </p:spPr>
      </p:sp>
      <p:pic>
        <p:nvPicPr>
          <p:cNvPr id="13" name="check" descr="preencoded.png">    </p:cNvPr>
          <p:cNvPicPr>
            <a:picLocks noChangeAspect="1"/>
          </p:cNvPicPr>
          <p:nvPr/>
        </p:nvPicPr>
        <p:blipFill>
          <a:blip r:embed="rId3"/>
          <a:stretch>
            <a:fillRect/>
          </a:stretch>
        </p:blipFill>
        <p:spPr>
          <a:xfrm>
            <a:off x="8229600" y="1847088"/>
            <a:ext cx="329184" cy="329184"/>
          </a:xfrm>
          <a:prstGeom prst="rect">
            <a:avLst/>
          </a:prstGeom>
        </p:spPr>
      </p:pic>
      <p:sp>
        <p:nvSpPr>
          <p:cNvPr id="14" name="Text 9"/>
          <p:cNvSpPr txBox="1"/>
          <p:nvPr/>
        </p:nvSpPr>
        <p:spPr>
          <a:xfrm>
            <a:off x="868680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Reste fidèle au texte de l'US</a:t>
            </a:r>
            <a:endParaRPr lang="en-US" sz="1450" dirty="0"/>
          </a:p>
        </p:txBody>
      </p:sp>
      <p:sp>
        <p:nvSpPr>
          <p:cNvPr id="15" name="Text 10"/>
          <p:cNvSpPr txBox="1"/>
          <p:nvPr/>
        </p:nvSpPr>
        <p:spPr>
          <a:xfrm>
            <a:off x="822960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Panneau à droite, liste visible (TC-004) ; millésime de -20 à +10 ans (TC-010) ; création puis redirection (TC-012)</a:t>
            </a:r>
            <a:endParaRPr lang="en-US" sz="1250" dirty="0"/>
          </a:p>
        </p:txBody>
      </p:sp>
      <p:sp>
        <p:nvSpPr>
          <p:cNvPr id="16" name="card"/>
          <p:cNvSpPr/>
          <p:nvPr/>
        </p:nvSpPr>
        <p:spPr>
          <a:xfrm>
            <a:off x="548640" y="3794760"/>
            <a:ext cx="3520440" cy="1965960"/>
          </a:xfrm>
          <a:prstGeom prst="roundRect">
            <a:avLst>
              <a:gd name="adj" fmla="val 4651"/>
            </a:avLst>
          </a:prstGeom>
          <a:solidFill>
            <a:schemeClr val="bg2"/>
          </a:solidFill>
          <a:ln/>
        </p:spPr>
      </p:sp>
      <p:pic>
        <p:nvPicPr>
          <p:cNvPr id="17" name="check" descr="preencoded.png">    </p:cNvPr>
          <p:cNvPicPr>
            <a:picLocks noChangeAspect="1"/>
          </p:cNvPicPr>
          <p:nvPr/>
        </p:nvPicPr>
        <p:blipFill>
          <a:blip r:embed="rId4"/>
          <a:stretch>
            <a:fillRect/>
          </a:stretch>
        </p:blipFill>
        <p:spPr>
          <a:xfrm>
            <a:off x="731520" y="3995928"/>
            <a:ext cx="329184" cy="329184"/>
          </a:xfrm>
          <a:prstGeom prst="rect">
            <a:avLst/>
          </a:prstGeom>
        </p:spPr>
      </p:pic>
      <p:sp>
        <p:nvSpPr>
          <p:cNvPr id="18" name="Text 12"/>
          <p:cNvSpPr txBox="1"/>
          <p:nvPr/>
        </p:nvSpPr>
        <p:spPr>
          <a:xfrm>
            <a:off x="118872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Donne parfois une donnée concrète</a:t>
            </a:r>
            <a:endParaRPr lang="en-US" sz="1450" dirty="0"/>
          </a:p>
        </p:txBody>
      </p:sp>
      <p:sp>
        <p:nvSpPr>
          <p:cNvPr id="19" name="Text 13"/>
          <p:cNvSpPr txBox="1"/>
          <p:nvPr/>
        </p:nvSpPr>
        <p:spPr>
          <a:xfrm>
            <a:off x="73152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TC-007 : « Jean Dupont », et le champ prérempli avec « Jean Dupont »</a:t>
            </a:r>
            <a:endParaRPr lang="en-US" sz="1250" dirty="0"/>
          </a:p>
        </p:txBody>
      </p:sp>
      <p:sp>
        <p:nvSpPr>
          <p:cNvPr id="20" name="card"/>
          <p:cNvSpPr/>
          <p:nvPr/>
        </p:nvSpPr>
        <p:spPr>
          <a:xfrm>
            <a:off x="4297680" y="3794760"/>
            <a:ext cx="3520440" cy="1965960"/>
          </a:xfrm>
          <a:prstGeom prst="roundRect">
            <a:avLst>
              <a:gd name="adj" fmla="val 4651"/>
            </a:avLst>
          </a:prstGeom>
          <a:solidFill>
            <a:schemeClr val="bg2"/>
          </a:solidFill>
          <a:ln/>
        </p:spPr>
      </p:sp>
      <p:pic>
        <p:nvPicPr>
          <p:cNvPr id="21" name="check" descr="preencoded.png">    </p:cNvPr>
          <p:cNvPicPr>
            <a:picLocks noChangeAspect="1"/>
          </p:cNvPicPr>
          <p:nvPr/>
        </p:nvPicPr>
        <p:blipFill>
          <a:blip r:embed="rId5"/>
          <a:stretch>
            <a:fillRect/>
          </a:stretch>
        </p:blipFill>
        <p:spPr>
          <a:xfrm>
            <a:off x="4480560" y="3995928"/>
            <a:ext cx="329184" cy="329184"/>
          </a:xfrm>
          <a:prstGeom prst="rect">
            <a:avLst/>
          </a:prstGeom>
        </p:spPr>
      </p:pic>
      <p:sp>
        <p:nvSpPr>
          <p:cNvPr id="22" name="Text 15"/>
          <p:cNvSpPr txBox="1"/>
          <p:nvPr/>
        </p:nvSpPr>
        <p:spPr>
          <a:xfrm>
            <a:off x="493776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Titres clairs, lisibles par le métier</a:t>
            </a:r>
            <a:endParaRPr lang="en-US" sz="1450" dirty="0"/>
          </a:p>
        </p:txBody>
      </p:sp>
      <p:sp>
        <p:nvSpPr>
          <p:cNvPr id="23" name="Text 16"/>
          <p:cNvSpPr txBox="1"/>
          <p:nvPr/>
        </p:nvSpPr>
        <p:spPr>
          <a:xfrm>
            <a:off x="448056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 Bouton masqué pour les autres rôles », « Champs affichés pour Nouveau »</a:t>
            </a:r>
            <a:endParaRPr lang="en-US" sz="1250" dirty="0"/>
          </a:p>
        </p:txBody>
      </p:sp>
      <p:sp>
        <p:nvSpPr>
          <p:cNvPr id="24" name="card"/>
          <p:cNvSpPr/>
          <p:nvPr/>
        </p:nvSpPr>
        <p:spPr>
          <a:xfrm>
            <a:off x="8046720" y="3794760"/>
            <a:ext cx="3520440" cy="1965960"/>
          </a:xfrm>
          <a:prstGeom prst="roundRect">
            <a:avLst>
              <a:gd name="adj" fmla="val 4651"/>
            </a:avLst>
          </a:prstGeom>
          <a:solidFill>
            <a:schemeClr val="bg2"/>
          </a:solidFill>
          <a:ln/>
        </p:spPr>
      </p:sp>
      <p:pic>
        <p:nvPicPr>
          <p:cNvPr id="25" name="check" descr="preencoded.png">    </p:cNvPr>
          <p:cNvPicPr>
            <a:picLocks noChangeAspect="1"/>
          </p:cNvPicPr>
          <p:nvPr/>
        </p:nvPicPr>
        <p:blipFill>
          <a:blip r:embed="rId6"/>
          <a:stretch>
            <a:fillRect/>
          </a:stretch>
        </p:blipFill>
        <p:spPr>
          <a:xfrm>
            <a:off x="8229600" y="3995928"/>
            <a:ext cx="329184" cy="329184"/>
          </a:xfrm>
          <a:prstGeom prst="rect">
            <a:avLst/>
          </a:prstGeom>
        </p:spPr>
      </p:pic>
      <p:sp>
        <p:nvSpPr>
          <p:cNvPr id="26" name="Text 18"/>
          <p:cNvSpPr txBox="1"/>
          <p:nvPr/>
        </p:nvSpPr>
        <p:spPr>
          <a:xfrm>
            <a:off x="868680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Publication technique solide</a:t>
            </a:r>
            <a:endParaRPr lang="en-US" sz="1450" dirty="0"/>
          </a:p>
        </p:txBody>
      </p:sp>
      <p:sp>
        <p:nvSpPr>
          <p:cNvPr id="27" name="Text 19"/>
          <p:cNvSpPr txBox="1"/>
          <p:nvPr/>
        </p:nvSpPr>
        <p:spPr>
          <a:xfrm>
            <a:off x="822960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Codes HTTP contrôlés, liens vérifiés entre cas et US dans Azure DevOps</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l'agent actuel n'est pas fiable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Il applique ses consignes à la lettre : ses défauts viennent de ses consignes, pas du modèle.</a:t>
            </a:r>
            <a:endParaRPr lang="en-US" sz="1600" dirty="0"/>
          </a:p>
        </p:txBody>
      </p:sp>
      <p:graphicFrame>
        <p:nvGraphicFramePr>
          <p:cNvPr id="4" name="table-defauts"/>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3429000"/>
                <a:gridCol w="2377440"/>
                <a:gridCol w="2743200"/>
              </a:tblGrid>
              <a:tr h="329184">
                <a:tc>
                  <a:txBody>
                    <a:bodyPr/>
                    <a:lstStyle/>
                    <a:p>
                      <a:pPr indent="0" marL="0">
                        <a:buNone/>
                      </a:pPr>
                      <a:r>
                        <a:rPr lang="en-US" sz="1200" b="1" dirty="0">
                          <a:solidFill>
                            <a:srgbClr val="FFFFFF"/>
                          </a:solidFill>
                        </a:rPr>
                        <a:t>Ce qu'il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Exemple sur l'US 417829</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Pourquoi : ses consignes</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propose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02920">
                <a:tc>
                  <a:txBody>
                    <a:bodyPr/>
                    <a:lstStyle/>
                    <a:p>
                      <a:pPr indent="0" marL="0">
                        <a:buNone/>
                      </a:pPr>
                      <a:r>
                        <a:rPr lang="en-US" sz="1000" b="1" dirty="0">
                          <a:solidFill>
                            <a:srgbClr val="1A1A2E"/>
                          </a:solidFill>
                        </a:rPr>
                        <a:t>Une phrase par scénario, sans aucun Et, en Given, When, Then</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TC-013 : « Given une entité valide, Nature Nouveau, Reprise Oui et tous les champs renseignés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Tableau imposé : un scénario par cellule ; exemple en anglais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Un bloc Gherkin en français, une ligne par étape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Ni rôle, ni écran, ni données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TC-005 : « Given le formulaire de création ouvert » ; TC-003 : « un rôle autre qu'Admin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 Given un utilisateur actif » donné en exemple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Rôle et compte, écran, données fictives dans chaque cas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1A1A2E"/>
                          </a:solidFill>
                        </a:rPr>
                        <a:t>Actions entassées ou sautées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TC-008 : « saisit un nom ou prénom … et le sélectionne » ; « tous les champs renseignés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Une seule clause When imposée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Quand puis Et : une action par ligne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Résultats invérifiables ou vagues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TC-008 : « le collaborateur est affecté » avant la création ; TC-013 : « formulaire adapté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Exemple vague copié à la lettre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Résultat exact ; un refus vérifie que rien n'a changé</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1A1A2E"/>
                          </a:solidFill>
                        </a:rPr>
                        <a:t>Règles métier oubliées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Statut de l'entité : 1 situation sur 5 ; millésime : 1 cas, sans les bornes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Aucune étape qui extrait les règles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Règles extraites de l'US, combinaisons, valeurs limites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Aucune question sur ce que l'US ne dit pas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Documents obligatoires, entité inconnue : ni cas, ni question</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 N'ajoute aucune section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Questions au PO au lieu de résultats inventés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1A1A2E"/>
                          </a:solidFill>
                        </a:rPr>
                        <a:t>Des cas en double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TC-013 et TC-014 : Reprise Oui et Non, même résultat</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Aucune règle sur les doublons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Un cas par résultat attendu distinct</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Chaque US isolée, publication automatique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Ni Feature parente ni cas existants ; un plan créé par US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Ne lit que l'US ; publication obligatoire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Contexte projet relu et enrichi après chaque US ; publication après accord</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qu'on propose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qui s'enrichit, deux étapes (analyser puis rédiger), une relecture humaine avant toute publication.</a:t>
            </a:r>
            <a:endParaRPr lang="en-US" sz="1600" dirty="0"/>
          </a:p>
        </p:txBody>
      </p:sp>
      <p:sp>
        <p:nvSpPr>
          <p:cNvPr id="4" name="etape"/>
          <p:cNvSpPr/>
          <p:nvPr/>
        </p:nvSpPr>
        <p:spPr>
          <a:xfrm>
            <a:off x="548640" y="1572768"/>
            <a:ext cx="2834640" cy="868680"/>
          </a:xfrm>
          <a:prstGeom prst="chevron">
            <a:avLst/>
          </a:prstGeom>
          <a:solidFill>
            <a:schemeClr val="tx2"/>
          </a:solidFill>
          <a:ln/>
        </p:spPr>
      </p:sp>
      <p:sp>
        <p:nvSpPr>
          <p:cNvPr id="5" name="Text 3"/>
          <p:cNvSpPr txBox="1"/>
          <p:nvPr/>
        </p:nvSpPr>
        <p:spPr>
          <a:xfrm>
            <a:off x="9601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00" dirty="0">
                <a:solidFill>
                  <a:schemeClr val="bg1"/>
                </a:solidFill>
              </a:rPr>
              <a:t>Créé depuis le PRD et le DAG, enrichi après validation</a:t>
            </a:r>
            <a:endParaRPr lang="en-US" sz="1300" dirty="0"/>
          </a:p>
        </p:txBody>
      </p:sp>
      <p:sp>
        <p:nvSpPr>
          <p:cNvPr id="6" name="etape"/>
          <p:cNvSpPr/>
          <p:nvPr/>
        </p:nvSpPr>
        <p:spPr>
          <a:xfrm>
            <a:off x="3291840" y="1572768"/>
            <a:ext cx="2834640" cy="868680"/>
          </a:xfrm>
          <a:prstGeom prst="chevron">
            <a:avLst/>
          </a:prstGeom>
          <a:solidFill>
            <a:schemeClr val="accent1"/>
          </a:solidFill>
          <a:ln/>
        </p:spPr>
      </p:sp>
      <p:sp>
        <p:nvSpPr>
          <p:cNvPr id="7" name="Text 5"/>
          <p:cNvSpPr txBox="1"/>
          <p:nvPr/>
        </p:nvSpPr>
        <p:spPr>
          <a:xfrm>
            <a:off x="37033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00" dirty="0">
                <a:solidFill>
                  <a:schemeClr val="bg1"/>
                </a:solidFill>
              </a:rPr>
              <a:t>Règles, préconditions, combinaisons, questions au PO</a:t>
            </a:r>
            <a:endParaRPr lang="en-US" sz="1300" dirty="0"/>
          </a:p>
        </p:txBody>
      </p:sp>
      <p:sp>
        <p:nvSpPr>
          <p:cNvPr id="8" name="etape"/>
          <p:cNvSpPr/>
          <p:nvPr/>
        </p:nvSpPr>
        <p:spPr>
          <a:xfrm>
            <a:off x="6035040" y="1572768"/>
            <a:ext cx="2834640" cy="868680"/>
          </a:xfrm>
          <a:prstGeom prst="chevron">
            <a:avLst/>
          </a:prstGeom>
          <a:solidFill>
            <a:schemeClr val="tx2"/>
          </a:solidFill>
          <a:ln/>
        </p:spPr>
      </p:sp>
      <p:sp>
        <p:nvSpPr>
          <p:cNvPr id="9" name="Text 7"/>
          <p:cNvSpPr txBox="1"/>
          <p:nvPr/>
        </p:nvSpPr>
        <p:spPr>
          <a:xfrm>
            <a:off x="64465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00" dirty="0">
                <a:solidFill>
                  <a:schemeClr val="bg1"/>
                </a:solidFill>
              </a:rPr>
              <a:t>Seulement pour les règles claires</a:t>
            </a:r>
            <a:endParaRPr lang="en-US" sz="1300" dirty="0"/>
          </a:p>
        </p:txBody>
      </p:sp>
      <p:sp>
        <p:nvSpPr>
          <p:cNvPr id="10" name="etape"/>
          <p:cNvSpPr/>
          <p:nvPr/>
        </p:nvSpPr>
        <p:spPr>
          <a:xfrm>
            <a:off x="8778240" y="1572768"/>
            <a:ext cx="2834640" cy="868680"/>
          </a:xfrm>
          <a:prstGeom prst="chevron">
            <a:avLst/>
          </a:prstGeom>
          <a:solidFill>
            <a:schemeClr val="accent4"/>
          </a:solidFill>
          <a:ln/>
        </p:spPr>
      </p:sp>
      <p:sp>
        <p:nvSpPr>
          <p:cNvPr id="11" name="Text 9"/>
          <p:cNvSpPr txBox="1"/>
          <p:nvPr/>
        </p:nvSpPr>
        <p:spPr>
          <a:xfrm>
            <a:off x="91897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00" dirty="0">
                <a:solidFill>
                  <a:schemeClr val="bg1"/>
                </a:solidFill>
              </a:rPr>
              <a:t>Après « oui », dans le plan existant ou en CSV</a:t>
            </a:r>
            <a:endParaRPr lang="en-US" sz="1300" dirty="0"/>
          </a:p>
        </p:txBody>
      </p:sp>
      <p:sp>
        <p:nvSpPr>
          <p:cNvPr id="12" name="Text 10"/>
          <p:cNvSpPr txBox="1"/>
          <p:nvPr/>
        </p:nvSpPr>
        <p:spPr>
          <a:xfrm>
            <a:off x="548640" y="2651760"/>
            <a:ext cx="11064240" cy="347472"/>
          </a:xfrm>
          <a:prstGeom prst="rect">
            <a:avLst/>
          </a:prstGeom>
          <a:noFill/>
          <a:ln/>
        </p:spPr>
        <p:txBody>
          <a:bodyPr wrap="square" lIns="0" tIns="0" rIns="0" bIns="0" rtlCol="0" anchor="t"/>
          <a:lstStyle/>
          <a:p>
            <a:pPr indent="0" marL="0">
              <a:buNone/>
            </a:pPr>
            <a:r>
              <a:rPr lang="en-US" sz="1600" b="1" dirty="0">
                <a:solidFill>
                  <a:schemeClr val="tx2"/>
                </a:solidFill>
              </a:rPr>
              <a:t>Chaque scénario est construit en trois blocs</a:t>
            </a:r>
            <a:endParaRPr lang="en-US" sz="1600" dirty="0"/>
          </a:p>
        </p:txBody>
      </p:sp>
      <p:sp>
        <p:nvSpPr>
          <p:cNvPr id="13" name="card"/>
          <p:cNvSpPr/>
          <p:nvPr/>
        </p:nvSpPr>
        <p:spPr>
          <a:xfrm>
            <a:off x="548640" y="3090672"/>
            <a:ext cx="3520440" cy="2148840"/>
          </a:xfrm>
          <a:prstGeom prst="roundRect">
            <a:avLst>
              <a:gd name="adj" fmla="val 4255"/>
            </a:avLst>
          </a:prstGeom>
          <a:solidFill>
            <a:schemeClr val="tx2"/>
          </a:solidFill>
          <a:ln/>
        </p:spPr>
      </p:sp>
      <p:sp>
        <p:nvSpPr>
          <p:cNvPr id="14" name="Text 12"/>
          <p:cNvSpPr txBox="1"/>
          <p:nvPr/>
        </p:nvSpPr>
        <p:spPr>
          <a:xfrm>
            <a:off x="731520" y="3182112"/>
            <a:ext cx="3200400" cy="329184"/>
          </a:xfrm>
          <a:prstGeom prst="rect">
            <a:avLst/>
          </a:prstGeom>
          <a:noFill/>
          <a:ln/>
        </p:spPr>
        <p:txBody>
          <a:bodyPr wrap="square" lIns="0" tIns="0" rIns="0" bIns="0" rtlCol="0" anchor="t"/>
          <a:lstStyle/>
          <a:p>
            <a:pPr indent="0" marL="0">
              <a:buNone/>
            </a:pPr>
            <a:r>
              <a:rPr lang="en-US" sz="1400" b="1" dirty="0">
                <a:solidFill>
                  <a:schemeClr val="bg1"/>
                </a:solidFill>
                <a:latin typeface="Courier New" pitchFamily="34" charset="0"/>
                <a:ea typeface="Courier New" pitchFamily="34" charset="-122"/>
                <a:cs typeface="Courier New" pitchFamily="34" charset="-120"/>
              </a:rPr>
              <a:t>Étant donné que … Et que …</a:t>
            </a:r>
            <a:endParaRPr lang="en-US" sz="1400" dirty="0"/>
          </a:p>
        </p:txBody>
      </p:sp>
      <p:sp>
        <p:nvSpPr>
          <p:cNvPr id="15" name="Text 13"/>
          <p:cNvSpPr txBox="1"/>
          <p:nvPr/>
        </p:nvSpPr>
        <p:spPr>
          <a:xfrm>
            <a:off x="731520" y="3529584"/>
            <a:ext cx="3200400" cy="292608"/>
          </a:xfrm>
          <a:prstGeom prst="rect">
            <a:avLst/>
          </a:prstGeom>
          <a:noFill/>
          <a:ln/>
        </p:spPr>
        <p:txBody>
          <a:bodyPr wrap="square" lIns="0" tIns="0" rIns="0" bIns="0" rtlCol="0" anchor="t"/>
          <a:lstStyle/>
          <a:p>
            <a:pPr indent="0" marL="0">
              <a:buNone/>
            </a:pPr>
            <a:r>
              <a:rPr lang="en-US" sz="1200" i="1" dirty="0">
                <a:solidFill>
                  <a:schemeClr val="accent3"/>
                </a:solidFill>
              </a:rPr>
              <a:t>Tout ce qui doit être vrai avant d'agir</a:t>
            </a:r>
            <a:endParaRPr lang="en-US" sz="1200" dirty="0"/>
          </a:p>
        </p:txBody>
      </p:sp>
      <p:sp>
        <p:nvSpPr>
          <p:cNvPr id="16" name="Text 14"/>
          <p:cNvSpPr txBox="1"/>
          <p:nvPr/>
        </p:nvSpPr>
        <p:spPr>
          <a:xfrm>
            <a:off x="73152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bg1"/>
                </a:solidFill>
              </a:rPr>
              <a:t>Qui est connecté : rôle et compte</a:t>
            </a:r>
            <a:endParaRPr lang="en-US" sz="1250" dirty="0"/>
          </a:p>
          <a:p>
            <a:pPr marL="342900" indent="-342900">
              <a:spcAft>
                <a:spcPts val="500"/>
              </a:spcAft>
              <a:buSzPct val="100000"/>
              <a:buChar char="•"/>
            </a:pPr>
            <a:r>
              <a:rPr lang="en-US" sz="1250" dirty="0">
                <a:solidFill>
                  <a:schemeClr val="bg1"/>
                </a:solidFill>
              </a:rPr>
              <a:t>Sur quel écran</a:t>
            </a:r>
            <a:endParaRPr lang="en-US" sz="1250" dirty="0"/>
          </a:p>
          <a:p>
            <a:pPr marL="342900" indent="-342900">
              <a:spcAft>
                <a:spcPts val="500"/>
              </a:spcAft>
              <a:buSzPct val="100000"/>
              <a:buChar char="•"/>
            </a:pPr>
            <a:r>
              <a:rPr lang="en-US" sz="1250" dirty="0">
                <a:solidFill>
                  <a:schemeClr val="bg1"/>
                </a:solidFill>
              </a:rPr>
              <a:t>Quelles données existent, dans quel état</a:t>
            </a:r>
            <a:endParaRPr lang="en-US" sz="1250" dirty="0"/>
          </a:p>
        </p:txBody>
      </p:sp>
      <p:sp>
        <p:nvSpPr>
          <p:cNvPr id="17" name="card"/>
          <p:cNvSpPr/>
          <p:nvPr/>
        </p:nvSpPr>
        <p:spPr>
          <a:xfrm>
            <a:off x="4297680" y="3090672"/>
            <a:ext cx="3520440" cy="2148840"/>
          </a:xfrm>
          <a:prstGeom prst="roundRect">
            <a:avLst>
              <a:gd name="adj" fmla="val 4255"/>
            </a:avLst>
          </a:prstGeom>
          <a:solidFill>
            <a:schemeClr val="bg2"/>
          </a:solidFill>
          <a:ln/>
        </p:spPr>
      </p:sp>
      <p:sp>
        <p:nvSpPr>
          <p:cNvPr id="18" name="Text 16"/>
          <p:cNvSpPr txBox="1"/>
          <p:nvPr/>
        </p:nvSpPr>
        <p:spPr>
          <a:xfrm>
            <a:off x="448056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Quand … Et …</a:t>
            </a:r>
            <a:endParaRPr lang="en-US" sz="1400" dirty="0"/>
          </a:p>
        </p:txBody>
      </p:sp>
      <p:sp>
        <p:nvSpPr>
          <p:cNvPr id="19" name="Text 17"/>
          <p:cNvSpPr txBox="1"/>
          <p:nvPr/>
        </p:nvSpPr>
        <p:spPr>
          <a:xfrm>
            <a:off x="448056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Les actions de l'utilisateur</a:t>
            </a:r>
            <a:endParaRPr lang="en-US" sz="1200" dirty="0"/>
          </a:p>
        </p:txBody>
      </p:sp>
      <p:sp>
        <p:nvSpPr>
          <p:cNvPr id="20" name="Text 18"/>
          <p:cNvSpPr txBox="1"/>
          <p:nvPr/>
        </p:nvSpPr>
        <p:spPr>
          <a:xfrm>
            <a:off x="448056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Dans l'ordre du parcours</a:t>
            </a:r>
            <a:endParaRPr lang="en-US" sz="1250" dirty="0"/>
          </a:p>
          <a:p>
            <a:pPr marL="342900" indent="-342900">
              <a:spcAft>
                <a:spcPts val="500"/>
              </a:spcAft>
              <a:buSzPct val="100000"/>
              <a:buChar char="•"/>
            </a:pPr>
            <a:r>
              <a:rPr lang="en-US" sz="1250" dirty="0">
                <a:solidFill>
                  <a:schemeClr val="tx1"/>
                </a:solidFill>
              </a:rPr>
              <a:t>Jamais une vérification</a:t>
            </a:r>
            <a:endParaRPr lang="en-US" sz="1250" dirty="0"/>
          </a:p>
          <a:p>
            <a:pPr marL="342900" indent="-342900">
              <a:spcAft>
                <a:spcPts val="500"/>
              </a:spcAft>
              <a:buSzPct val="100000"/>
              <a:buChar char="•"/>
            </a:pPr>
            <a:r>
              <a:rPr lang="en-US" sz="1250" dirty="0">
                <a:solidFill>
                  <a:schemeClr val="tx1"/>
                </a:solidFill>
              </a:rPr>
              <a:t>Un seul comportement testé</a:t>
            </a:r>
            <a:endParaRPr lang="en-US" sz="1250" dirty="0"/>
          </a:p>
        </p:txBody>
      </p:sp>
      <p:sp>
        <p:nvSpPr>
          <p:cNvPr id="21" name="card"/>
          <p:cNvSpPr/>
          <p:nvPr/>
        </p:nvSpPr>
        <p:spPr>
          <a:xfrm>
            <a:off x="8046720" y="3090672"/>
            <a:ext cx="3520440" cy="2148840"/>
          </a:xfrm>
          <a:prstGeom prst="roundRect">
            <a:avLst>
              <a:gd name="adj" fmla="val 4255"/>
            </a:avLst>
          </a:prstGeom>
          <a:solidFill>
            <a:schemeClr val="bg2"/>
          </a:solidFill>
          <a:ln/>
        </p:spPr>
      </p:sp>
      <p:sp>
        <p:nvSpPr>
          <p:cNvPr id="22" name="Text 20"/>
          <p:cNvSpPr txBox="1"/>
          <p:nvPr/>
        </p:nvSpPr>
        <p:spPr>
          <a:xfrm>
            <a:off x="822960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Alors … Et …</a:t>
            </a:r>
            <a:endParaRPr lang="en-US" sz="1400" dirty="0"/>
          </a:p>
        </p:txBody>
      </p:sp>
      <p:sp>
        <p:nvSpPr>
          <p:cNvPr id="23" name="Text 21"/>
          <p:cNvSpPr txBox="1"/>
          <p:nvPr/>
        </p:nvSpPr>
        <p:spPr>
          <a:xfrm>
            <a:off x="822960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Chaque résultat observable</a:t>
            </a:r>
            <a:endParaRPr lang="en-US" sz="1200" dirty="0"/>
          </a:p>
        </p:txBody>
      </p:sp>
      <p:sp>
        <p:nvSpPr>
          <p:cNvPr id="24" name="Text 22"/>
          <p:cNvSpPr txBox="1"/>
          <p:nvPr/>
        </p:nvSpPr>
        <p:spPr>
          <a:xfrm>
            <a:off x="822960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Statut, valeur, message exacts</a:t>
            </a:r>
            <a:endParaRPr lang="en-US" sz="1250" dirty="0"/>
          </a:p>
          <a:p>
            <a:pPr marL="342900" indent="-342900">
              <a:spcAft>
                <a:spcPts val="500"/>
              </a:spcAft>
              <a:buSzPct val="100000"/>
              <a:buChar char="•"/>
            </a:pPr>
            <a:r>
              <a:rPr lang="en-US" sz="1250" dirty="0">
                <a:solidFill>
                  <a:schemeClr val="tx1"/>
                </a:solidFill>
              </a:rPr>
              <a:t>Jamais « A ou B »</a:t>
            </a:r>
            <a:endParaRPr lang="en-US" sz="1250" dirty="0"/>
          </a:p>
          <a:p>
            <a:pPr marL="342900" indent="-342900">
              <a:spcAft>
                <a:spcPts val="500"/>
              </a:spcAft>
              <a:buSzPct val="100000"/>
              <a:buChar char="•"/>
            </a:pPr>
            <a:r>
              <a:rPr lang="en-US" sz="1250" dirty="0">
                <a:solidFill>
                  <a:schemeClr val="tx1"/>
                </a:solidFill>
              </a:rPr>
              <a:t>Un refus vérifie que rien n'a changé</a:t>
            </a:r>
            <a:endParaRPr lang="en-US" sz="1250" dirty="0"/>
          </a:p>
        </p:txBody>
      </p:sp>
      <p:sp>
        <p:nvSpPr>
          <p:cNvPr id="25" name="card"/>
          <p:cNvSpPr/>
          <p:nvPr/>
        </p:nvSpPr>
        <p:spPr>
          <a:xfrm>
            <a:off x="548640" y="5376672"/>
            <a:ext cx="11064240" cy="530352"/>
          </a:xfrm>
          <a:prstGeom prst="roundRect">
            <a:avLst>
              <a:gd name="adj" fmla="val 17241"/>
            </a:avLst>
          </a:prstGeom>
          <a:solidFill>
            <a:schemeClr val="accent5"/>
          </a:solidFill>
          <a:ln/>
        </p:spPr>
      </p:sp>
      <p:sp>
        <p:nvSpPr>
          <p:cNvPr id="26" name="Text 24"/>
          <p:cNvSpPr txBox="1"/>
          <p:nvPr/>
        </p:nvSpPr>
        <p:spPr>
          <a:xfrm>
            <a:off x="777240" y="5376672"/>
            <a:ext cx="10698480" cy="530352"/>
          </a:xfrm>
          <a:prstGeom prst="rect">
            <a:avLst/>
          </a:prstGeom>
          <a:noFill/>
          <a:ln/>
        </p:spPr>
        <p:txBody>
          <a:bodyPr wrap="square" lIns="0" tIns="0" rIns="0" bIns="0" rtlCol="0" anchor="ctr"/>
          <a:lstStyle/>
          <a:p>
            <a:pPr indent="0" marL="0">
              <a:buNone/>
            </a:pPr>
            <a:r>
              <a:rPr lang="en-US" sz="1350" b="1" dirty="0">
                <a:solidFill>
                  <a:srgbClr val="00338D"/>
                </a:solidFill>
              </a:rPr>
              <a:t>Règle d'or : </a:t>
            </a:r>
            <a:pPr indent="0" marL="0">
              <a:buNone/>
            </a:pPr>
            <a:r>
              <a:rPr lang="en-US" sz="1350" dirty="0">
                <a:solidFill>
                  <a:schemeClr val="tx1"/>
                </a:solidFill>
              </a:rPr>
              <a:t>rien d'inventé. Une règle floue ou contradictoire devient une question au PO, pas un cas de test.</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Comment l'agent travaille : une étape à la fois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Chaque commande fait une étape puis s'arrête ; le contexte ne retient que ce que l'humain a validé.</a:t>
            </a:r>
            <a:endParaRPr lang="en-US" sz="1600" dirty="0"/>
          </a:p>
        </p:txBody>
      </p:sp>
      <p:graphicFrame>
        <p:nvGraphicFramePr>
          <p:cNvPr id="6" name="table-etapes"/>
          <p:cNvGraphicFramePr>
            <a:graphicFrameLocks noGrp="1"/>
          </p:cNvGraphicFramePr>
          <p:nvPr>
            <p:extLst>
              <p:ext uri="{D42A27DB-BD31-4B8C-83A1-F6EECF244321}">
                <p14:modId xmlns:p14="http://schemas.microsoft.com/office/powerpoint/2010/main" val="1579011935"/>
              </p:ext>
            </p:extLst>
          </p:nvPr>
        </p:nvGraphicFramePr>
        <p:xfrm>
          <a:off x="548640" y="1572768"/>
          <a:ext cx="6400800" cy="914400"/>
        </p:xfrm>
        <a:graphic>
          <a:graphicData uri="http://schemas.openxmlformats.org/drawingml/2006/table">
            <a:tbl>
              <a:tblPr/>
              <a:tblGrid>
                <a:gridCol w="1783080"/>
                <a:gridCol w="2377440"/>
                <a:gridCol w="2240280"/>
              </a:tblGrid>
              <a:tr h="329184">
                <a:tc>
                  <a:txBody>
                    <a:bodyPr/>
                    <a:lstStyle/>
                    <a:p>
                      <a:pPr indent="0" marL="0">
                        <a:buNone/>
                      </a:pPr>
                      <a:r>
                        <a:rPr lang="en-US" sz="1200" b="1" dirty="0">
                          <a:solidFill>
                            <a:srgbClr val="FFFFFF"/>
                          </a:solidFill>
                        </a:rPr>
                        <a:t>Étape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Commande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S'arrête après</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420624">
                <a:tc>
                  <a:txBody>
                    <a:bodyPr/>
                    <a:lstStyle/>
                    <a:p>
                      <a:pPr indent="0" marL="0">
                        <a:buNone/>
                      </a:pPr>
                      <a:r>
                        <a:rPr lang="en-US" sz="1150" b="1" dirty="0">
                          <a:solidFill>
                            <a:srgbClr val="1A1A2E"/>
                          </a:solidFill>
                        </a:rPr>
                        <a:t>Une fois par projet</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/init-contexte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Contexte écrit, à relire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20624">
                <a:tc>
                  <a:txBody>
                    <a:bodyPr/>
                    <a:lstStyle/>
                    <a:p>
                      <a:pPr indent="0" marL="0">
                        <a:buNone/>
                      </a:pPr>
                      <a:r>
                        <a:rPr lang="en-US" sz="1150" b="1" dirty="0">
                          <a:solidFill>
                            <a:srgbClr val="1A1A2E"/>
                          </a:solidFill>
                        </a:rPr>
                        <a:t>Analyser l'US</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/us-analysis</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Analyse et propositions pour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1A1A2E"/>
                          </a:solidFill>
                        </a:rPr>
                        <a:t>Écrire les scénarios</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/gherkin-test-generation</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Scénarios contrôlés par script</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20624">
                <a:tc>
                  <a:txBody>
                    <a:bodyPr/>
                    <a:lstStyle/>
                    <a:p>
                      <a:pPr indent="0" marL="0">
                        <a:buNone/>
                      </a:pPr>
                      <a:r>
                        <a:rPr lang="en-US" sz="1150" b="1" dirty="0">
                          <a:solidFill>
                            <a:srgbClr val="1A1A2E"/>
                          </a:solidFill>
                        </a:rPr>
                        <a:t>Enrichir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/maj-contexte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Aperçu, puis « oui »</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1A1A2E"/>
                          </a:solidFill>
                        </a:rPr>
                        <a:t>Publier</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/publication-ado</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Aperçu, puis « oui » ; ou un CSV</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20624">
                <a:tc>
                  <a:txBody>
                    <a:bodyPr/>
                    <a:lstStyle/>
                    <a:p>
                      <a:pPr indent="0" marL="0">
                        <a:buNone/>
                      </a:pPr>
                      <a:r>
                        <a:rPr lang="en-US" sz="1150" b="1" dirty="0">
                          <a:solidFill>
                            <a:srgbClr val="1A1A2E"/>
                          </a:solidFill>
                        </a:rPr>
                        <a:t>Rédiger un bug</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/redaction-anomalie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Aperçu, puis « oui »</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526280"/>
            <a:ext cx="6400800" cy="365760"/>
          </a:xfrm>
          <a:prstGeom prst="rect">
            <a:avLst/>
          </a:prstGeom>
          <a:noFill/>
          <a:ln/>
        </p:spPr>
        <p:txBody>
          <a:bodyPr wrap="square" lIns="0" tIns="0" rIns="0" bIns="0" rtlCol="0" anchor="t"/>
          <a:lstStyle/>
          <a:p>
            <a:pPr indent="0" marL="0">
              <a:buNone/>
            </a:pPr>
            <a:r>
              <a:rPr lang="en-US" sz="1200" b="1" dirty="0">
                <a:solidFill>
                  <a:srgbClr val="00338D"/>
                </a:solidFill>
              </a:rPr>
              <a:t>Sans commande, rien : </a:t>
            </a:r>
            <a:pPr indent="0" marL="0">
              <a:buNone/>
            </a:pPr>
            <a:r>
              <a:rPr lang="en-US" sz="1200" dirty="0">
                <a:solidFill>
                  <a:schemeClr val="tx1"/>
                </a:solidFill>
              </a:rPr>
              <a:t>un document déposé ne lance aucune analyse ; l'agent dit ce qu'il a reçu et attend.</a:t>
            </a:r>
            <a:endParaRPr lang="en-US" sz="1200" dirty="0"/>
          </a:p>
        </p:txBody>
      </p:sp>
      <p:sp>
        <p:nvSpPr>
          <p:cNvPr id="6" name="card"/>
          <p:cNvSpPr/>
          <p:nvPr/>
        </p:nvSpPr>
        <p:spPr>
          <a:xfrm>
            <a:off x="7178040" y="1572768"/>
            <a:ext cx="4434840" cy="3319272"/>
          </a:xfrm>
          <a:prstGeom prst="roundRect">
            <a:avLst>
              <a:gd name="adj" fmla="val 2755"/>
            </a:avLst>
          </a:prstGeom>
          <a:solidFill>
            <a:schemeClr val="tx2"/>
          </a:solidFill>
          <a:ln/>
        </p:spPr>
      </p:sp>
      <p:sp>
        <p:nvSpPr>
          <p:cNvPr id="7" name="Text 4"/>
          <p:cNvSpPr txBox="1"/>
          <p:nvPr/>
        </p:nvSpPr>
        <p:spPr>
          <a:xfrm>
            <a:off x="7406640" y="1691640"/>
            <a:ext cx="4023360" cy="347472"/>
          </a:xfrm>
          <a:prstGeom prst="rect">
            <a:avLst/>
          </a:prstGeom>
          <a:noFill/>
          <a:ln/>
        </p:spPr>
        <p:txBody>
          <a:bodyPr wrap="square" lIns="0" tIns="0" rIns="0" bIns="0" rtlCol="0" anchor="t"/>
          <a:lstStyle/>
          <a:p>
            <a:pPr indent="0" marL="0">
              <a:buNone/>
            </a:pPr>
            <a:r>
              <a:rPr lang="en-US" sz="1500" b="1" dirty="0">
                <a:solidFill>
                  <a:schemeClr val="bg1"/>
                </a:solidFill>
              </a:rPr>
              <a:t>Le contexte apprend le projet</a:t>
            </a:r>
            <a:endParaRPr lang="en-US" sz="1500" dirty="0"/>
          </a:p>
        </p:txBody>
      </p:sp>
      <p:sp>
        <p:nvSpPr>
          <p:cNvPr id="8" name="Text 5"/>
          <p:cNvSpPr txBox="1"/>
          <p:nvPr/>
        </p:nvSpPr>
        <p:spPr>
          <a:xfrm>
            <a:off x="7406640" y="2148840"/>
            <a:ext cx="4023360" cy="1965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350" dirty="0">
                <a:solidFill>
                  <a:schemeClr val="bg1"/>
                </a:solidFill>
              </a:rPr>
              <a:t>L'analyse d'une US propose des lignes, chacune avec sa source</a:t>
            </a:r>
            <a:endParaRPr lang="en-US" sz="1350" dirty="0"/>
          </a:p>
          <a:p>
            <a:pPr marL="342900" indent="-342900">
              <a:spcAft>
                <a:spcPts val="1200"/>
              </a:spcAft>
              <a:buSzPct val="100000"/>
              <a:buFont typeface="+mj-lt"/>
              <a:buAutoNum type="arabicPeriod" startAt="1"/>
            </a:pPr>
            <a:r>
              <a:rPr lang="en-US" sz="1350" dirty="0">
                <a:solidFill>
                  <a:schemeClr val="bg1"/>
                </a:solidFill>
              </a:rPr>
              <a:t>La QC choisit ce qui entre</a:t>
            </a:r>
            <a:endParaRPr lang="en-US" sz="1350" dirty="0"/>
          </a:p>
          <a:p>
            <a:pPr marL="342900" indent="-342900">
              <a:spcAft>
                <a:spcPts val="1200"/>
              </a:spcAft>
              <a:buSzPct val="100000"/>
              <a:buFont typeface="+mj-lt"/>
              <a:buAutoNum type="arabicPeriod" startAt="1"/>
            </a:pPr>
            <a:r>
              <a:rPr lang="en-US" sz="1350" dirty="0">
                <a:solidFill>
                  <a:schemeClr val="bg1"/>
                </a:solidFill>
              </a:rPr>
              <a:t>/maj-contexte l'écrit ; Git garde l'historique</a:t>
            </a:r>
            <a:endParaRPr lang="en-US" sz="1350" dirty="0"/>
          </a:p>
          <a:p>
            <a:pPr marL="342900" indent="-342900">
              <a:spcAft>
                <a:spcPts val="1200"/>
              </a:spcAft>
              <a:buSzPct val="100000"/>
              <a:buFont typeface="+mj-lt"/>
              <a:buAutoNum type="arabicPeriod" startAt="1"/>
            </a:pPr>
            <a:r>
              <a:rPr lang="en-US" sz="1350" dirty="0">
                <a:solidFill>
                  <a:schemeClr val="bg1"/>
                </a:solidFill>
              </a:rPr>
              <a:t>L'US suivante en profite</a:t>
            </a:r>
            <a:endParaRPr lang="en-US" sz="1350" dirty="0"/>
          </a:p>
        </p:txBody>
      </p:sp>
      <p:sp>
        <p:nvSpPr>
          <p:cNvPr id="9" name="Text 6"/>
          <p:cNvSpPr txBox="1"/>
          <p:nvPr/>
        </p:nvSpPr>
        <p:spPr>
          <a:xfrm>
            <a:off x="7406640" y="4206240"/>
            <a:ext cx="4023360" cy="548640"/>
          </a:xfrm>
          <a:prstGeom prst="rect">
            <a:avLst/>
          </a:prstGeom>
          <a:noFill/>
          <a:ln/>
        </p:spPr>
        <p:txBody>
          <a:bodyPr wrap="square" lIns="0" tIns="0" rIns="0" bIns="0" rtlCol="0" anchor="t"/>
          <a:lstStyle/>
          <a:p>
            <a:pPr indent="0" marL="0">
              <a:buNone/>
            </a:pPr>
            <a:r>
              <a:rPr lang="en-US" sz="1200" i="1" dirty="0">
                <a:solidFill>
                  <a:schemeClr val="accent3"/>
                </a:solidFill>
              </a:rPr>
              <a:t>Une hypothèse ou une question encore ouverte n'entre jamais.</a:t>
            </a:r>
            <a:endParaRPr lang="en-US" sz="1200" dirty="0"/>
          </a:p>
        </p:txBody>
      </p:sp>
      <p:sp>
        <p:nvSpPr>
          <p:cNvPr id="10" name="card"/>
          <p:cNvSpPr/>
          <p:nvPr/>
        </p:nvSpPr>
        <p:spPr>
          <a:xfrm>
            <a:off x="548640" y="5074920"/>
            <a:ext cx="11064240" cy="868680"/>
          </a:xfrm>
          <a:prstGeom prst="roundRect">
            <a:avLst>
              <a:gd name="adj" fmla="val 10526"/>
            </a:avLst>
          </a:prstGeom>
          <a:solidFill>
            <a:schemeClr val="accent5"/>
          </a:solidFill>
          <a:ln/>
        </p:spPr>
      </p:sp>
      <p:sp>
        <p:nvSpPr>
          <p:cNvPr id="11" name="icon-circle"/>
          <p:cNvSpPr/>
          <p:nvPr/>
        </p:nvSpPr>
        <p:spPr>
          <a:xfrm>
            <a:off x="685800" y="5257800"/>
            <a:ext cx="493776" cy="493776"/>
          </a:xfrm>
          <a:prstGeom prst="ellipse">
            <a:avLst/>
          </a:prstGeom>
          <a:solidFill>
            <a:schemeClr val="accent1"/>
          </a:solidFill>
          <a:ln/>
        </p:spPr>
      </p:sp>
      <p:pic>
        <p:nvPicPr>
          <p:cNvPr id="12" name="icon" descr="preencoded.png">    </p:cNvPr>
          <p:cNvPicPr>
            <a:picLocks noChangeAspect="1"/>
          </p:cNvPicPr>
          <p:nvPr/>
        </p:nvPicPr>
        <p:blipFill>
          <a:blip r:embed="rId1"/>
          <a:stretch>
            <a:fillRect/>
          </a:stretch>
        </p:blipFill>
        <p:spPr>
          <a:xfrm>
            <a:off x="794431" y="5366431"/>
            <a:ext cx="276515" cy="276515"/>
          </a:xfrm>
          <a:prstGeom prst="rect">
            <a:avLst/>
          </a:prstGeom>
        </p:spPr>
      </p:pic>
      <p:sp>
        <p:nvSpPr>
          <p:cNvPr id="13" name="Text 9"/>
          <p:cNvSpPr txBox="1"/>
          <p:nvPr/>
        </p:nvSpPr>
        <p:spPr>
          <a:xfrm>
            <a:off x="1325880" y="5074920"/>
            <a:ext cx="10149840" cy="868680"/>
          </a:xfrm>
          <a:prstGeom prst="rect">
            <a:avLst/>
          </a:prstGeom>
          <a:noFill/>
          <a:ln/>
        </p:spPr>
        <p:txBody>
          <a:bodyPr wrap="square" lIns="0" tIns="0" rIns="0" bIns="0" rtlCol="0" anchor="ctr"/>
          <a:lstStyle/>
          <a:p>
            <a:pPr indent="0" marL="0">
              <a:buNone/>
            </a:pPr>
            <a:r>
              <a:rPr lang="en-US" sz="1200" b="1" dirty="0">
                <a:solidFill>
                  <a:srgbClr val="00338D"/>
                </a:solidFill>
              </a:rPr>
              <a:t>Contrôlé par script : </a:t>
            </a:r>
            <a:pPr indent="0" marL="0">
              <a:buNone/>
            </a:pPr>
            <a:r>
              <a:rPr lang="en-US" sz="1200" dirty="0">
                <a:solidFill>
                  <a:schemeClr val="tx1"/>
                </a:solidFill>
              </a:rPr>
              <a:t>écriture dans Azure DevOps, commit et push demandent confirmation ; suppression et affichage du PAT sont refusés.</a:t>
            </a:r>
            <a:endParaRPr lang="en-US" sz="1200" dirty="0"/>
          </a:p>
          <a:p>
            <a:pPr indent="0" marL="0">
              <a:buNone/>
            </a:pPr>
            <a:r>
              <a:rPr lang="en-US" sz="1200" b="1" dirty="0">
                <a:solidFill>
                  <a:srgbClr val="00338D"/>
                </a:solidFill>
              </a:rPr>
              <a:t>Outils : </a:t>
            </a:r>
            <a:pPr indent="0" marL="0">
              <a:buNone/>
            </a:pPr>
            <a:r>
              <a:rPr lang="en-US" sz="1200" dirty="0">
                <a:solidFill>
                  <a:schemeClr val="tx1"/>
                </a:solidFill>
              </a:rPr>
              <a:t>complet dans Claude Code ; dans VS Code avec Copilot, l'agent et les skills sont lus, pas ces contrôles.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résultats comparés sur l'US 417829</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Même US « Créer une nouvelle demande ». Notre résultat est un premier essai, à rejouer avec le nouvel agent dans l'outil de l'équipe.</a:t>
            </a:r>
            <a:endParaRPr lang="en-US" sz="1600" dirty="0"/>
          </a:p>
        </p:txBody>
      </p:sp>
      <p:graphicFrame>
        <p:nvGraphicFramePr>
          <p:cNvPr id="7"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286000"/>
                <a:gridCol w="4206240"/>
                <a:gridCol w="457200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Version proposée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29768">
                <a:tc>
                  <a:txBody>
                    <a:bodyPr/>
                    <a:lstStyle/>
                    <a:p>
                      <a:pPr indent="0" marL="0">
                        <a:buNone/>
                      </a:pPr>
                      <a:r>
                        <a:rPr lang="en-US" sz="1100" b="1" dirty="0">
                          <a:solidFill>
                            <a:srgbClr val="1A1A2E"/>
                          </a:solidFill>
                        </a:rPr>
                        <a:t>Forme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Une ligne Given, When, Then en anglais par cas ; « Fonctionnel » partout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préconditions, actions et résultats sur des lignes séparées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Préconditions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Given le formulaire ouvert » : ni rôle, ni écran ; « une entité valide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Rôle et compte, écran de départ, entité et statut de sa demande, documents joints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Rôles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 un rôle autre qu'Admin ou SuperAdmin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Rôle User nommé, avec son compte de test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Règle de validation : statut de l'entité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cas sur 5 : entité sans demande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5 cas : aucune demande et Validé acceptés ; En cours, Retard, Révision refusés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Champs obligatoires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1 cas générique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1 cas par champ, avec « aucune demande créée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Bornes du millésime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cas « de -20 à +10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4 cas : les bornes et les valeurs juste au-delà</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Doublons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Reprise Oui et Reprise Non : même résultat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Aucun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Ce que l'US ne dit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question ; la contradiction sur l'entité inconnue n'est pas vue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9 questions au PO, dont 2 bloquantes (entité inconnue, documents)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Volume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 moins 15 cas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23 lignes exécutables, chacune avec sa raison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5" name="Text 2"/>
          <p:cNvSpPr txBox="1"/>
          <p:nvPr/>
        </p:nvSpPr>
        <p:spPr>
          <a:xfrm>
            <a:off x="548640" y="5943600"/>
            <a:ext cx="11064240" cy="310896"/>
          </a:xfrm>
          <a:prstGeom prst="rect">
            <a:avLst/>
          </a:prstGeom>
          <a:noFill/>
          <a:ln/>
        </p:spPr>
        <p:txBody>
          <a:bodyPr wrap="square" lIns="0" tIns="0" rIns="0" bIns="0" rtlCol="0" anchor="t"/>
          <a:lstStyle/>
          <a:p>
            <a:pPr indent="0" marL="0">
              <a:buNone/>
            </a:pPr>
            <a:r>
              <a:rPr lang="en-US" sz="1200" b="1" dirty="0">
                <a:solidFill>
                  <a:srgbClr val="00338D"/>
                </a:solidFill>
              </a:rPr>
              <a:t>Gardé de l'agent actuel : </a:t>
            </a:r>
            <a:pPr indent="0" marL="0">
              <a:buNone/>
            </a:pPr>
            <a:r>
              <a:rPr lang="en-US" sz="1200" dirty="0">
                <a:solidFill>
                  <a:schemeClr val="tx1"/>
                </a:solidFill>
              </a:rPr>
              <a:t>Reprise absente en Renouvellement, valeur par défaut concrète, ouverture du panneau, recherche d'un collaborateur.</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 règle de validation : 5 situations, 1 seule testée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Avant de créer une demande, le système regarde si l'entité a déjà une demande, et dans quel statut.</a:t>
            </a:r>
            <a:endParaRPr lang="en-US" sz="1600" dirty="0"/>
          </a:p>
        </p:txBody>
      </p:sp>
      <p:graphicFrame>
        <p:nvGraphicFramePr>
          <p:cNvPr id="8" name="table-situations"/>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3108960"/>
                <a:gridCol w="3017520"/>
                <a:gridCol w="2103120"/>
                <a:gridCol w="2834640"/>
              </a:tblGrid>
              <a:tr h="365760">
                <a:tc>
                  <a:txBody>
                    <a:bodyPr/>
                    <a:lstStyle/>
                    <a:p>
                      <a:pPr indent="0" marL="0">
                        <a:buNone/>
                      </a:pPr>
                      <a:r>
                        <a:rPr lang="en-US" sz="1200" b="1" dirty="0">
                          <a:solidFill>
                            <a:srgbClr val="FFFFFF"/>
                          </a:solidFill>
                        </a:rPr>
                        <a:t>Situation de l'entité</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que dit l'US</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Version proposée</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57200">
                <a:tc>
                  <a:txBody>
                    <a:bodyPr/>
                    <a:lstStyle/>
                    <a:p>
                      <a:pPr indent="0" marL="0">
                        <a:buNone/>
                      </a:pPr>
                      <a:r>
                        <a:rPr lang="en-US" sz="1250" b="1" dirty="0">
                          <a:solidFill>
                            <a:srgbClr val="1A1A2E"/>
                          </a:solidFill>
                        </a:rPr>
                        <a:t>L'entité n'a aucune demande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Création acceptée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2E7D4F"/>
                          </a:solidFill>
                        </a:rPr>
                        <a:t>Testé (TC-012)</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250" b="1" dirty="0">
                          <a:solidFill>
                            <a:srgbClr val="2E7D4F"/>
                          </a:solidFill>
                        </a:rPr>
                        <a:t>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Validée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Création acceptée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En cours</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Création refusée, message d'erreur</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 demande existante inchangée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en Retard</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Création refusée, message d'erreur</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 demande existante inchangée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en Révision</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Création refusée, message d'erreur</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 demande existante inchangée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5" name="card"/>
          <p:cNvSpPr/>
          <p:nvPr/>
        </p:nvSpPr>
        <p:spPr>
          <a:xfrm>
            <a:off x="548640" y="4526280"/>
            <a:ext cx="3931920" cy="1371600"/>
          </a:xfrm>
          <a:prstGeom prst="roundRect">
            <a:avLst>
              <a:gd name="adj" fmla="val 6667"/>
            </a:avLst>
          </a:prstGeom>
          <a:solidFill>
            <a:schemeClr val="tx2"/>
          </a:solidFill>
          <a:ln/>
        </p:spPr>
      </p:sp>
      <p:sp>
        <p:nvSpPr>
          <p:cNvPr id="6" name="Text 3"/>
          <p:cNvSpPr txBox="1"/>
          <p:nvPr/>
        </p:nvSpPr>
        <p:spPr>
          <a:xfrm>
            <a:off x="777240" y="4526280"/>
            <a:ext cx="3566160" cy="1371600"/>
          </a:xfrm>
          <a:prstGeom prst="rect">
            <a:avLst/>
          </a:prstGeom>
          <a:noFill/>
          <a:ln/>
        </p:spPr>
        <p:txBody>
          <a:bodyPr wrap="square" lIns="0" tIns="0" rIns="0" bIns="0" rtlCol="0" anchor="ctr"/>
          <a:lstStyle/>
          <a:p>
            <a:pPr indent="0" marL="0">
              <a:buNone/>
            </a:pPr>
            <a:r>
              <a:rPr lang="en-US" sz="1450" b="1" dirty="0">
                <a:solidFill>
                  <a:schemeClr val="bg1"/>
                </a:solidFill>
              </a:rPr>
              <a:t>Pourquoi c'est important</a:t>
            </a:r>
            <a:endParaRPr lang="en-US" sz="1200" dirty="0"/>
          </a:p>
          <a:p>
            <a:pPr indent="0" marL="0">
              <a:buNone/>
            </a:pPr>
            <a:r>
              <a:rPr lang="en-US" sz="1200" dirty="0">
                <a:solidFill>
                  <a:schemeClr val="bg1"/>
                </a:solidFill>
              </a:rPr>
              <a:t>Les trois refus empêchent de créer deux demandes en parallèle pour la même entité. Si cette règle casse, aucun cas actuel ne le verra.</a:t>
            </a:r>
            <a:endParaRPr lang="en-US" sz="1200" dirty="0"/>
          </a:p>
        </p:txBody>
      </p:sp>
      <p:sp>
        <p:nvSpPr>
          <p:cNvPr id="7" name="card"/>
          <p:cNvSpPr/>
          <p:nvPr/>
        </p:nvSpPr>
        <p:spPr>
          <a:xfrm>
            <a:off x="4663440" y="4526280"/>
            <a:ext cx="6949440" cy="1371600"/>
          </a:xfrm>
          <a:prstGeom prst="roundRect">
            <a:avLst>
              <a:gd name="adj" fmla="val 6667"/>
            </a:avLst>
          </a:prstGeom>
          <a:solidFill>
            <a:srgbClr val="DCEFE2"/>
          </a:solidFill>
          <a:ln/>
        </p:spPr>
      </p:sp>
      <p:sp>
        <p:nvSpPr>
          <p:cNvPr id="8" name="Text 5"/>
          <p:cNvSpPr txBox="1"/>
          <p:nvPr/>
        </p:nvSpPr>
        <p:spPr>
          <a:xfrm>
            <a:off x="4800600" y="4572000"/>
            <a:ext cx="6720840" cy="1280160"/>
          </a:xfrm>
          <a:prstGeom prst="rect">
            <a:avLst/>
          </a:prstGeom>
          <a:noFill/>
          <a:ln/>
        </p:spPr>
        <p:txBody>
          <a:bodyPr wrap="square" lIns="0" tIns="0" rIns="0" bIns="0"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Étant donné que l'utilisateur "ADM-TEST-01" est connecté avec le rôle "Admin"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l'entité "ENT-TEST-03" a une demande "DEM-TEST-03" au statut "En cours"</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tous les champs obligatoires sont renseignés avec l'entité "ENT-TEST-03"</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Quand il clique sur "Valider la création"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Alors un message d'erreur s'affiche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aucune nouvelle demande n'est créée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la demande "DEM-TEST-03" est toujours au statut "En cours"</a:t>
            </a:r>
            <a:endParaRPr lang="en-US" sz="9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Bilan de l'agent actuel</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Bon pour décrire l'écran et publier, insuffisant pour écrire des cas exécutables et couvrir les règles métier.</a:t>
            </a:r>
            <a:endParaRPr lang="en-US" sz="1600" dirty="0"/>
          </a:p>
        </p:txBody>
      </p:sp>
      <p:graphicFrame>
        <p:nvGraphicFramePr>
          <p:cNvPr id="9" name="table-bila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206240"/>
                <a:gridCol w="1737360"/>
                <a:gridCol w="5120640"/>
              </a:tblGrid>
              <a:tr h="384048">
                <a:tc>
                  <a:txBody>
                    <a:bodyPr/>
                    <a:lstStyle/>
                    <a:p>
                      <a:pPr indent="0" marL="0">
                        <a:buNone/>
                      </a:pPr>
                      <a:r>
                        <a:rPr lang="en-US" sz="1200" b="1" dirty="0">
                          <a:solidFill>
                            <a:srgbClr val="FFFFFF"/>
                          </a:solidFill>
                        </a:rPr>
                        <a:t>Domaine</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fait</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66928">
                <a:tc>
                  <a:txBody>
                    <a:bodyPr/>
                    <a:lstStyle/>
                    <a:p>
                      <a:pPr indent="0" marL="0">
                        <a:buNone/>
                      </a:pPr>
                      <a:r>
                        <a:rPr lang="en-US" sz="1300" b="1" dirty="0">
                          <a:solidFill>
                            <a:srgbClr val="1A1A2E"/>
                          </a:solidFill>
                        </a:rPr>
                        <a:t>Lecture de l'écran (accès, panneau, champs)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Publication technique dans Azure DevOps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Gardée, après relecture et accord</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Forme Gherkin : langue, Et, une ligne par étape</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Gherkin en français, une ligne par précondition, action et résultat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Préconditions et données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Rôle, compte, écran et données nommés dans chaque cas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Règles métier de la validation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Règles extraites de l'US, toutes les situations testées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Regard critique sur l'US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23B3B"/>
                          </a:solidFill>
                        </a:rPr>
                        <a:t>Absent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300" dirty="0">
                          <a:solidFill>
                            <a:srgbClr val="00338D"/>
                          </a:solidFill>
                        </a:rPr>
                        <a:t>Questions au PO au lieu de résultats inventés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Prochaines étapes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Mesurer sur des US déjà traitées avant de remplacer les consignes de l'agent.</a:t>
            </a:r>
            <a:endParaRPr lang="en-US" sz="1600" dirty="0"/>
          </a:p>
        </p:txBody>
      </p:sp>
      <p:sp>
        <p:nvSpPr>
          <p:cNvPr id="4" name="Text 2"/>
          <p:cNvSpPr txBox="1"/>
          <p:nvPr/>
        </p:nvSpPr>
        <p:spPr>
          <a:xfrm>
            <a:off x="548640" y="1691640"/>
            <a:ext cx="6035040" cy="402336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500" dirty="0">
                <a:solidFill>
                  <a:schemeClr val="tx1"/>
                </a:solidFill>
              </a:rPr>
              <a:t>Créer le contexte projet depuis le PRD et le DAG, puis le faire relire</a:t>
            </a:r>
            <a:endParaRPr lang="en-US" sz="1500" dirty="0"/>
          </a:p>
          <a:p>
            <a:pPr marL="342900" indent="-342900">
              <a:spcAft>
                <a:spcPts val="1400"/>
              </a:spcAft>
              <a:buSzPct val="100000"/>
              <a:buFont typeface="+mj-lt"/>
              <a:buAutoNum type="arabicPeriod" startAt="1"/>
            </a:pPr>
            <a:r>
              <a:rPr lang="en-US" sz="1500" dirty="0">
                <a:solidFill>
                  <a:schemeClr val="tx1"/>
                </a:solidFill>
              </a:rPr>
              <a:t>Rejouer le nouvel agent sur 3 US déjà traitées à la main</a:t>
            </a:r>
            <a:endParaRPr lang="en-US" sz="1500" dirty="0"/>
          </a:p>
          <a:p>
            <a:pPr marL="342900" indent="-342900">
              <a:spcAft>
                <a:spcPts val="1400"/>
              </a:spcAft>
              <a:buSzPct val="100000"/>
              <a:buFont typeface="+mj-lt"/>
              <a:buAutoNum type="arabicPeriod" startAt="1"/>
            </a:pPr>
            <a:r>
              <a:rPr lang="en-US" sz="1500" dirty="0">
                <a:solidFill>
                  <a:schemeClr val="tx1"/>
                </a:solidFill>
              </a:rPr>
              <a:t>Comparer ses cas aux cas validés, critère par critère</a:t>
            </a:r>
            <a:endParaRPr lang="en-US" sz="1500" dirty="0"/>
          </a:p>
          <a:p>
            <a:pPr marL="342900" indent="-342900">
              <a:spcAft>
                <a:spcPts val="1400"/>
              </a:spcAft>
              <a:buSzPct val="100000"/>
              <a:buFont typeface="+mj-lt"/>
              <a:buAutoNum type="arabicPeriod" startAt="1"/>
            </a:pPr>
            <a:r>
              <a:rPr lang="en-US" sz="1500" dirty="0">
                <a:solidFill>
                  <a:schemeClr val="tx1"/>
                </a:solidFill>
              </a:rPr>
              <a:t>Mesurer : cas inventés (cible : zéro), cas acceptés sans réécriture, temps de rédaction</a:t>
            </a:r>
            <a:endParaRPr lang="en-US" sz="1500" dirty="0"/>
          </a:p>
          <a:p>
            <a:pPr marL="342900" indent="-342900">
              <a:spcAft>
                <a:spcPts val="1400"/>
              </a:spcAft>
              <a:buSzPct val="100000"/>
              <a:buFont typeface="+mj-lt"/>
              <a:buAutoNum type="arabicPeriod" startAt="1"/>
            </a:pPr>
            <a:r>
              <a:rPr lang="en-US" sz="1500" dirty="0">
                <a:solidFill>
                  <a:schemeClr val="tx1"/>
                </a:solidFill>
              </a:rPr>
              <a:t>Publier d'abord en CSV, dans une suite de test dédiée</a:t>
            </a:r>
            <a:endParaRPr lang="en-US" sz="1500" dirty="0"/>
          </a:p>
        </p:txBody>
      </p:sp>
      <p:sp>
        <p:nvSpPr>
          <p:cNvPr id="5" name="card"/>
          <p:cNvSpPr/>
          <p:nvPr/>
        </p:nvSpPr>
        <p:spPr>
          <a:xfrm>
            <a:off x="6949440" y="1691640"/>
            <a:ext cx="4663440" cy="2331720"/>
          </a:xfrm>
          <a:prstGeom prst="roundRect">
            <a:avLst>
              <a:gd name="adj" fmla="val 3922"/>
            </a:avLst>
          </a:prstGeom>
          <a:solidFill>
            <a:schemeClr val="tx2"/>
          </a:solidFill>
          <a:ln/>
        </p:spPr>
      </p:sp>
      <p:sp>
        <p:nvSpPr>
          <p:cNvPr id="6" name="Text 4"/>
          <p:cNvSpPr txBox="1"/>
          <p:nvPr/>
        </p:nvSpPr>
        <p:spPr>
          <a:xfrm>
            <a:off x="7178040" y="1828800"/>
            <a:ext cx="4206240" cy="365760"/>
          </a:xfrm>
          <a:prstGeom prst="rect">
            <a:avLst/>
          </a:prstGeom>
          <a:noFill/>
          <a:ln/>
        </p:spPr>
        <p:txBody>
          <a:bodyPr wrap="square" lIns="0" tIns="0" rIns="0" bIns="0" rtlCol="0" anchor="t"/>
          <a:lstStyle/>
          <a:p>
            <a:pPr indent="0" marL="0">
              <a:buNone/>
            </a:pPr>
            <a:r>
              <a:rPr lang="en-US" sz="1600" b="1" dirty="0">
                <a:solidFill>
                  <a:schemeClr val="bg1"/>
                </a:solidFill>
              </a:rPr>
              <a:t>Ce qu'on demande</a:t>
            </a:r>
            <a:endParaRPr lang="en-US" sz="1600" dirty="0"/>
          </a:p>
        </p:txBody>
      </p:sp>
      <p:sp>
        <p:nvSpPr>
          <p:cNvPr id="7" name="Text 5"/>
          <p:cNvSpPr txBox="1"/>
          <p:nvPr/>
        </p:nvSpPr>
        <p:spPr>
          <a:xfrm>
            <a:off x="7178040" y="2240280"/>
            <a:ext cx="4251960" cy="1737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bg1"/>
                </a:solidFill>
              </a:rPr>
              <a:t>Valider la démarche</a:t>
            </a:r>
            <a:endParaRPr lang="en-US" sz="1350" dirty="0"/>
          </a:p>
          <a:p>
            <a:pPr marL="342900" indent="-342900">
              <a:spcAft>
                <a:spcPts val="600"/>
              </a:spcAft>
              <a:buSzPct val="100000"/>
              <a:buChar char="•"/>
            </a:pPr>
            <a:r>
              <a:rPr lang="en-US" sz="1350" dirty="0">
                <a:solidFill>
                  <a:schemeClr val="bg1"/>
                </a:solidFill>
              </a:rPr>
              <a:t>Choisir les 3 US de référence</a:t>
            </a:r>
            <a:endParaRPr lang="en-US" sz="1350" dirty="0"/>
          </a:p>
          <a:p>
            <a:pPr marL="342900" indent="-342900">
              <a:spcAft>
                <a:spcPts val="600"/>
              </a:spcAft>
              <a:buSzPct val="100000"/>
              <a:buChar char="•"/>
            </a:pPr>
            <a:r>
              <a:rPr lang="en-US" sz="1350" dirty="0">
                <a:solidFill>
                  <a:schemeClr val="bg1"/>
                </a:solidFill>
              </a:rPr>
              <a:t>Un accès au dépôt pour l'installer</a:t>
            </a:r>
            <a:endParaRPr lang="en-US" sz="1350" dirty="0"/>
          </a:p>
          <a:p>
            <a:pPr marL="342900" indent="-342900">
              <a:spcAft>
                <a:spcPts val="600"/>
              </a:spcAft>
              <a:buSzPct val="100000"/>
              <a:buChar char="•"/>
            </a:pPr>
            <a:r>
              <a:rPr lang="en-US" sz="1350" dirty="0">
                <a:solidFill>
                  <a:schemeClr val="bg1"/>
                </a:solidFill>
              </a:rPr>
              <a:t>L'accord pour envoyer le PRD et le DAG à l'outil IA</a:t>
            </a:r>
            <a:endParaRPr lang="en-US" sz="1350" dirty="0"/>
          </a:p>
        </p:txBody>
      </p:sp>
      <p:sp>
        <p:nvSpPr>
          <p:cNvPr id="8" name="card"/>
          <p:cNvSpPr/>
          <p:nvPr/>
        </p:nvSpPr>
        <p:spPr>
          <a:xfrm>
            <a:off x="6949440" y="4206240"/>
            <a:ext cx="4663440" cy="822960"/>
          </a:xfrm>
          <a:prstGeom prst="roundRect">
            <a:avLst>
              <a:gd name="adj" fmla="val 11111"/>
            </a:avLst>
          </a:prstGeom>
          <a:solidFill>
            <a:schemeClr val="accent5"/>
          </a:solidFill>
          <a:ln/>
        </p:spPr>
      </p:sp>
      <p:sp>
        <p:nvSpPr>
          <p:cNvPr id="9" name="Text 7"/>
          <p:cNvSpPr txBox="1"/>
          <p:nvPr/>
        </p:nvSpPr>
        <p:spPr>
          <a:xfrm>
            <a:off x="7178040" y="4206240"/>
            <a:ext cx="4297680" cy="822960"/>
          </a:xfrm>
          <a:prstGeom prst="rect">
            <a:avLst/>
          </a:prstGeom>
          <a:noFill/>
          <a:ln/>
        </p:spPr>
        <p:txBody>
          <a:bodyPr wrap="square" lIns="0" tIns="0" rIns="0" bIns="0" rtlCol="0" anchor="ctr"/>
          <a:lstStyle/>
          <a:p>
            <a:pPr indent="0" marL="0">
              <a:buNone/>
            </a:pPr>
            <a:r>
              <a:rPr lang="en-US" sz="1300" b="1" dirty="0">
                <a:solidFill>
                  <a:srgbClr val="00338D"/>
                </a:solidFill>
              </a:rPr>
              <a:t>Si les mesures ne sont pas meilleures, </a:t>
            </a:r>
            <a:pPr indent="0" marL="0">
              <a:buNone/>
            </a:pPr>
            <a:r>
              <a:rPr lang="en-US" sz="1300" dirty="0">
                <a:solidFill>
                  <a:schemeClr val="tx1"/>
                </a:solidFill>
              </a:rPr>
              <a:t>on garde l'agent actuel.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QC : actuel et proposé</dc:title>
  <dc:subject>PptxGenJS Presentation</dc:subject>
  <dc:creator>Daura</dc:creator>
  <cp:lastModifiedBy>Daura</cp:lastModifiedBy>
  <cp:revision>1</cp:revision>
  <dcterms:created xsi:type="dcterms:W3CDTF">2026-10-20T15:25:08Z</dcterms:created>
  <dcterms:modified xsi:type="dcterms:W3CDTF">2026-10-20T15:25:08Z</dcterms:modified>
</cp:coreProperties>
</file>