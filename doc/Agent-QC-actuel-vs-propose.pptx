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t QC" id="{dc390719-2bad-3e7c-4243-0452e595971e}">
          <p14:sldIdLst>
            <p14:sldId id="256"/>
            <p14:sldId id="257"/>
            <p14:sldId id="258"/>
            <p14:sldId id="259"/>
            <p14:sldId id="260"/>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courte : pourquoi l'agent QC actuel produit des cas difficiles à exécuter et parfois faux, ce que propose la nouvelle version, et la comparaison des deux résultats sur la même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Commencer par ce qui fonctionne : l'agent actuel parcourt correctement les sections de l'US qui décrivent l'écran, et sa publication dans Azure DevOps est techniquement fiable. La proposition ne repart pas de zéro : elle garde ces acquis et corrige la manière d'écrire les cas et de lire les règles métier.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Relevé dans le fichier qc.agent.md du dépôt de l'équipe, sur ses cas pour l'US 417829 et dans le retour d'équipe sur un autre projet. Le défaut le plus visible : chaque cas tient en une ligne Given, When, Then, en anglais, sans dire avec quel rôle se connecter, sur quel écran partir ni quelles données préparer. Le plus grave : quand l'US est floue, il écrit quand même un résultat attendu, parce que ses consignes lui interdisent d'ajouter une section où poser une question. La publication technique dans Azure DevOps fonctionne et est conservée.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projet est un fichier du dépôt, relu par l'équipe et daté : rôles, comptes de test, statuts, règles déjà validées, données fictives, points à confirmer. Il évite de traiter chaque US isolément. L'analyse lit l'US phrase par phrase, classe chaque règle (claire, à arbitrer, exploratoire), relève les préconditions et les combinaisons à tester, et rend un verdict qui dit quoi rédiger. La rédaction écrit ensuite les scénarios en français, seulement pour les règles claires. Les fichiers sont prêts : un modèle de contexte projet, un skill d'analyse, un skill de rédaction et son guide d'exemples.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Limite de la comparaison : la sortie de l'agent actuel a été produite dans GitHub Copilot ; notre résultat a été produit en appliquant les nouvelles consignes hors de Copilot. Le vrai test sera de rejouer les nouvelles consignes dans Copilot sur la même US. Comparaison faite sur la sortie de l'agent actuel (TC-001 à TC-014 et début de TC-015) et sur la version proposée appliquée à l'US complète. Sur l'accès, le panneau et les champs du formulaire, les deux couvertures sont proches. La différence est ailleurs. Exécutabilité : les cas actuels ne disent ni qui se connecte ni quelles données préparer. Règle métier : la validation dépend du statut de la demande existante sur l'entité ; l'agent actuel n'en teste qu'un cas. Honnêteté : l'US dit qu'une entité inconnue est refusée alors que la saisie libre est impossible ; l'agent actuel ne le voit pas, la version proposée en fait une question bloquante. Les textes exacts des messages sont dans les maquettes : ils restent à compléter.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règle métier la plus importante de l'US, dans sa section Validation. Elle compte cinq situations : deux où la création est acceptée, trois où elle est refusée. L'agent actuel n'en teste qu'une, la plus simple. La version proposée les teste toutes ; pour chaque refus, elle vérifie aussi que la demande déjà existante n'a pas été modifiée. À droite, l'un des trois scénarios de refus, en version abrégée. Le texte exact du message d'erreur est dans les maquettes : il sera recopié dans le scénario.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à dire en une phrase : l'agent actuel sait décrire l'écran et publier, mais ses cas ne sont pas exécutables tels quels et il passe à côté des règles métier et de ce que l'US ne dit pas. La proposition garde les deux points forts et corrige les quatre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3 US de référence sont des US déjà traitées à la main, dont les cas sont validés : on connaît la bonne réponse, on peut donc juger l'agent objectivement. Zéro cas inventé est la seule cible non négociable : un cas avec un résultat inventé coûte plus de temps qu'il n'en fait gagner. Le contenu des US est envoyé à Copilot : rester dans l'outil autorisé par KPMG.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rtlCol="0"/>
          <a:lstStyle>
            <a:lvl1pPr algn="l" indent="0" marL="0">
              <a:buNone/>
              <a:defRPr lang="en-US" sz="1600" i="1" dirty="0">
                <a:solidFill>
                  <a:schemeClr val="accent1"/>
                </a:solidFill>
              </a:defRPr>
            </a:lvl1pPr>
          </a:lstStyle>
          <a:p>
            <a:pPr algn="l" indent="0" marL="0">
              <a:buNone/>
            </a:pPr>
            <a:endParaRPr lang="en-US" sz="16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InfoCAC · Agent QC : actuel et proposé · Document de travail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lIns="0" tIns="0" rIns="0" bIns="0" rtlCol="0" anchor="b"/>
          <a:lstStyle/>
          <a:p>
            <a:pPr algn="l" indent="0" marL="0">
              <a:buNone/>
            </a:pPr>
            <a:r>
              <a:rPr lang="en-US" sz="3600" b="1" dirty="0">
                <a:solidFill>
                  <a:schemeClr val="bg1"/>
                </a:solidFill>
              </a:rPr>
              <a:t>Agent QC : ce qui ne va pas, ce qu'on propose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algn="l" indent="0" marL="0">
              <a:buNone/>
            </a:pPr>
            <a:r>
              <a:rPr lang="en-US" sz="1800" dirty="0">
                <a:solidFill>
                  <a:schemeClr val="accent3"/>
                </a:solidFill>
              </a:rPr>
              <a:t>Comparaison sur une vraie US : 417829 « Créer une nouvelle demande »</a:t>
            </a:r>
            <a:endParaRPr lang="en-US" sz="1800" dirty="0"/>
          </a:p>
          <a:p>
            <a:pPr algn="l" indent="0" marL="0">
              <a:buNone/>
            </a:pPr>
            <a:r>
              <a:rPr lang="en-US" sz="1800" dirty="0">
                <a:solidFill>
                  <a:schemeClr val="accent3"/>
                </a:solidFill>
              </a:rPr>
              <a:t>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que l'agent actuel fait bien</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bon premier jet pour décrire l'écran : on le garde comme base.</a:t>
            </a:r>
            <a:endParaRPr lang="en-US" sz="1600" dirty="0"/>
          </a:p>
        </p:txBody>
      </p:sp>
      <p:sp>
        <p:nvSpPr>
          <p:cNvPr id="4" name="card"/>
          <p:cNvSpPr/>
          <p:nvPr/>
        </p:nvSpPr>
        <p:spPr>
          <a:xfrm>
            <a:off x="548640" y="1645920"/>
            <a:ext cx="3520440" cy="1965960"/>
          </a:xfrm>
          <a:prstGeom prst="roundRect">
            <a:avLst>
              <a:gd name="adj" fmla="val 4651"/>
            </a:avLst>
          </a:prstGeom>
          <a:solidFill>
            <a:schemeClr val="bg2"/>
          </a:solidFill>
          <a:ln/>
        </p:spPr>
      </p:sp>
      <p:pic>
        <p:nvPicPr>
          <p:cNvPr id="5" name="check" descr="preencoded.png">    </p:cNvPr>
          <p:cNvPicPr>
            <a:picLocks noChangeAspect="1"/>
          </p:cNvPicPr>
          <p:nvPr/>
        </p:nvPicPr>
        <p:blipFill>
          <a:blip r:embed="rId1"/>
          <a:stretch>
            <a:fillRect/>
          </a:stretch>
        </p:blipFill>
        <p:spPr>
          <a:xfrm>
            <a:off x="731520" y="1847088"/>
            <a:ext cx="329184" cy="329184"/>
          </a:xfrm>
          <a:prstGeom prst="rect">
            <a:avLst/>
          </a:prstGeom>
        </p:spPr>
      </p:pic>
      <p:sp>
        <p:nvSpPr>
          <p:cNvPr id="6" name="Text 3"/>
          <p:cNvSpPr txBox="1"/>
          <p:nvPr/>
        </p:nvSpPr>
        <p:spPr>
          <a:xfrm>
            <a:off x="118872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Couvre l'US dans l'ordre</a:t>
            </a:r>
            <a:endParaRPr lang="en-US" sz="1450" dirty="0"/>
          </a:p>
        </p:txBody>
      </p:sp>
      <p:sp>
        <p:nvSpPr>
          <p:cNvPr id="7" name="Text 4"/>
          <p:cNvSpPr txBox="1"/>
          <p:nvPr/>
        </p:nvSpPr>
        <p:spPr>
          <a:xfrm>
            <a:off x="73152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Rôles, panneau, champs par nature, Affectée à, Millésime, Entité ID : sans oubli majeur sur l'écran</a:t>
            </a:r>
            <a:endParaRPr lang="en-US" sz="1250" dirty="0"/>
          </a:p>
        </p:txBody>
      </p:sp>
      <p:sp>
        <p:nvSpPr>
          <p:cNvPr id="8" name="card"/>
          <p:cNvSpPr/>
          <p:nvPr/>
        </p:nvSpPr>
        <p:spPr>
          <a:xfrm>
            <a:off x="4297680" y="1645920"/>
            <a:ext cx="3520440" cy="1965960"/>
          </a:xfrm>
          <a:prstGeom prst="roundRect">
            <a:avLst>
              <a:gd name="adj" fmla="val 4651"/>
            </a:avLst>
          </a:prstGeom>
          <a:solidFill>
            <a:schemeClr val="bg2"/>
          </a:solidFill>
          <a:ln/>
        </p:spPr>
      </p:sp>
      <p:pic>
        <p:nvPicPr>
          <p:cNvPr id="9" name="check" descr="preencoded.png">    </p:cNvPr>
          <p:cNvPicPr>
            <a:picLocks noChangeAspect="1"/>
          </p:cNvPicPr>
          <p:nvPr/>
        </p:nvPicPr>
        <p:blipFill>
          <a:blip r:embed="rId2"/>
          <a:stretch>
            <a:fillRect/>
          </a:stretch>
        </p:blipFill>
        <p:spPr>
          <a:xfrm>
            <a:off x="4480560" y="1847088"/>
            <a:ext cx="329184" cy="329184"/>
          </a:xfrm>
          <a:prstGeom prst="rect">
            <a:avLst/>
          </a:prstGeom>
        </p:spPr>
      </p:pic>
      <p:sp>
        <p:nvSpPr>
          <p:cNvPr id="10" name="Text 6"/>
          <p:cNvSpPr txBox="1"/>
          <p:nvPr/>
        </p:nvSpPr>
        <p:spPr>
          <a:xfrm>
            <a:off x="493776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Voit les différences entre natures</a:t>
            </a:r>
            <a:endParaRPr lang="en-US" sz="1450" dirty="0"/>
          </a:p>
        </p:txBody>
      </p:sp>
      <p:sp>
        <p:nvSpPr>
          <p:cNvPr id="11" name="Text 7"/>
          <p:cNvSpPr txBox="1"/>
          <p:nvPr/>
        </p:nvSpPr>
        <p:spPr>
          <a:xfrm>
            <a:off x="448056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TC-005 vérifie que le champ Reprise n'est pas affiché en Renouvellement</a:t>
            </a:r>
            <a:endParaRPr lang="en-US" sz="1250" dirty="0"/>
          </a:p>
        </p:txBody>
      </p:sp>
      <p:sp>
        <p:nvSpPr>
          <p:cNvPr id="12" name="card"/>
          <p:cNvSpPr/>
          <p:nvPr/>
        </p:nvSpPr>
        <p:spPr>
          <a:xfrm>
            <a:off x="8046720" y="1645920"/>
            <a:ext cx="3520440" cy="1965960"/>
          </a:xfrm>
          <a:prstGeom prst="roundRect">
            <a:avLst>
              <a:gd name="adj" fmla="val 4651"/>
            </a:avLst>
          </a:prstGeom>
          <a:solidFill>
            <a:schemeClr val="bg2"/>
          </a:solidFill>
          <a:ln/>
        </p:spPr>
      </p:sp>
      <p:pic>
        <p:nvPicPr>
          <p:cNvPr id="13" name="check" descr="preencoded.png">    </p:cNvPr>
          <p:cNvPicPr>
            <a:picLocks noChangeAspect="1"/>
          </p:cNvPicPr>
          <p:nvPr/>
        </p:nvPicPr>
        <p:blipFill>
          <a:blip r:embed="rId3"/>
          <a:stretch>
            <a:fillRect/>
          </a:stretch>
        </p:blipFill>
        <p:spPr>
          <a:xfrm>
            <a:off x="8229600" y="1847088"/>
            <a:ext cx="329184" cy="329184"/>
          </a:xfrm>
          <a:prstGeom prst="rect">
            <a:avLst/>
          </a:prstGeom>
        </p:spPr>
      </p:pic>
      <p:sp>
        <p:nvSpPr>
          <p:cNvPr id="14" name="Text 9"/>
          <p:cNvSpPr txBox="1"/>
          <p:nvPr/>
        </p:nvSpPr>
        <p:spPr>
          <a:xfrm>
            <a:off x="868680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Reste fidèle au texte de l'US</a:t>
            </a:r>
            <a:endParaRPr lang="en-US" sz="1450" dirty="0"/>
          </a:p>
        </p:txBody>
      </p:sp>
      <p:sp>
        <p:nvSpPr>
          <p:cNvPr id="15" name="Text 10"/>
          <p:cNvSpPr txBox="1"/>
          <p:nvPr/>
        </p:nvSpPr>
        <p:spPr>
          <a:xfrm>
            <a:off x="822960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Panneau à droite, liste visible (TC-004) ; millésime de -20 à +10 ans (TC-010) ; création puis redirection (TC-012)</a:t>
            </a:r>
            <a:endParaRPr lang="en-US" sz="1250" dirty="0"/>
          </a:p>
        </p:txBody>
      </p:sp>
      <p:sp>
        <p:nvSpPr>
          <p:cNvPr id="16" name="card"/>
          <p:cNvSpPr/>
          <p:nvPr/>
        </p:nvSpPr>
        <p:spPr>
          <a:xfrm>
            <a:off x="548640" y="3794760"/>
            <a:ext cx="3520440" cy="1965960"/>
          </a:xfrm>
          <a:prstGeom prst="roundRect">
            <a:avLst>
              <a:gd name="adj" fmla="val 4651"/>
            </a:avLst>
          </a:prstGeom>
          <a:solidFill>
            <a:schemeClr val="bg2"/>
          </a:solidFill>
          <a:ln/>
        </p:spPr>
      </p:sp>
      <p:pic>
        <p:nvPicPr>
          <p:cNvPr id="17" name="check" descr="preencoded.png">    </p:cNvPr>
          <p:cNvPicPr>
            <a:picLocks noChangeAspect="1"/>
          </p:cNvPicPr>
          <p:nvPr/>
        </p:nvPicPr>
        <p:blipFill>
          <a:blip r:embed="rId4"/>
          <a:stretch>
            <a:fillRect/>
          </a:stretch>
        </p:blipFill>
        <p:spPr>
          <a:xfrm>
            <a:off x="731520" y="3995928"/>
            <a:ext cx="329184" cy="329184"/>
          </a:xfrm>
          <a:prstGeom prst="rect">
            <a:avLst/>
          </a:prstGeom>
        </p:spPr>
      </p:pic>
      <p:sp>
        <p:nvSpPr>
          <p:cNvPr id="18" name="Text 12"/>
          <p:cNvSpPr txBox="1"/>
          <p:nvPr/>
        </p:nvSpPr>
        <p:spPr>
          <a:xfrm>
            <a:off x="118872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Donne parfois une donnée concrète</a:t>
            </a:r>
            <a:endParaRPr lang="en-US" sz="1450" dirty="0"/>
          </a:p>
        </p:txBody>
      </p:sp>
      <p:sp>
        <p:nvSpPr>
          <p:cNvPr id="19" name="Text 13"/>
          <p:cNvSpPr txBox="1"/>
          <p:nvPr/>
        </p:nvSpPr>
        <p:spPr>
          <a:xfrm>
            <a:off x="73152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TC-007 : « Jean Dupont », et le champ prérempli avec « Jean Dupont »</a:t>
            </a:r>
            <a:endParaRPr lang="en-US" sz="1250" dirty="0"/>
          </a:p>
        </p:txBody>
      </p:sp>
      <p:sp>
        <p:nvSpPr>
          <p:cNvPr id="20" name="card"/>
          <p:cNvSpPr/>
          <p:nvPr/>
        </p:nvSpPr>
        <p:spPr>
          <a:xfrm>
            <a:off x="4297680" y="3794760"/>
            <a:ext cx="3520440" cy="1965960"/>
          </a:xfrm>
          <a:prstGeom prst="roundRect">
            <a:avLst>
              <a:gd name="adj" fmla="val 4651"/>
            </a:avLst>
          </a:prstGeom>
          <a:solidFill>
            <a:schemeClr val="bg2"/>
          </a:solidFill>
          <a:ln/>
        </p:spPr>
      </p:sp>
      <p:pic>
        <p:nvPicPr>
          <p:cNvPr id="21" name="check" descr="preencoded.png">    </p:cNvPr>
          <p:cNvPicPr>
            <a:picLocks noChangeAspect="1"/>
          </p:cNvPicPr>
          <p:nvPr/>
        </p:nvPicPr>
        <p:blipFill>
          <a:blip r:embed="rId5"/>
          <a:stretch>
            <a:fillRect/>
          </a:stretch>
        </p:blipFill>
        <p:spPr>
          <a:xfrm>
            <a:off x="4480560" y="3995928"/>
            <a:ext cx="329184" cy="329184"/>
          </a:xfrm>
          <a:prstGeom prst="rect">
            <a:avLst/>
          </a:prstGeom>
        </p:spPr>
      </p:pic>
      <p:sp>
        <p:nvSpPr>
          <p:cNvPr id="22" name="Text 15"/>
          <p:cNvSpPr txBox="1"/>
          <p:nvPr/>
        </p:nvSpPr>
        <p:spPr>
          <a:xfrm>
            <a:off x="493776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Titres clairs, lisibles par le métier</a:t>
            </a:r>
            <a:endParaRPr lang="en-US" sz="1450" dirty="0"/>
          </a:p>
        </p:txBody>
      </p:sp>
      <p:sp>
        <p:nvSpPr>
          <p:cNvPr id="23" name="Text 16"/>
          <p:cNvSpPr txBox="1"/>
          <p:nvPr/>
        </p:nvSpPr>
        <p:spPr>
          <a:xfrm>
            <a:off x="448056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 Bouton masqué pour les autres rôles », « Champs affichés pour Nouveau »</a:t>
            </a:r>
            <a:endParaRPr lang="en-US" sz="1250" dirty="0"/>
          </a:p>
        </p:txBody>
      </p:sp>
      <p:sp>
        <p:nvSpPr>
          <p:cNvPr id="24" name="card"/>
          <p:cNvSpPr/>
          <p:nvPr/>
        </p:nvSpPr>
        <p:spPr>
          <a:xfrm>
            <a:off x="8046720" y="3794760"/>
            <a:ext cx="3520440" cy="1965960"/>
          </a:xfrm>
          <a:prstGeom prst="roundRect">
            <a:avLst>
              <a:gd name="adj" fmla="val 4651"/>
            </a:avLst>
          </a:prstGeom>
          <a:solidFill>
            <a:schemeClr val="bg2"/>
          </a:solidFill>
          <a:ln/>
        </p:spPr>
      </p:sp>
      <p:pic>
        <p:nvPicPr>
          <p:cNvPr id="25" name="check" descr="preencoded.png">    </p:cNvPr>
          <p:cNvPicPr>
            <a:picLocks noChangeAspect="1"/>
          </p:cNvPicPr>
          <p:nvPr/>
        </p:nvPicPr>
        <p:blipFill>
          <a:blip r:embed="rId6"/>
          <a:stretch>
            <a:fillRect/>
          </a:stretch>
        </p:blipFill>
        <p:spPr>
          <a:xfrm>
            <a:off x="8229600" y="3995928"/>
            <a:ext cx="329184" cy="329184"/>
          </a:xfrm>
          <a:prstGeom prst="rect">
            <a:avLst/>
          </a:prstGeom>
        </p:spPr>
      </p:pic>
      <p:sp>
        <p:nvSpPr>
          <p:cNvPr id="26" name="Text 18"/>
          <p:cNvSpPr txBox="1"/>
          <p:nvPr/>
        </p:nvSpPr>
        <p:spPr>
          <a:xfrm>
            <a:off x="868680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Publication technique solide</a:t>
            </a:r>
            <a:endParaRPr lang="en-US" sz="1450" dirty="0"/>
          </a:p>
        </p:txBody>
      </p:sp>
      <p:sp>
        <p:nvSpPr>
          <p:cNvPr id="27" name="Text 19"/>
          <p:cNvSpPr txBox="1"/>
          <p:nvPr/>
        </p:nvSpPr>
        <p:spPr>
          <a:xfrm>
            <a:off x="822960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Codes HTTP contrôlés, liens vérifiés entre cas et US dans Azure DevOps</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Pourquoi l'agent actuel n'est pas fiable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Il applique ses consignes à la lettre : ses défauts viennent de ses consignes, pas du modèle.</a:t>
            </a:r>
            <a:endParaRPr lang="en-US" sz="1600" dirty="0"/>
          </a:p>
        </p:txBody>
      </p:sp>
      <p:graphicFrame>
        <p:nvGraphicFramePr>
          <p:cNvPr id="4" name="table-defauts"/>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514600"/>
                <a:gridCol w="3429000"/>
                <a:gridCol w="2377440"/>
                <a:gridCol w="2743200"/>
              </a:tblGrid>
              <a:tr h="329184">
                <a:tc>
                  <a:txBody>
                    <a:bodyPr/>
                    <a:lstStyle/>
                    <a:p>
                      <a:pPr indent="0" marL="0">
                        <a:buNone/>
                      </a:pPr>
                      <a:r>
                        <a:rPr lang="en-US" sz="1200" b="1" dirty="0">
                          <a:solidFill>
                            <a:srgbClr val="FFFFFF"/>
                          </a:solidFill>
                        </a:rPr>
                        <a:t>Ce qu'il produit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Exemple sur l'US 417829</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Pourquoi : ses consignes</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propose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502920">
                <a:tc>
                  <a:txBody>
                    <a:bodyPr/>
                    <a:lstStyle/>
                    <a:p>
                      <a:pPr indent="0" marL="0">
                        <a:buNone/>
                      </a:pPr>
                      <a:r>
                        <a:rPr lang="en-US" sz="1000" b="1" dirty="0">
                          <a:solidFill>
                            <a:srgbClr val="1A1A2E"/>
                          </a:solidFill>
                        </a:rPr>
                        <a:t>Une phrase par scénario, sans aucun Et, en Given, When, Then</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i="1" dirty="0">
                          <a:solidFill>
                            <a:srgbClr val="1A1A2E"/>
                          </a:solidFill>
                        </a:rPr>
                        <a:t>TC-013 : « Given une entité valide, Nature Nouveau, Reprise Oui et tous les champs renseignés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1A1A2E"/>
                          </a:solidFill>
                        </a:rPr>
                        <a:t>Tableau imposé : un scénario par cellule ; exemple en anglais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00338D"/>
                          </a:solidFill>
                        </a:rPr>
                        <a:t>Un bloc Gherkin en français, une ligne par étape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02920">
                <a:tc>
                  <a:txBody>
                    <a:bodyPr/>
                    <a:lstStyle/>
                    <a:p>
                      <a:pPr indent="0" marL="0">
                        <a:buNone/>
                      </a:pPr>
                      <a:r>
                        <a:rPr lang="en-US" sz="1000" b="1" dirty="0">
                          <a:solidFill>
                            <a:srgbClr val="1A1A2E"/>
                          </a:solidFill>
                        </a:rPr>
                        <a:t>Ni rôle, ni écran, ni données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i="1" dirty="0">
                          <a:solidFill>
                            <a:srgbClr val="1A1A2E"/>
                          </a:solidFill>
                        </a:rPr>
                        <a:t>TC-005 : « Given le formulaire de création ouvert » ; TC-003 : « un rôle autre qu'Admin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rPr>
                        <a:t>« Given un utilisateur actif » donné en exemple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00338D"/>
                          </a:solidFill>
                        </a:rPr>
                        <a:t>Rôle et compte, écran, données fictives dans chaque cas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02920">
                <a:tc>
                  <a:txBody>
                    <a:bodyPr/>
                    <a:lstStyle/>
                    <a:p>
                      <a:pPr indent="0" marL="0">
                        <a:buNone/>
                      </a:pPr>
                      <a:r>
                        <a:rPr lang="en-US" sz="1000" b="1" dirty="0">
                          <a:solidFill>
                            <a:srgbClr val="1A1A2E"/>
                          </a:solidFill>
                        </a:rPr>
                        <a:t>Actions entassées ou sautées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i="1" dirty="0">
                          <a:solidFill>
                            <a:srgbClr val="1A1A2E"/>
                          </a:solidFill>
                        </a:rPr>
                        <a:t>TC-008 : « saisit un nom ou prénom … et le sélectionne » ; « tous les champs renseignés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1A1A2E"/>
                          </a:solidFill>
                        </a:rPr>
                        <a:t>Une seule clause When imposée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00338D"/>
                          </a:solidFill>
                        </a:rPr>
                        <a:t>Quand puis Et : une action par ligne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02920">
                <a:tc>
                  <a:txBody>
                    <a:bodyPr/>
                    <a:lstStyle/>
                    <a:p>
                      <a:pPr indent="0" marL="0">
                        <a:buNone/>
                      </a:pPr>
                      <a:r>
                        <a:rPr lang="en-US" sz="1000" b="1" dirty="0">
                          <a:solidFill>
                            <a:srgbClr val="1A1A2E"/>
                          </a:solidFill>
                        </a:rPr>
                        <a:t>Résultats invérifiables ou vagues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i="1" dirty="0">
                          <a:solidFill>
                            <a:srgbClr val="1A1A2E"/>
                          </a:solidFill>
                        </a:rPr>
                        <a:t>TC-008 : « le collaborateur est affecté » avant la création ; TC-013 : « formulaire adapté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rPr>
                        <a:t>Exemple vague copié à la lettre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00338D"/>
                          </a:solidFill>
                        </a:rPr>
                        <a:t>Résultat exact ; un refus vérifie que rien n'a changé</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02920">
                <a:tc>
                  <a:txBody>
                    <a:bodyPr/>
                    <a:lstStyle/>
                    <a:p>
                      <a:pPr indent="0" marL="0">
                        <a:buNone/>
                      </a:pPr>
                      <a:r>
                        <a:rPr lang="en-US" sz="1000" b="1" dirty="0">
                          <a:solidFill>
                            <a:srgbClr val="1A1A2E"/>
                          </a:solidFill>
                        </a:rPr>
                        <a:t>Règles métier oubliées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i="1" dirty="0">
                          <a:solidFill>
                            <a:srgbClr val="1A1A2E"/>
                          </a:solidFill>
                        </a:rPr>
                        <a:t>Statut de l'entité : 1 situation sur 5 ; millésime : 1 cas, sans les bornes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1A1A2E"/>
                          </a:solidFill>
                        </a:rPr>
                        <a:t>Aucune étape qui extrait les règles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00338D"/>
                          </a:solidFill>
                        </a:rPr>
                        <a:t>Règles extraites de l'US, combinaisons, valeurs limites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02920">
                <a:tc>
                  <a:txBody>
                    <a:bodyPr/>
                    <a:lstStyle/>
                    <a:p>
                      <a:pPr indent="0" marL="0">
                        <a:buNone/>
                      </a:pPr>
                      <a:r>
                        <a:rPr lang="en-US" sz="1000" b="1" dirty="0">
                          <a:solidFill>
                            <a:srgbClr val="1A1A2E"/>
                          </a:solidFill>
                        </a:rPr>
                        <a:t>Aucune question sur ce que l'US ne dit pas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i="1" dirty="0">
                          <a:solidFill>
                            <a:srgbClr val="1A1A2E"/>
                          </a:solidFill>
                        </a:rPr>
                        <a:t>Documents obligatoires, entité inconnue : ni cas, ni question</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rPr>
                        <a:t>« N'ajoute aucune section »</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00338D"/>
                          </a:solidFill>
                        </a:rPr>
                        <a:t>Questions au PO au lieu de résultats inventés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02920">
                <a:tc>
                  <a:txBody>
                    <a:bodyPr/>
                    <a:lstStyle/>
                    <a:p>
                      <a:pPr indent="0" marL="0">
                        <a:buNone/>
                      </a:pPr>
                      <a:r>
                        <a:rPr lang="en-US" sz="1000" b="1" dirty="0">
                          <a:solidFill>
                            <a:srgbClr val="1A1A2E"/>
                          </a:solidFill>
                        </a:rPr>
                        <a:t>Des cas en double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i="1" dirty="0">
                          <a:solidFill>
                            <a:srgbClr val="1A1A2E"/>
                          </a:solidFill>
                        </a:rPr>
                        <a:t>TC-013 et TC-014 : Reprise Oui et Non, même résultat</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1A1A2E"/>
                          </a:solidFill>
                        </a:rPr>
                        <a:t>Aucune règle sur les doublons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00" dirty="0">
                          <a:solidFill>
                            <a:srgbClr val="00338D"/>
                          </a:solidFill>
                        </a:rPr>
                        <a:t>Un cas par résultat attendu distinct</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02920">
                <a:tc>
                  <a:txBody>
                    <a:bodyPr/>
                    <a:lstStyle/>
                    <a:p>
                      <a:pPr indent="0" marL="0">
                        <a:buNone/>
                      </a:pPr>
                      <a:r>
                        <a:rPr lang="en-US" sz="1000" b="1" dirty="0">
                          <a:solidFill>
                            <a:srgbClr val="1A1A2E"/>
                          </a:solidFill>
                        </a:rPr>
                        <a:t>Chaque US isolée, publication automatique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i="1" dirty="0">
                          <a:solidFill>
                            <a:srgbClr val="1A1A2E"/>
                          </a:solidFill>
                        </a:rPr>
                        <a:t>Ni Feature parente ni cas existants ; un plan créé par US</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rPr>
                        <a:t>Ne lit que l'US ; publication obligatoire</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00" dirty="0">
                          <a:solidFill>
                            <a:srgbClr val="00338D"/>
                          </a:solidFill>
                        </a:rPr>
                        <a:t>Contexte projet relu ; publication après accord</a:t>
                      </a:r>
                      <a:endParaRPr lang="en-US" sz="10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qu'on propose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contexte projet relu, deux étapes (analyser puis rédiger), une relecture humaine avant toute publication.</a:t>
            </a:r>
            <a:endParaRPr lang="en-US" sz="1600" dirty="0"/>
          </a:p>
        </p:txBody>
      </p:sp>
      <p:sp>
        <p:nvSpPr>
          <p:cNvPr id="4" name="etape"/>
          <p:cNvSpPr/>
          <p:nvPr/>
        </p:nvSpPr>
        <p:spPr>
          <a:xfrm>
            <a:off x="548640" y="1572768"/>
            <a:ext cx="2834640" cy="868680"/>
          </a:xfrm>
          <a:prstGeom prst="chevron">
            <a:avLst/>
          </a:prstGeom>
          <a:solidFill>
            <a:schemeClr val="tx2"/>
          </a:solidFill>
          <a:ln/>
        </p:spPr>
      </p:sp>
      <p:sp>
        <p:nvSpPr>
          <p:cNvPr id="5" name="Text 3"/>
          <p:cNvSpPr txBox="1"/>
          <p:nvPr/>
        </p:nvSpPr>
        <p:spPr>
          <a:xfrm>
            <a:off x="9601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Contexte projet</a:t>
            </a:r>
            <a:endParaRPr lang="en-US" sz="1300" dirty="0"/>
          </a:p>
          <a:p>
            <a:pPr algn="ctr" indent="0" marL="0">
              <a:buNone/>
            </a:pPr>
            <a:r>
              <a:rPr lang="en-US" sz="1000" dirty="0">
                <a:solidFill>
                  <a:schemeClr val="bg1"/>
                </a:solidFill>
              </a:rPr>
              <a:t>Rôles, comptes de test, statuts, règles validées</a:t>
            </a:r>
            <a:endParaRPr lang="en-US" sz="1300" dirty="0"/>
          </a:p>
        </p:txBody>
      </p:sp>
      <p:sp>
        <p:nvSpPr>
          <p:cNvPr id="6" name="etape"/>
          <p:cNvSpPr/>
          <p:nvPr/>
        </p:nvSpPr>
        <p:spPr>
          <a:xfrm>
            <a:off x="3291840" y="1572768"/>
            <a:ext cx="2834640" cy="868680"/>
          </a:xfrm>
          <a:prstGeom prst="chevron">
            <a:avLst/>
          </a:prstGeom>
          <a:solidFill>
            <a:schemeClr val="accent1"/>
          </a:solidFill>
          <a:ln/>
        </p:spPr>
      </p:sp>
      <p:sp>
        <p:nvSpPr>
          <p:cNvPr id="7" name="Text 5"/>
          <p:cNvSpPr txBox="1"/>
          <p:nvPr/>
        </p:nvSpPr>
        <p:spPr>
          <a:xfrm>
            <a:off x="37033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Analyse de l'US</a:t>
            </a:r>
            <a:endParaRPr lang="en-US" sz="1300" dirty="0"/>
          </a:p>
          <a:p>
            <a:pPr algn="ctr" indent="0" marL="0">
              <a:buNone/>
            </a:pPr>
            <a:r>
              <a:rPr lang="en-US" sz="1000" dirty="0">
                <a:solidFill>
                  <a:schemeClr val="bg1"/>
                </a:solidFill>
              </a:rPr>
              <a:t>Règles, préconditions, combinaisons, questions au PO</a:t>
            </a:r>
            <a:endParaRPr lang="en-US" sz="1300" dirty="0"/>
          </a:p>
        </p:txBody>
      </p:sp>
      <p:sp>
        <p:nvSpPr>
          <p:cNvPr id="8" name="etape"/>
          <p:cNvSpPr/>
          <p:nvPr/>
        </p:nvSpPr>
        <p:spPr>
          <a:xfrm>
            <a:off x="6035040" y="1572768"/>
            <a:ext cx="2834640" cy="868680"/>
          </a:xfrm>
          <a:prstGeom prst="chevron">
            <a:avLst/>
          </a:prstGeom>
          <a:solidFill>
            <a:schemeClr val="tx2"/>
          </a:solidFill>
          <a:ln/>
        </p:spPr>
      </p:sp>
      <p:sp>
        <p:nvSpPr>
          <p:cNvPr id="9" name="Text 7"/>
          <p:cNvSpPr txBox="1"/>
          <p:nvPr/>
        </p:nvSpPr>
        <p:spPr>
          <a:xfrm>
            <a:off x="64465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Rédaction Gherkin</a:t>
            </a:r>
            <a:endParaRPr lang="en-US" sz="1300" dirty="0"/>
          </a:p>
          <a:p>
            <a:pPr algn="ctr" indent="0" marL="0">
              <a:buNone/>
            </a:pPr>
            <a:r>
              <a:rPr lang="en-US" sz="1000" dirty="0">
                <a:solidFill>
                  <a:schemeClr val="bg1"/>
                </a:solidFill>
              </a:rPr>
              <a:t>Seulement pour les règles claires</a:t>
            </a:r>
            <a:endParaRPr lang="en-US" sz="1300" dirty="0"/>
          </a:p>
        </p:txBody>
      </p:sp>
      <p:sp>
        <p:nvSpPr>
          <p:cNvPr id="10" name="etape"/>
          <p:cNvSpPr/>
          <p:nvPr/>
        </p:nvSpPr>
        <p:spPr>
          <a:xfrm>
            <a:off x="8778240" y="1572768"/>
            <a:ext cx="2834640" cy="868680"/>
          </a:xfrm>
          <a:prstGeom prst="chevron">
            <a:avLst/>
          </a:prstGeom>
          <a:solidFill>
            <a:schemeClr val="accent4"/>
          </a:solidFill>
          <a:ln/>
        </p:spPr>
      </p:sp>
      <p:sp>
        <p:nvSpPr>
          <p:cNvPr id="11" name="Text 9"/>
          <p:cNvSpPr txBox="1"/>
          <p:nvPr/>
        </p:nvSpPr>
        <p:spPr>
          <a:xfrm>
            <a:off x="91897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Relecture, publication</a:t>
            </a:r>
            <a:endParaRPr lang="en-US" sz="1300" dirty="0"/>
          </a:p>
          <a:p>
            <a:pPr algn="ctr" indent="0" marL="0">
              <a:buNone/>
            </a:pPr>
            <a:r>
              <a:rPr lang="en-US" sz="1000" dirty="0">
                <a:solidFill>
                  <a:schemeClr val="bg1"/>
                </a:solidFill>
              </a:rPr>
              <a:t>Après « oui », dans le plan existant ou en CSV</a:t>
            </a:r>
            <a:endParaRPr lang="en-US" sz="1300" dirty="0"/>
          </a:p>
        </p:txBody>
      </p:sp>
      <p:sp>
        <p:nvSpPr>
          <p:cNvPr id="12" name="Text 10"/>
          <p:cNvSpPr txBox="1"/>
          <p:nvPr/>
        </p:nvSpPr>
        <p:spPr>
          <a:xfrm>
            <a:off x="548640" y="2651760"/>
            <a:ext cx="11064240" cy="347472"/>
          </a:xfrm>
          <a:prstGeom prst="rect">
            <a:avLst/>
          </a:prstGeom>
          <a:noFill/>
          <a:ln/>
        </p:spPr>
        <p:txBody>
          <a:bodyPr wrap="square" lIns="0" tIns="0" rIns="0" bIns="0" rtlCol="0" anchor="t"/>
          <a:lstStyle/>
          <a:p>
            <a:pPr indent="0" marL="0">
              <a:buNone/>
            </a:pPr>
            <a:r>
              <a:rPr lang="en-US" sz="1600" b="1" dirty="0">
                <a:solidFill>
                  <a:schemeClr val="tx2"/>
                </a:solidFill>
              </a:rPr>
              <a:t>Chaque scénario est construit en trois blocs</a:t>
            </a:r>
            <a:endParaRPr lang="en-US" sz="1600" dirty="0"/>
          </a:p>
        </p:txBody>
      </p:sp>
      <p:sp>
        <p:nvSpPr>
          <p:cNvPr id="13" name="card"/>
          <p:cNvSpPr/>
          <p:nvPr/>
        </p:nvSpPr>
        <p:spPr>
          <a:xfrm>
            <a:off x="548640" y="3090672"/>
            <a:ext cx="3520440" cy="2148840"/>
          </a:xfrm>
          <a:prstGeom prst="roundRect">
            <a:avLst>
              <a:gd name="adj" fmla="val 4255"/>
            </a:avLst>
          </a:prstGeom>
          <a:solidFill>
            <a:schemeClr val="tx2"/>
          </a:solidFill>
          <a:ln/>
        </p:spPr>
      </p:sp>
      <p:sp>
        <p:nvSpPr>
          <p:cNvPr id="14" name="Text 12"/>
          <p:cNvSpPr txBox="1"/>
          <p:nvPr/>
        </p:nvSpPr>
        <p:spPr>
          <a:xfrm>
            <a:off x="731520" y="3182112"/>
            <a:ext cx="3200400" cy="329184"/>
          </a:xfrm>
          <a:prstGeom prst="rect">
            <a:avLst/>
          </a:prstGeom>
          <a:noFill/>
          <a:ln/>
        </p:spPr>
        <p:txBody>
          <a:bodyPr wrap="square" lIns="0" tIns="0" rIns="0" bIns="0" rtlCol="0" anchor="t"/>
          <a:lstStyle/>
          <a:p>
            <a:pPr indent="0" marL="0">
              <a:buNone/>
            </a:pPr>
            <a:r>
              <a:rPr lang="en-US" sz="1400" b="1" dirty="0">
                <a:solidFill>
                  <a:schemeClr val="bg1"/>
                </a:solidFill>
                <a:latin typeface="Courier New" pitchFamily="34" charset="0"/>
                <a:ea typeface="Courier New" pitchFamily="34" charset="-122"/>
                <a:cs typeface="Courier New" pitchFamily="34" charset="-120"/>
              </a:rPr>
              <a:t>Étant donné que … Et que …</a:t>
            </a:r>
            <a:endParaRPr lang="en-US" sz="1400" dirty="0"/>
          </a:p>
        </p:txBody>
      </p:sp>
      <p:sp>
        <p:nvSpPr>
          <p:cNvPr id="15" name="Text 13"/>
          <p:cNvSpPr txBox="1"/>
          <p:nvPr/>
        </p:nvSpPr>
        <p:spPr>
          <a:xfrm>
            <a:off x="731520" y="3529584"/>
            <a:ext cx="3200400" cy="292608"/>
          </a:xfrm>
          <a:prstGeom prst="rect">
            <a:avLst/>
          </a:prstGeom>
          <a:noFill/>
          <a:ln/>
        </p:spPr>
        <p:txBody>
          <a:bodyPr wrap="square" lIns="0" tIns="0" rIns="0" bIns="0" rtlCol="0" anchor="t"/>
          <a:lstStyle/>
          <a:p>
            <a:pPr indent="0" marL="0">
              <a:buNone/>
            </a:pPr>
            <a:r>
              <a:rPr lang="en-US" sz="1200" i="1" dirty="0">
                <a:solidFill>
                  <a:schemeClr val="accent3"/>
                </a:solidFill>
              </a:rPr>
              <a:t>Tout ce qui doit être vrai avant d'agir</a:t>
            </a:r>
            <a:endParaRPr lang="en-US" sz="1200" dirty="0"/>
          </a:p>
        </p:txBody>
      </p:sp>
      <p:sp>
        <p:nvSpPr>
          <p:cNvPr id="16" name="Text 14"/>
          <p:cNvSpPr txBox="1"/>
          <p:nvPr/>
        </p:nvSpPr>
        <p:spPr>
          <a:xfrm>
            <a:off x="73152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bg1"/>
                </a:solidFill>
              </a:rPr>
              <a:t>Qui est connecté : rôle et compte</a:t>
            </a:r>
            <a:endParaRPr lang="en-US" sz="1250" dirty="0"/>
          </a:p>
          <a:p>
            <a:pPr marL="342900" indent="-342900">
              <a:spcAft>
                <a:spcPts val="500"/>
              </a:spcAft>
              <a:buSzPct val="100000"/>
              <a:buChar char="•"/>
            </a:pPr>
            <a:r>
              <a:rPr lang="en-US" sz="1250" dirty="0">
                <a:solidFill>
                  <a:schemeClr val="bg1"/>
                </a:solidFill>
              </a:rPr>
              <a:t>Sur quel écran</a:t>
            </a:r>
            <a:endParaRPr lang="en-US" sz="1250" dirty="0"/>
          </a:p>
          <a:p>
            <a:pPr marL="342900" indent="-342900">
              <a:spcAft>
                <a:spcPts val="500"/>
              </a:spcAft>
              <a:buSzPct val="100000"/>
              <a:buChar char="•"/>
            </a:pPr>
            <a:r>
              <a:rPr lang="en-US" sz="1250" dirty="0">
                <a:solidFill>
                  <a:schemeClr val="bg1"/>
                </a:solidFill>
              </a:rPr>
              <a:t>Quelles données existent, dans quel état</a:t>
            </a:r>
            <a:endParaRPr lang="en-US" sz="1250" dirty="0"/>
          </a:p>
        </p:txBody>
      </p:sp>
      <p:sp>
        <p:nvSpPr>
          <p:cNvPr id="17" name="card"/>
          <p:cNvSpPr/>
          <p:nvPr/>
        </p:nvSpPr>
        <p:spPr>
          <a:xfrm>
            <a:off x="4297680" y="3090672"/>
            <a:ext cx="3520440" cy="2148840"/>
          </a:xfrm>
          <a:prstGeom prst="roundRect">
            <a:avLst>
              <a:gd name="adj" fmla="val 4255"/>
            </a:avLst>
          </a:prstGeom>
          <a:solidFill>
            <a:schemeClr val="bg2"/>
          </a:solidFill>
          <a:ln/>
        </p:spPr>
      </p:sp>
      <p:sp>
        <p:nvSpPr>
          <p:cNvPr id="18" name="Text 16"/>
          <p:cNvSpPr txBox="1"/>
          <p:nvPr/>
        </p:nvSpPr>
        <p:spPr>
          <a:xfrm>
            <a:off x="4480560" y="3182112"/>
            <a:ext cx="3200400" cy="329184"/>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Quand … Et …</a:t>
            </a:r>
            <a:endParaRPr lang="en-US" sz="1400" dirty="0"/>
          </a:p>
        </p:txBody>
      </p:sp>
      <p:sp>
        <p:nvSpPr>
          <p:cNvPr id="19" name="Text 17"/>
          <p:cNvSpPr txBox="1"/>
          <p:nvPr/>
        </p:nvSpPr>
        <p:spPr>
          <a:xfrm>
            <a:off x="4480560" y="3529584"/>
            <a:ext cx="3200400" cy="292608"/>
          </a:xfrm>
          <a:prstGeom prst="rect">
            <a:avLst/>
          </a:prstGeom>
          <a:noFill/>
          <a:ln/>
        </p:spPr>
        <p:txBody>
          <a:bodyPr wrap="square" lIns="0" tIns="0" rIns="0" bIns="0" rtlCol="0" anchor="t"/>
          <a:lstStyle/>
          <a:p>
            <a:pPr indent="0" marL="0">
              <a:buNone/>
            </a:pPr>
            <a:r>
              <a:rPr lang="en-US" sz="1200" i="1" dirty="0">
                <a:solidFill>
                  <a:schemeClr val="accent1"/>
                </a:solidFill>
              </a:rPr>
              <a:t>Les actions de l'utilisateur</a:t>
            </a:r>
            <a:endParaRPr lang="en-US" sz="1200" dirty="0"/>
          </a:p>
        </p:txBody>
      </p:sp>
      <p:sp>
        <p:nvSpPr>
          <p:cNvPr id="20" name="Text 18"/>
          <p:cNvSpPr txBox="1"/>
          <p:nvPr/>
        </p:nvSpPr>
        <p:spPr>
          <a:xfrm>
            <a:off x="448056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Dans l'ordre du parcours</a:t>
            </a:r>
            <a:endParaRPr lang="en-US" sz="1250" dirty="0"/>
          </a:p>
          <a:p>
            <a:pPr marL="342900" indent="-342900">
              <a:spcAft>
                <a:spcPts val="500"/>
              </a:spcAft>
              <a:buSzPct val="100000"/>
              <a:buChar char="•"/>
            </a:pPr>
            <a:r>
              <a:rPr lang="en-US" sz="1250" dirty="0">
                <a:solidFill>
                  <a:schemeClr val="tx1"/>
                </a:solidFill>
              </a:rPr>
              <a:t>Jamais une vérification</a:t>
            </a:r>
            <a:endParaRPr lang="en-US" sz="1250" dirty="0"/>
          </a:p>
          <a:p>
            <a:pPr marL="342900" indent="-342900">
              <a:spcAft>
                <a:spcPts val="500"/>
              </a:spcAft>
              <a:buSzPct val="100000"/>
              <a:buChar char="•"/>
            </a:pPr>
            <a:r>
              <a:rPr lang="en-US" sz="1250" dirty="0">
                <a:solidFill>
                  <a:schemeClr val="tx1"/>
                </a:solidFill>
              </a:rPr>
              <a:t>Un seul comportement testé</a:t>
            </a:r>
            <a:endParaRPr lang="en-US" sz="1250" dirty="0"/>
          </a:p>
        </p:txBody>
      </p:sp>
      <p:sp>
        <p:nvSpPr>
          <p:cNvPr id="21" name="card"/>
          <p:cNvSpPr/>
          <p:nvPr/>
        </p:nvSpPr>
        <p:spPr>
          <a:xfrm>
            <a:off x="8046720" y="3090672"/>
            <a:ext cx="3520440" cy="2148840"/>
          </a:xfrm>
          <a:prstGeom prst="roundRect">
            <a:avLst>
              <a:gd name="adj" fmla="val 4255"/>
            </a:avLst>
          </a:prstGeom>
          <a:solidFill>
            <a:schemeClr val="bg2"/>
          </a:solidFill>
          <a:ln/>
        </p:spPr>
      </p:sp>
      <p:sp>
        <p:nvSpPr>
          <p:cNvPr id="22" name="Text 20"/>
          <p:cNvSpPr txBox="1"/>
          <p:nvPr/>
        </p:nvSpPr>
        <p:spPr>
          <a:xfrm>
            <a:off x="8229600" y="3182112"/>
            <a:ext cx="3200400" cy="329184"/>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Alors … Et …</a:t>
            </a:r>
            <a:endParaRPr lang="en-US" sz="1400" dirty="0"/>
          </a:p>
        </p:txBody>
      </p:sp>
      <p:sp>
        <p:nvSpPr>
          <p:cNvPr id="23" name="Text 21"/>
          <p:cNvSpPr txBox="1"/>
          <p:nvPr/>
        </p:nvSpPr>
        <p:spPr>
          <a:xfrm>
            <a:off x="8229600" y="3529584"/>
            <a:ext cx="3200400" cy="292608"/>
          </a:xfrm>
          <a:prstGeom prst="rect">
            <a:avLst/>
          </a:prstGeom>
          <a:noFill/>
          <a:ln/>
        </p:spPr>
        <p:txBody>
          <a:bodyPr wrap="square" lIns="0" tIns="0" rIns="0" bIns="0" rtlCol="0" anchor="t"/>
          <a:lstStyle/>
          <a:p>
            <a:pPr indent="0" marL="0">
              <a:buNone/>
            </a:pPr>
            <a:r>
              <a:rPr lang="en-US" sz="1200" i="1" dirty="0">
                <a:solidFill>
                  <a:schemeClr val="accent1"/>
                </a:solidFill>
              </a:rPr>
              <a:t>Chaque résultat observable</a:t>
            </a:r>
            <a:endParaRPr lang="en-US" sz="1200" dirty="0"/>
          </a:p>
        </p:txBody>
      </p:sp>
      <p:sp>
        <p:nvSpPr>
          <p:cNvPr id="24" name="Text 22"/>
          <p:cNvSpPr txBox="1"/>
          <p:nvPr/>
        </p:nvSpPr>
        <p:spPr>
          <a:xfrm>
            <a:off x="822960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Statut, valeur, message exacts</a:t>
            </a:r>
            <a:endParaRPr lang="en-US" sz="1250" dirty="0"/>
          </a:p>
          <a:p>
            <a:pPr marL="342900" indent="-342900">
              <a:spcAft>
                <a:spcPts val="500"/>
              </a:spcAft>
              <a:buSzPct val="100000"/>
              <a:buChar char="•"/>
            </a:pPr>
            <a:r>
              <a:rPr lang="en-US" sz="1250" dirty="0">
                <a:solidFill>
                  <a:schemeClr val="tx1"/>
                </a:solidFill>
              </a:rPr>
              <a:t>Jamais « A ou B »</a:t>
            </a:r>
            <a:endParaRPr lang="en-US" sz="1250" dirty="0"/>
          </a:p>
          <a:p>
            <a:pPr marL="342900" indent="-342900">
              <a:spcAft>
                <a:spcPts val="500"/>
              </a:spcAft>
              <a:buSzPct val="100000"/>
              <a:buChar char="•"/>
            </a:pPr>
            <a:r>
              <a:rPr lang="en-US" sz="1250" dirty="0">
                <a:solidFill>
                  <a:schemeClr val="tx1"/>
                </a:solidFill>
              </a:rPr>
              <a:t>Un refus vérifie que rien n'a changé</a:t>
            </a:r>
            <a:endParaRPr lang="en-US" sz="1250" dirty="0"/>
          </a:p>
        </p:txBody>
      </p:sp>
      <p:sp>
        <p:nvSpPr>
          <p:cNvPr id="25" name="card"/>
          <p:cNvSpPr/>
          <p:nvPr/>
        </p:nvSpPr>
        <p:spPr>
          <a:xfrm>
            <a:off x="548640" y="5376672"/>
            <a:ext cx="11064240" cy="530352"/>
          </a:xfrm>
          <a:prstGeom prst="roundRect">
            <a:avLst>
              <a:gd name="adj" fmla="val 17241"/>
            </a:avLst>
          </a:prstGeom>
          <a:solidFill>
            <a:schemeClr val="accent5"/>
          </a:solidFill>
          <a:ln/>
        </p:spPr>
      </p:sp>
      <p:sp>
        <p:nvSpPr>
          <p:cNvPr id="26" name="Text 24"/>
          <p:cNvSpPr txBox="1"/>
          <p:nvPr/>
        </p:nvSpPr>
        <p:spPr>
          <a:xfrm>
            <a:off x="777240" y="5376672"/>
            <a:ext cx="10698480" cy="530352"/>
          </a:xfrm>
          <a:prstGeom prst="rect">
            <a:avLst/>
          </a:prstGeom>
          <a:noFill/>
          <a:ln/>
        </p:spPr>
        <p:txBody>
          <a:bodyPr wrap="square" lIns="0" tIns="0" rIns="0" bIns="0" rtlCol="0" anchor="ctr"/>
          <a:lstStyle/>
          <a:p>
            <a:pPr indent="0" marL="0">
              <a:buNone/>
            </a:pPr>
            <a:r>
              <a:rPr lang="en-US" sz="1350" b="1" dirty="0">
                <a:solidFill>
                  <a:srgbClr val="00338D"/>
                </a:solidFill>
              </a:rPr>
              <a:t>Règle d'or : </a:t>
            </a:r>
            <a:pPr indent="0" marL="0">
              <a:buNone/>
            </a:pPr>
            <a:r>
              <a:rPr lang="en-US" sz="1350" dirty="0">
                <a:solidFill>
                  <a:schemeClr val="tx1"/>
                </a:solidFill>
              </a:rPr>
              <a:t>rien d'inventé. Une règle floue ou contradictoire devient une question au PO, pas un cas de test.</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Les résultats comparés sur l'US 417829</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Même US « Créer une nouvelle demande ». Notre résultat est un premier essai, à rejouer dans Copilot.</a:t>
            </a:r>
            <a:endParaRPr lang="en-US" sz="1600" dirty="0"/>
          </a:p>
        </p:txBody>
      </p:sp>
      <p:graphicFrame>
        <p:nvGraphicFramePr>
          <p:cNvPr id="6" name="table-comparaison"/>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286000"/>
                <a:gridCol w="4206240"/>
                <a:gridCol w="4572000"/>
              </a:tblGrid>
              <a:tr h="329184">
                <a:tc>
                  <a:txBody>
                    <a:bodyPr/>
                    <a:lstStyle/>
                    <a:p>
                      <a:pPr indent="0" marL="0">
                        <a:buNone/>
                      </a:pPr>
                      <a:r>
                        <a:rPr lang="en-US" sz="1200" b="1" dirty="0">
                          <a:solidFill>
                            <a:srgbClr val="FFFFFF"/>
                          </a:solidFill>
                        </a:rPr>
                        <a:t>Point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QC actuel</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Version proposée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29768">
                <a:tc>
                  <a:txBody>
                    <a:bodyPr/>
                    <a:lstStyle/>
                    <a:p>
                      <a:pPr indent="0" marL="0">
                        <a:buNone/>
                      </a:pPr>
                      <a:r>
                        <a:rPr lang="en-US" sz="1100" b="1" dirty="0">
                          <a:solidFill>
                            <a:srgbClr val="1A1A2E"/>
                          </a:solidFill>
                        </a:rPr>
                        <a:t>Forme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Une ligne Given, When, Then en anglais par cas ; « Fonctionnel » partout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Gherkin en français, préconditions, actions et résultats sur des lignes séparées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29768">
                <a:tc>
                  <a:txBody>
                    <a:bodyPr/>
                    <a:lstStyle/>
                    <a:p>
                      <a:pPr indent="0" marL="0">
                        <a:buNone/>
                      </a:pPr>
                      <a:r>
                        <a:rPr lang="en-US" sz="1100" b="1" dirty="0">
                          <a:solidFill>
                            <a:srgbClr val="1A1A2E"/>
                          </a:solidFill>
                        </a:rPr>
                        <a:t>Préconditions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 Given le formulaire ouvert » : ni rôle, ni écran ; « une entité valide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Rôle et compte, écran de départ, entité et statut de sa demande, documents joints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A1A2E"/>
                          </a:solidFill>
                        </a:rPr>
                        <a:t>Rôles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 un rôle autre qu'Admin ou SuperAdmin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Rôle User nommé, avec son compte de test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29768">
                <a:tc>
                  <a:txBody>
                    <a:bodyPr/>
                    <a:lstStyle/>
                    <a:p>
                      <a:pPr indent="0" marL="0">
                        <a:buNone/>
                      </a:pPr>
                      <a:r>
                        <a:rPr lang="en-US" sz="1100" b="1" dirty="0">
                          <a:solidFill>
                            <a:srgbClr val="1A1A2E"/>
                          </a:solidFill>
                        </a:rPr>
                        <a:t>Règle de validation : statut de l'entité</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1 cas sur 5 : entité sans demande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5 cas : aucune demande et Validé acceptés ; En cours, Retard, Révision refusés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A1A2E"/>
                          </a:solidFill>
                        </a:rPr>
                        <a:t>Champs obligatoires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1 cas générique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1 cas par champ, avec « aucune demande créée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29768">
                <a:tc>
                  <a:txBody>
                    <a:bodyPr/>
                    <a:lstStyle/>
                    <a:p>
                      <a:pPr indent="0" marL="0">
                        <a:buNone/>
                      </a:pPr>
                      <a:r>
                        <a:rPr lang="en-US" sz="1100" b="1" dirty="0">
                          <a:solidFill>
                            <a:srgbClr val="1A1A2E"/>
                          </a:solidFill>
                        </a:rPr>
                        <a:t>Bornes du millésime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1 cas « de -20 à +10 »</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4 cas : les bornes et les valeurs juste au-delà</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A1A2E"/>
                          </a:solidFill>
                        </a:rPr>
                        <a:t>Doublons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Reprise Oui et Reprise Non : même résultat</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Aucun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29768">
                <a:tc>
                  <a:txBody>
                    <a:bodyPr/>
                    <a:lstStyle/>
                    <a:p>
                      <a:pPr indent="0" marL="0">
                        <a:buNone/>
                      </a:pPr>
                      <a:r>
                        <a:rPr lang="en-US" sz="1100" b="1" dirty="0">
                          <a:solidFill>
                            <a:srgbClr val="1A1A2E"/>
                          </a:solidFill>
                        </a:rPr>
                        <a:t>Ce que l'US ne dit pas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Aucune question ; la contradiction sur l'entité inconnue n'est pas vue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00" dirty="0">
                          <a:solidFill>
                            <a:srgbClr val="00338D"/>
                          </a:solidFill>
                        </a:rPr>
                        <a:t>9 questions au PO, dont 2 bloquantes (entité inconnue, documents)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A1A2E"/>
                          </a:solidFill>
                        </a:rPr>
                        <a:t>Volume</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Au moins 15 cas</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00" dirty="0">
                          <a:solidFill>
                            <a:srgbClr val="00338D"/>
                          </a:solidFill>
                        </a:rPr>
                        <a:t>23 lignes exécutables, chacune avec sa raison</a:t>
                      </a:r>
                      <a:endParaRPr lang="en-US" sz="11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bl>
          </a:graphicData>
        </a:graphic>
      </p:graphicFrame>
      <p:sp>
        <p:nvSpPr>
          <p:cNvPr id="5" name="Text 2"/>
          <p:cNvSpPr txBox="1"/>
          <p:nvPr/>
        </p:nvSpPr>
        <p:spPr>
          <a:xfrm>
            <a:off x="548640" y="5943600"/>
            <a:ext cx="11064240" cy="310896"/>
          </a:xfrm>
          <a:prstGeom prst="rect">
            <a:avLst/>
          </a:prstGeom>
          <a:noFill/>
          <a:ln/>
        </p:spPr>
        <p:txBody>
          <a:bodyPr wrap="square" lIns="0" tIns="0" rIns="0" bIns="0" rtlCol="0" anchor="t"/>
          <a:lstStyle/>
          <a:p>
            <a:pPr indent="0" marL="0">
              <a:buNone/>
            </a:pPr>
            <a:r>
              <a:rPr lang="en-US" sz="1200" b="1" dirty="0">
                <a:solidFill>
                  <a:srgbClr val="00338D"/>
                </a:solidFill>
              </a:rPr>
              <a:t>Gardé de l'agent actuel : </a:t>
            </a:r>
            <a:pPr indent="0" marL="0">
              <a:buNone/>
            </a:pPr>
            <a:r>
              <a:rPr lang="en-US" sz="1200" dirty="0">
                <a:solidFill>
                  <a:schemeClr val="tx1"/>
                </a:solidFill>
              </a:rPr>
              <a:t>Reprise absente en Renouvellement, valeur par défaut concrète, ouverture du panneau, recherche d'un collaborateur.</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La règle de validation : 5 situations, 1 seule testée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Avant de créer une demande, le système regarde si l'entité a déjà une demande, et dans quel statut.</a:t>
            </a:r>
            <a:endParaRPr lang="en-US" sz="1600" dirty="0"/>
          </a:p>
        </p:txBody>
      </p:sp>
      <p:graphicFrame>
        <p:nvGraphicFramePr>
          <p:cNvPr id="7" name="table-situations"/>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3108960"/>
                <a:gridCol w="3017520"/>
                <a:gridCol w="2103120"/>
                <a:gridCol w="2834640"/>
              </a:tblGrid>
              <a:tr h="365760">
                <a:tc>
                  <a:txBody>
                    <a:bodyPr/>
                    <a:lstStyle/>
                    <a:p>
                      <a:pPr indent="0" marL="0">
                        <a:buNone/>
                      </a:pPr>
                      <a:r>
                        <a:rPr lang="en-US" sz="1200" b="1" dirty="0">
                          <a:solidFill>
                            <a:srgbClr val="FFFFFF"/>
                          </a:solidFill>
                        </a:rPr>
                        <a:t>Situation de l'entité</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que dit l'US</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actuel</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Version proposée</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57200">
                <a:tc>
                  <a:txBody>
                    <a:bodyPr/>
                    <a:lstStyle/>
                    <a:p>
                      <a:pPr indent="0" marL="0">
                        <a:buNone/>
                      </a:pPr>
                      <a:r>
                        <a:rPr lang="en-US" sz="1250" b="1" dirty="0">
                          <a:solidFill>
                            <a:srgbClr val="1A1A2E"/>
                          </a:solidFill>
                        </a:rPr>
                        <a:t>L'entité n'a aucune demande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Création acceptée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2E7D4F"/>
                          </a:solidFill>
                        </a:rPr>
                        <a:t>Testé (TC-012)</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250" b="1" dirty="0">
                          <a:solidFill>
                            <a:srgbClr val="2E7D4F"/>
                          </a:solidFill>
                        </a:rPr>
                        <a:t>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57200">
                <a:tc>
                  <a:txBody>
                    <a:bodyPr/>
                    <a:lstStyle/>
                    <a:p>
                      <a:pPr indent="0" marL="0">
                        <a:buNone/>
                      </a:pPr>
                      <a:r>
                        <a:rPr lang="en-US" sz="1250" b="1" dirty="0">
                          <a:solidFill>
                            <a:srgbClr val="1A1A2E"/>
                          </a:solidFill>
                        </a:rPr>
                        <a:t>Elle a une demande Validée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Création acceptée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b="1" dirty="0">
                          <a:solidFill>
                            <a:srgbClr val="B23B3B"/>
                          </a:solidFill>
                        </a:rPr>
                        <a:t>Non 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250" b="1" dirty="0">
                          <a:solidFill>
                            <a:srgbClr val="2E7D4F"/>
                          </a:solidFill>
                        </a:rPr>
                        <a:t>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57200">
                <a:tc>
                  <a:txBody>
                    <a:bodyPr/>
                    <a:lstStyle/>
                    <a:p>
                      <a:pPr indent="0" marL="0">
                        <a:buNone/>
                      </a:pPr>
                      <a:r>
                        <a:rPr lang="en-US" sz="1250" b="1" dirty="0">
                          <a:solidFill>
                            <a:srgbClr val="1A1A2E"/>
                          </a:solidFill>
                        </a:rPr>
                        <a:t>Elle a une demande En cours</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Création refusée, message d'erreur</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B23B3B"/>
                          </a:solidFill>
                        </a:rPr>
                        <a:t>Non 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250" b="1" dirty="0">
                          <a:solidFill>
                            <a:srgbClr val="2E7D4F"/>
                          </a:solidFill>
                        </a:rPr>
                        <a:t>Testé, demande existante inchangée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57200">
                <a:tc>
                  <a:txBody>
                    <a:bodyPr/>
                    <a:lstStyle/>
                    <a:p>
                      <a:pPr indent="0" marL="0">
                        <a:buNone/>
                      </a:pPr>
                      <a:r>
                        <a:rPr lang="en-US" sz="1250" b="1" dirty="0">
                          <a:solidFill>
                            <a:srgbClr val="1A1A2E"/>
                          </a:solidFill>
                        </a:rPr>
                        <a:t>Elle a une demande en Retard</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dirty="0">
                          <a:solidFill>
                            <a:srgbClr val="1A1A2E"/>
                          </a:solidFill>
                        </a:rPr>
                        <a:t>Création refusée, message d'erreur</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250" b="1" dirty="0">
                          <a:solidFill>
                            <a:srgbClr val="B23B3B"/>
                          </a:solidFill>
                        </a:rPr>
                        <a:t>Non 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250" b="1" dirty="0">
                          <a:solidFill>
                            <a:srgbClr val="2E7D4F"/>
                          </a:solidFill>
                        </a:rPr>
                        <a:t>Testé, demande existante inchangée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57200">
                <a:tc>
                  <a:txBody>
                    <a:bodyPr/>
                    <a:lstStyle/>
                    <a:p>
                      <a:pPr indent="0" marL="0">
                        <a:buNone/>
                      </a:pPr>
                      <a:r>
                        <a:rPr lang="en-US" sz="1250" b="1" dirty="0">
                          <a:solidFill>
                            <a:srgbClr val="1A1A2E"/>
                          </a:solidFill>
                        </a:rPr>
                        <a:t>Elle a une demande en Révision</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dirty="0">
                          <a:solidFill>
                            <a:srgbClr val="1A1A2E"/>
                          </a:solidFill>
                        </a:rPr>
                        <a:t>Création refusée, message d'erreur</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250" b="1" dirty="0">
                          <a:solidFill>
                            <a:srgbClr val="B23B3B"/>
                          </a:solidFill>
                        </a:rPr>
                        <a:t>Non testé</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250" b="1" dirty="0">
                          <a:solidFill>
                            <a:srgbClr val="2E7D4F"/>
                          </a:solidFill>
                        </a:rPr>
                        <a:t>Testé, demande existante inchangée</a:t>
                      </a:r>
                      <a:endParaRPr lang="en-US" sz="12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bl>
          </a:graphicData>
        </a:graphic>
      </p:graphicFrame>
      <p:sp>
        <p:nvSpPr>
          <p:cNvPr id="5" name="card"/>
          <p:cNvSpPr/>
          <p:nvPr/>
        </p:nvSpPr>
        <p:spPr>
          <a:xfrm>
            <a:off x="548640" y="4526280"/>
            <a:ext cx="3931920" cy="1371600"/>
          </a:xfrm>
          <a:prstGeom prst="roundRect">
            <a:avLst>
              <a:gd name="adj" fmla="val 6667"/>
            </a:avLst>
          </a:prstGeom>
          <a:solidFill>
            <a:schemeClr val="tx2"/>
          </a:solidFill>
          <a:ln/>
        </p:spPr>
      </p:sp>
      <p:sp>
        <p:nvSpPr>
          <p:cNvPr id="6" name="Text 3"/>
          <p:cNvSpPr txBox="1"/>
          <p:nvPr/>
        </p:nvSpPr>
        <p:spPr>
          <a:xfrm>
            <a:off x="777240" y="4526280"/>
            <a:ext cx="3566160" cy="1371600"/>
          </a:xfrm>
          <a:prstGeom prst="rect">
            <a:avLst/>
          </a:prstGeom>
          <a:noFill/>
          <a:ln/>
        </p:spPr>
        <p:txBody>
          <a:bodyPr wrap="square" lIns="0" tIns="0" rIns="0" bIns="0" rtlCol="0" anchor="ctr"/>
          <a:lstStyle/>
          <a:p>
            <a:pPr indent="0" marL="0">
              <a:buNone/>
            </a:pPr>
            <a:r>
              <a:rPr lang="en-US" sz="1450" b="1" dirty="0">
                <a:solidFill>
                  <a:schemeClr val="bg1"/>
                </a:solidFill>
              </a:rPr>
              <a:t>Pourquoi c'est important</a:t>
            </a:r>
            <a:endParaRPr lang="en-US" sz="1200" dirty="0"/>
          </a:p>
          <a:p>
            <a:pPr indent="0" marL="0">
              <a:buNone/>
            </a:pPr>
            <a:r>
              <a:rPr lang="en-US" sz="1200" dirty="0">
                <a:solidFill>
                  <a:schemeClr val="bg1"/>
                </a:solidFill>
              </a:rPr>
              <a:t>Les trois refus empêchent de créer deux demandes en parallèle pour la même entité. Si cette règle casse, aucun cas actuel ne le verra.</a:t>
            </a:r>
            <a:endParaRPr lang="en-US" sz="1200" dirty="0"/>
          </a:p>
        </p:txBody>
      </p:sp>
      <p:sp>
        <p:nvSpPr>
          <p:cNvPr id="7" name="card"/>
          <p:cNvSpPr/>
          <p:nvPr/>
        </p:nvSpPr>
        <p:spPr>
          <a:xfrm>
            <a:off x="4663440" y="4526280"/>
            <a:ext cx="6949440" cy="1371600"/>
          </a:xfrm>
          <a:prstGeom prst="roundRect">
            <a:avLst>
              <a:gd name="adj" fmla="val 6667"/>
            </a:avLst>
          </a:prstGeom>
          <a:solidFill>
            <a:srgbClr val="DCEFE2"/>
          </a:solidFill>
          <a:ln/>
        </p:spPr>
      </p:sp>
      <p:sp>
        <p:nvSpPr>
          <p:cNvPr id="8" name="Text 5"/>
          <p:cNvSpPr txBox="1"/>
          <p:nvPr/>
        </p:nvSpPr>
        <p:spPr>
          <a:xfrm>
            <a:off x="4800600" y="4572000"/>
            <a:ext cx="6720840" cy="1280160"/>
          </a:xfrm>
          <a:prstGeom prst="rect">
            <a:avLst/>
          </a:prstGeom>
          <a:noFill/>
          <a:ln/>
        </p:spPr>
        <p:txBody>
          <a:bodyPr wrap="square" lIns="0" tIns="0" rIns="0" bIns="0"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Étant donné que l'utilisateur "ADM-TEST-01" est connecté avec le rôle "Admin"</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que l'entité "ENT-TEST-03" a une demande "DEM-TEST-03" au statut "En cours"</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que tous les champs obligatoires sont renseignés avec l'entité "ENT-TEST-03"</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Quand il clique sur "Valider la création"</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Alors un message d'erreur s'affiche</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aucune nouvelle demande n'est créée</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la demande "DEM-TEST-03" est toujours au statut "En cours"</a:t>
            </a:r>
            <a:endParaRPr lang="en-US" sz="9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Bilan de l'agent actuel</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Bon pour décrire l'écran et publier, insuffisant pour écrire des cas exécutables et couvrir les règles métier.</a:t>
            </a:r>
            <a:endParaRPr lang="en-US" sz="1600" dirty="0"/>
          </a:p>
        </p:txBody>
      </p:sp>
      <p:graphicFrame>
        <p:nvGraphicFramePr>
          <p:cNvPr id="8" name="table-bilan"/>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206240"/>
                <a:gridCol w="1737360"/>
                <a:gridCol w="5120640"/>
              </a:tblGrid>
              <a:tr h="384048">
                <a:tc>
                  <a:txBody>
                    <a:bodyPr/>
                    <a:lstStyle/>
                    <a:p>
                      <a:pPr indent="0" marL="0">
                        <a:buNone/>
                      </a:pPr>
                      <a:r>
                        <a:rPr lang="en-US" sz="1200" b="1" dirty="0">
                          <a:solidFill>
                            <a:srgbClr val="FFFFFF"/>
                          </a:solidFill>
                        </a:rPr>
                        <a:t>Domaine</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actuel</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fait</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566928">
                <a:tc>
                  <a:txBody>
                    <a:bodyPr/>
                    <a:lstStyle/>
                    <a:p>
                      <a:pPr indent="0" marL="0">
                        <a:buNone/>
                      </a:pPr>
                      <a:r>
                        <a:rPr lang="en-US" sz="1300" b="1" dirty="0">
                          <a:solidFill>
                            <a:srgbClr val="1A1A2E"/>
                          </a:solidFill>
                        </a:rPr>
                        <a:t>Lecture de l'écran (accès, panneau, champs)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2E7D4F"/>
                          </a:solidFill>
                        </a:rPr>
                        <a:t>Bon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300" dirty="0">
                          <a:solidFill>
                            <a:srgbClr val="00338D"/>
                          </a:solidFill>
                        </a:rPr>
                        <a:t>Gardé</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Publication technique dans Azure DevOps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4F"/>
                          </a:solidFill>
                        </a:rPr>
                        <a:t>Bon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300" dirty="0">
                          <a:solidFill>
                            <a:srgbClr val="00338D"/>
                          </a:solidFill>
                        </a:rPr>
                        <a:t>Gardée, après relecture et accord</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A1A2E"/>
                          </a:solidFill>
                        </a:rPr>
                        <a:t>Forme Gherkin : langue, Et, une ligne par étape</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Gherkin en français, une ligne par précondition, action et résultat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Préconditions et données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Rôle, compte, écran et données nommés dans chaque cas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A1A2E"/>
                          </a:solidFill>
                        </a:rPr>
                        <a:t>Règles métier de la validation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Règles extraites de l'US, toutes les situations testées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Regard critique sur l'US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23B3B"/>
                          </a:solidFill>
                        </a:rPr>
                        <a:t>Absent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300" dirty="0">
                          <a:solidFill>
                            <a:srgbClr val="00338D"/>
                          </a:solidFill>
                        </a:rPr>
                        <a:t>Questions au PO au lieu de résultats inventés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Prochaines étapes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Mesurer sur des US déjà traitées avant de remplacer les consignes de l'agent.</a:t>
            </a:r>
            <a:endParaRPr lang="en-US" sz="1600" dirty="0"/>
          </a:p>
        </p:txBody>
      </p:sp>
      <p:sp>
        <p:nvSpPr>
          <p:cNvPr id="4" name="Text 2"/>
          <p:cNvSpPr txBox="1"/>
          <p:nvPr/>
        </p:nvSpPr>
        <p:spPr>
          <a:xfrm>
            <a:off x="548640" y="1691640"/>
            <a:ext cx="6035040" cy="4023360"/>
          </a:xfrm>
          <a:prstGeom prst="rect">
            <a:avLst/>
          </a:prstGeom>
          <a:noFill/>
          <a:ln/>
        </p:spPr>
        <p:txBody>
          <a:bodyPr wrap="square" lIns="0" tIns="0" rIns="0" bIns="0" rtlCol="0" anchor="t"/>
          <a:lstStyle/>
          <a:p>
            <a:pPr marL="342900" indent="-342900">
              <a:spcAft>
                <a:spcPts val="1400"/>
              </a:spcAft>
              <a:buSzPct val="100000"/>
              <a:buFont typeface="+mj-lt"/>
              <a:buAutoNum type="arabicPeriod" startAt="1"/>
            </a:pPr>
            <a:r>
              <a:rPr lang="en-US" sz="1500" dirty="0">
                <a:solidFill>
                  <a:schemeClr val="tx1"/>
                </a:solidFill>
              </a:rPr>
              <a:t>Remplir le fichier de contexte projet : rôles, comptes de test, statuts, règles validées</a:t>
            </a:r>
            <a:endParaRPr lang="en-US" sz="1500" dirty="0"/>
          </a:p>
          <a:p>
            <a:pPr marL="342900" indent="-342900">
              <a:spcAft>
                <a:spcPts val="1400"/>
              </a:spcAft>
              <a:buSzPct val="100000"/>
              <a:buFont typeface="+mj-lt"/>
              <a:buAutoNum type="arabicPeriod" startAt="1"/>
            </a:pPr>
            <a:r>
              <a:rPr lang="en-US" sz="1500" dirty="0">
                <a:solidFill>
                  <a:schemeClr val="tx1"/>
                </a:solidFill>
              </a:rPr>
              <a:t>Rejouer la nouvelle version sur 3 US déjà traitées à la main</a:t>
            </a:r>
            <a:endParaRPr lang="en-US" sz="1500" dirty="0"/>
          </a:p>
          <a:p>
            <a:pPr marL="342900" indent="-342900">
              <a:spcAft>
                <a:spcPts val="1400"/>
              </a:spcAft>
              <a:buSzPct val="100000"/>
              <a:buFont typeface="+mj-lt"/>
              <a:buAutoNum type="arabicPeriod" startAt="1"/>
            </a:pPr>
            <a:r>
              <a:rPr lang="en-US" sz="1500" dirty="0">
                <a:solidFill>
                  <a:schemeClr val="tx1"/>
                </a:solidFill>
              </a:rPr>
              <a:t>Comparer ses cas aux cas validés, critère par critère</a:t>
            </a:r>
            <a:endParaRPr lang="en-US" sz="1500" dirty="0"/>
          </a:p>
          <a:p>
            <a:pPr marL="342900" indent="-342900">
              <a:spcAft>
                <a:spcPts val="1400"/>
              </a:spcAft>
              <a:buSzPct val="100000"/>
              <a:buFont typeface="+mj-lt"/>
              <a:buAutoNum type="arabicPeriod" startAt="1"/>
            </a:pPr>
            <a:r>
              <a:rPr lang="en-US" sz="1500" dirty="0">
                <a:solidFill>
                  <a:schemeClr val="tx1"/>
                </a:solidFill>
              </a:rPr>
              <a:t>Mesurer : cas inventés (cible : zéro), cas acceptés sans réécriture, temps de rédaction</a:t>
            </a:r>
            <a:endParaRPr lang="en-US" sz="1500" dirty="0"/>
          </a:p>
          <a:p>
            <a:pPr marL="342900" indent="-342900">
              <a:spcAft>
                <a:spcPts val="1400"/>
              </a:spcAft>
              <a:buSzPct val="100000"/>
              <a:buFont typeface="+mj-lt"/>
              <a:buAutoNum type="arabicPeriod" startAt="1"/>
            </a:pPr>
            <a:r>
              <a:rPr lang="en-US" sz="1500" dirty="0">
                <a:solidFill>
                  <a:schemeClr val="tx1"/>
                </a:solidFill>
              </a:rPr>
              <a:t>Publier d'abord en CSV, dans une suite de test dédiée</a:t>
            </a:r>
            <a:endParaRPr lang="en-US" sz="1500" dirty="0"/>
          </a:p>
        </p:txBody>
      </p:sp>
      <p:sp>
        <p:nvSpPr>
          <p:cNvPr id="5" name="card"/>
          <p:cNvSpPr/>
          <p:nvPr/>
        </p:nvSpPr>
        <p:spPr>
          <a:xfrm>
            <a:off x="6949440" y="1691640"/>
            <a:ext cx="4663440" cy="2331720"/>
          </a:xfrm>
          <a:prstGeom prst="roundRect">
            <a:avLst>
              <a:gd name="adj" fmla="val 3922"/>
            </a:avLst>
          </a:prstGeom>
          <a:solidFill>
            <a:schemeClr val="tx2"/>
          </a:solidFill>
          <a:ln/>
        </p:spPr>
      </p:sp>
      <p:sp>
        <p:nvSpPr>
          <p:cNvPr id="6" name="Text 4"/>
          <p:cNvSpPr txBox="1"/>
          <p:nvPr/>
        </p:nvSpPr>
        <p:spPr>
          <a:xfrm>
            <a:off x="7178040" y="1828800"/>
            <a:ext cx="4206240" cy="365760"/>
          </a:xfrm>
          <a:prstGeom prst="rect">
            <a:avLst/>
          </a:prstGeom>
          <a:noFill/>
          <a:ln/>
        </p:spPr>
        <p:txBody>
          <a:bodyPr wrap="square" lIns="0" tIns="0" rIns="0" bIns="0" rtlCol="0" anchor="t"/>
          <a:lstStyle/>
          <a:p>
            <a:pPr indent="0" marL="0">
              <a:buNone/>
            </a:pPr>
            <a:r>
              <a:rPr lang="en-US" sz="1600" b="1" dirty="0">
                <a:solidFill>
                  <a:schemeClr val="bg1"/>
                </a:solidFill>
              </a:rPr>
              <a:t>Ce qu'on demande</a:t>
            </a:r>
            <a:endParaRPr lang="en-US" sz="1600" dirty="0"/>
          </a:p>
        </p:txBody>
      </p:sp>
      <p:sp>
        <p:nvSpPr>
          <p:cNvPr id="7" name="Text 5"/>
          <p:cNvSpPr txBox="1"/>
          <p:nvPr/>
        </p:nvSpPr>
        <p:spPr>
          <a:xfrm>
            <a:off x="7178040" y="2286000"/>
            <a:ext cx="4251960" cy="16459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bg1"/>
                </a:solidFill>
              </a:rPr>
              <a:t>Valider la démarche</a:t>
            </a:r>
            <a:endParaRPr lang="en-US" sz="1400" dirty="0"/>
          </a:p>
          <a:p>
            <a:pPr marL="342900" indent="-342900">
              <a:spcAft>
                <a:spcPts val="1000"/>
              </a:spcAft>
              <a:buSzPct val="100000"/>
              <a:buChar char="•"/>
            </a:pPr>
            <a:r>
              <a:rPr lang="en-US" sz="1400" dirty="0">
                <a:solidFill>
                  <a:schemeClr val="bg1"/>
                </a:solidFill>
              </a:rPr>
              <a:t>Choisir les 3 US de référence</a:t>
            </a:r>
            <a:endParaRPr lang="en-US" sz="1400" dirty="0"/>
          </a:p>
          <a:p>
            <a:pPr marL="342900" indent="-342900">
              <a:spcAft>
                <a:spcPts val="1000"/>
              </a:spcAft>
              <a:buSzPct val="100000"/>
              <a:buChar char="•"/>
            </a:pPr>
            <a:r>
              <a:rPr lang="en-US" sz="1400" dirty="0">
                <a:solidFill>
                  <a:schemeClr val="bg1"/>
                </a:solidFill>
              </a:rPr>
              <a:t>Un accès pour mettre à jour les consignes de l'agent dans le dépôt</a:t>
            </a:r>
            <a:endParaRPr lang="en-US" sz="1400" dirty="0"/>
          </a:p>
        </p:txBody>
      </p:sp>
      <p:sp>
        <p:nvSpPr>
          <p:cNvPr id="8" name="card"/>
          <p:cNvSpPr/>
          <p:nvPr/>
        </p:nvSpPr>
        <p:spPr>
          <a:xfrm>
            <a:off x="6949440" y="4206240"/>
            <a:ext cx="4663440" cy="822960"/>
          </a:xfrm>
          <a:prstGeom prst="roundRect">
            <a:avLst>
              <a:gd name="adj" fmla="val 11111"/>
            </a:avLst>
          </a:prstGeom>
          <a:solidFill>
            <a:schemeClr val="accent5"/>
          </a:solidFill>
          <a:ln/>
        </p:spPr>
      </p:sp>
      <p:sp>
        <p:nvSpPr>
          <p:cNvPr id="9" name="Text 7"/>
          <p:cNvSpPr txBox="1"/>
          <p:nvPr/>
        </p:nvSpPr>
        <p:spPr>
          <a:xfrm>
            <a:off x="7178040" y="4206240"/>
            <a:ext cx="4297680" cy="822960"/>
          </a:xfrm>
          <a:prstGeom prst="rect">
            <a:avLst/>
          </a:prstGeom>
          <a:noFill/>
          <a:ln/>
        </p:spPr>
        <p:txBody>
          <a:bodyPr wrap="square" lIns="0" tIns="0" rIns="0" bIns="0" rtlCol="0" anchor="ctr"/>
          <a:lstStyle/>
          <a:p>
            <a:pPr indent="0" marL="0">
              <a:buNone/>
            </a:pPr>
            <a:r>
              <a:rPr lang="en-US" sz="1300" b="1" dirty="0">
                <a:solidFill>
                  <a:srgbClr val="00338D"/>
                </a:solidFill>
              </a:rPr>
              <a:t>Si les mesures ne sont pas meilleures, </a:t>
            </a:r>
            <a:pPr indent="0" marL="0">
              <a:buNone/>
            </a:pPr>
            <a:r>
              <a:rPr lang="en-US" sz="1300" dirty="0">
                <a:solidFill>
                  <a:schemeClr val="tx1"/>
                </a:solidFill>
              </a:rPr>
              <a:t>on garde l'agent actuel.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InfoCAC KPMG">
  <a:themeElements>
    <a:clrScheme name="InfoCAC KPMG">
      <a:dk1>
        <a:srgbClr val="1A1A2E"/>
      </a:dk1>
      <a:lt1>
        <a:srgbClr val="FFFFFF"/>
      </a:lt1>
      <a:dk2>
        <a:srgbClr val="00338D"/>
      </a:dk2>
      <a:lt2>
        <a:srgbClr val="EEF3FA"/>
      </a:lt2>
      <a:accent1>
        <a:srgbClr val="005EB8"/>
      </a:accent1>
      <a:accent2>
        <a:srgbClr val="0091DA"/>
      </a:accent2>
      <a:accent3>
        <a:srgbClr val="B8D4F0"/>
      </a:accent3>
      <a:accent4>
        <a:srgbClr val="5F6B7A"/>
      </a:accent4>
      <a:accent5>
        <a:srgbClr val="D9E4F2"/>
      </a:accent5>
      <a:accent6>
        <a:srgbClr val="00205B"/>
      </a:accent6>
      <a:hlink>
        <a:srgbClr val="005EB8"/>
      </a:hlink>
      <a:folHlink>
        <a:srgbClr val="00338D"/>
      </a:folHlink>
    </a:clrScheme>
    <a:fontScheme name="InfoCAC KPM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QC : actuel et proposé</dc:title>
  <dc:subject>PptxGenJS Presentation</dc:subject>
  <dc:creator>Daura</dc:creator>
  <cp:lastModifiedBy>Daura</cp:lastModifiedBy>
  <cp:revision>1</cp:revision>
  <dcterms:created xsi:type="dcterms:W3CDTF">2026-10-20T13:45:37Z</dcterms:created>
  <dcterms:modified xsi:type="dcterms:W3CDTF">2026-10-20T13:45:37Z</dcterms:modified>
</cp:coreProperties>
</file>