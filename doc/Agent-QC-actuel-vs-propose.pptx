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gent QC" id="{d4021ae9-59aa-7bed-74e7-cb9a45607c7e}">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courte : pourquoi l'agent QC actuel produit des cas difficiles à exécuter et parfois faux, ce que propose la nouvelle version, et la comparaison des deux résultats sur la même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Commencer par ce qui fonctionne : l'agent actuel parcourt correctement les sections de l'US qui décrivent l'écran, et sa publication dans Azure DevOps est techniquement fiable. La proposition ne repart pas de zéro : elle garde ces acquis et corrige la manière d'écrire les cas et de lire les règles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la sortie de l'agent pour l'US 417829 (cas TC-001 à TC-014, début de TC-015, et sa liste de cas UI) et son fichier de consignes qc.agent.md ; « l. » renvoie au numéro de ligne de ce fichier. Les parties 1, 2 et 4 de sa sortie (analyse, risques, cas limites) n'ont pas été relues : on ne dit donc pas qu'il n'a vu aucun risque, seulement que son format ne prévoit aucune place pour une question au PO (l. 207 : aucune partie en plus). Les numéros de section de l'US renvoient à la description de l'US 417829 : §1 Accès, §2 Panneau, §3 Nature du mandat, §4 Validation, §5 Création. Point le plus important : la règle de validation du §4 décrit cinq situations, l'agent n'en couvre qu'une dans les cas relus. Point le plus visible : chaque cas tient en une ligne, sans dire avec quel rôle se connecter ni quelles données préparer. Ce qui est réussi est conservé.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contexte projet est un fichier du dépôt, relu par l'équipe et daté : rôles, comptes de test, statuts, règles déjà validées, données fictives, points à confirmer. Il est créé une fois à partir du PRD et du DAG, puis complété après chaque US avec ce que l'équipe a validé. Il évite de traiter chaque US isolément. L'analyse lit l'US phrase par phrase, classe chaque règle (claire, à arbitrer, exploratoire), relève les préconditions et les combinaisons à tester, et rend un verdict qui dit quoi rédiger. La rédaction écrit ensuite les scénarios en français, seulement pour les règles claires. Les fichiers sont prêts : l'agent, six skills, un modèle de contexte projet et un script de contrôle sans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L'agent ne fait qu'une étape par commande et s'arrête : on relit avant de passer à la suite. Un document déposé ou un texte collé sans commande ne déclenche rien. Le contexte du projet est créé une fois à partir du PRD et du DAG, puis chaque analyse d'US propose des lignes à y ajouter : une règle confirmée, un statut, un rôle, un point à confirmer. Rien n'y entre sans source ni sans validation : sinon une erreur faite sur une US se répéterait dans toutes les suivantes. Les écritures dans Azure DevOps, les commits et les push passent par une confirmation contrôlée par un script, en plus des consignes. Le vrai verrou reste le PAT : en lecture seule pour ceux qui analysent. Ces contrôles techniques existent dans Claude Code ; dans VS Code avec Copilot, l'agent et les skills fonctionnent mais sans 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Limite de la comparaison : la sortie de l'agent actuel a été produite par l'agent de l'équipe ; notre résultat a été produit en appliquant les nouvelles consignes en dehors de cet outil. Le vrai test sera de rejouer le nouvel agent dans l'outil de l'équipe sur la même US. Comparaison faite sur la sortie de l'agent actuel (TC-001 à TC-014 et début de TC-015) et sur la version proposée appliquée à l'US complète. Sur l'accès, le panneau et les champs du formulaire, les deux couvertures sont proches. La différence est ailleurs. Exécutabilité : les cas actuels ne disent ni qui se connecte ni quelles données préparer. Règle métier : la validation dépend du statut de la demande existante sur l'entité ; l'agent actuel n'en teste qu'un cas. Ce que l'US ne dit pas : au §3, l'US annonce une erreur « entité ID inconnue » alors que l'entité ne peut pas être saisie librement ; l'agent actuel prévoit de tester ce message sans relever ce point, la version proposée en fait une question bloquante. Millésime : les deux versions testent la valeur par défaut et la plage de -20 à +10 ans (TC-009, TC-010) ; pas de différence ici. Les textes exacts des messages sont dans les maquettes : ils restent à compléter.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Texte exact de l'US 417829, section 4 Validation, quatrième point, affiché en haut de la diapo. Il décrit cinq situations : deux où la création est possible (entité sans statut, entité au statut validé), trois où elle est refusée (une demande déjà en cours, en retard ou en révision). Dans les cas TC-001 à TC-015, l'agent actuel n'en couvre qu'une : TC-012, « une entité sans demande existante ». La version proposée couvre les cinq ; pour chaque refus, elle vérifie aussi que la demande déjà existante n'a pas changé. À droite, l'un des trois scénarios de refus, en version abrégée. Deux points restent à confirmer avec le PO : le texte exact du message d'erreur (« cf maquettes » dans l'US) et le sens de « pas encore de statut », que nous lisons comme « aucune demande sur cette entité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à dire en une phrase : l'agent actuel sait décrire l'écran et publier, mais ses cas ne sont pas exécutables tels quels et il passe à côté des règles métier et de ce que l'US ne dit pas. La proposition garde les deux points forts et corrige les quatre autres.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3 US de référence sont des US déjà traitées à la main, dont les cas sont validés : on connaît la bonne réponse, on peut donc juger l'agent objectivement. Zéro cas inventé est la seule cible non négociable : un cas avec un résultat inventé coûte plus de temps qu'il n'en fait gagner. Le contenu des US, du PRD et du DAG est envoyé à l'outil IA : rester dans l'outil et le périmètre de données autorisés par KPMG.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21031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731520" y="3931920"/>
            <a:ext cx="10698480" cy="1463040"/>
          </a:xfrm>
          <a:prstGeom prst="rect">
            <a:avLst/>
          </a:prstGeom>
          <a:noFill/>
          <a:ln/>
        </p:spPr>
        <p:txBody>
          <a:bodyPr wrap="square" rtlCol="0"/>
          <a:lstStyle>
            <a:lvl1pPr algn="l" indent="0" marL="0">
              <a:buNone/>
              <a:defRPr lang="en-US" sz="1800" dirty="0">
                <a:solidFill>
                  <a:schemeClr val="accent3"/>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rtlCol="0"/>
          <a:lstStyle>
            <a:lvl1pPr algn="l" indent="0" marL="0">
              <a:buNone/>
              <a:defRPr lang="en-US" sz="1600" i="1" dirty="0">
                <a:solidFill>
                  <a:schemeClr val="accent1"/>
                </a:solidFill>
              </a:defRPr>
            </a:lvl1pPr>
          </a:lstStyle>
          <a:p>
            <a:pPr algn="l" indent="0" marL="0">
              <a:buNone/>
            </a:pPr>
            <a:endParaRPr lang="en-US" sz="1600" dirty="0"/>
          </a:p>
        </p:txBody>
      </p:sp>
      <p:sp>
        <p:nvSpPr>
          <p:cNvPr id="4"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InfoCAC · Agent QC : actuel et proposé · Document de travail</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2103120"/>
          </a:xfrm>
          <a:prstGeom prst="rect">
            <a:avLst/>
          </a:prstGeom>
          <a:noFill/>
          <a:ln/>
        </p:spPr>
        <p:txBody>
          <a:bodyPr wrap="square" lIns="0" tIns="0" rIns="0" bIns="0" rtlCol="0" anchor="b"/>
          <a:lstStyle/>
          <a:p>
            <a:pPr algn="l" indent="0" marL="0">
              <a:buNone/>
            </a:pPr>
            <a:r>
              <a:rPr lang="en-US" sz="3600" b="1" dirty="0">
                <a:solidFill>
                  <a:schemeClr val="bg1"/>
                </a:solidFill>
              </a:rPr>
              <a:t>Agent QC : ce qui ne va pas, ce qu'on propose</a:t>
            </a:r>
            <a:endParaRPr lang="en-US" sz="3600" dirty="0"/>
          </a:p>
        </p:txBody>
      </p:sp>
      <p:sp>
        <p:nvSpPr>
          <p:cNvPr id="3" name="Text 0"/>
          <p:cNvSpPr/>
          <p:nvPr>
            <p:ph idx="101" type="body" hasCustomPrompt="1"/>
          </p:nvPr>
        </p:nvSpPr>
        <p:spPr>
          <a:xfrm>
            <a:off x="731520" y="3931920"/>
            <a:ext cx="10698480" cy="1463040"/>
          </a:xfrm>
          <a:prstGeom prst="rect">
            <a:avLst/>
          </a:prstGeom>
          <a:noFill/>
          <a:ln/>
        </p:spPr>
        <p:txBody>
          <a:bodyPr wrap="square" lIns="0" tIns="0" rIns="0" bIns="0" rtlCol="0" anchor="t"/>
          <a:lstStyle/>
          <a:p>
            <a:pPr algn="l" indent="0" marL="0">
              <a:buNone/>
            </a:pPr>
            <a:r>
              <a:rPr lang="en-US" sz="1800" dirty="0">
                <a:solidFill>
                  <a:schemeClr val="accent3"/>
                </a:solidFill>
              </a:rPr>
              <a:t>Comparaison sur une vraie US : 417829 « Créer une nouvelle demande »</a:t>
            </a:r>
            <a:endParaRPr lang="en-US" sz="1800" dirty="0"/>
          </a:p>
          <a:p>
            <a:pPr algn="l" indent="0" marL="0">
              <a:buNone/>
            </a:pPr>
            <a:r>
              <a:rPr lang="en-US" sz="1800" dirty="0">
                <a:solidFill>
                  <a:schemeClr val="accent3"/>
                </a:solidFill>
              </a:rPr>
              <a:t>Octobre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Ce que l'agent actuel fait bien</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Un bon premier jet pour décrire l'écran : on le garde comme base.</a:t>
            </a:r>
            <a:endParaRPr lang="en-US" sz="1600" dirty="0"/>
          </a:p>
        </p:txBody>
      </p:sp>
      <p:sp>
        <p:nvSpPr>
          <p:cNvPr id="4" name="card"/>
          <p:cNvSpPr/>
          <p:nvPr/>
        </p:nvSpPr>
        <p:spPr>
          <a:xfrm>
            <a:off x="548640" y="1645920"/>
            <a:ext cx="3520440" cy="1965960"/>
          </a:xfrm>
          <a:prstGeom prst="roundRect">
            <a:avLst>
              <a:gd name="adj" fmla="val 4651"/>
            </a:avLst>
          </a:prstGeom>
          <a:solidFill>
            <a:schemeClr val="bg2"/>
          </a:solidFill>
          <a:ln/>
        </p:spPr>
      </p:sp>
      <p:pic>
        <p:nvPicPr>
          <p:cNvPr id="5" name="check" descr="preencoded.png">    </p:cNvPr>
          <p:cNvPicPr>
            <a:picLocks noChangeAspect="1"/>
          </p:cNvPicPr>
          <p:nvPr/>
        </p:nvPicPr>
        <p:blipFill>
          <a:blip r:embed="rId1"/>
          <a:stretch>
            <a:fillRect/>
          </a:stretch>
        </p:blipFill>
        <p:spPr>
          <a:xfrm>
            <a:off x="731520" y="1847088"/>
            <a:ext cx="329184" cy="329184"/>
          </a:xfrm>
          <a:prstGeom prst="rect">
            <a:avLst/>
          </a:prstGeom>
        </p:spPr>
      </p:pic>
      <p:sp>
        <p:nvSpPr>
          <p:cNvPr id="6" name="Text 3"/>
          <p:cNvSpPr txBox="1"/>
          <p:nvPr/>
        </p:nvSpPr>
        <p:spPr>
          <a:xfrm>
            <a:off x="1188720" y="1792224"/>
            <a:ext cx="2743200" cy="457200"/>
          </a:xfrm>
          <a:prstGeom prst="rect">
            <a:avLst/>
          </a:prstGeom>
          <a:noFill/>
          <a:ln/>
        </p:spPr>
        <p:txBody>
          <a:bodyPr wrap="square" lIns="0" tIns="0" rIns="0" bIns="0" rtlCol="0" anchor="ctr"/>
          <a:lstStyle/>
          <a:p>
            <a:pPr indent="0" marL="0">
              <a:buNone/>
            </a:pPr>
            <a:r>
              <a:rPr lang="en-US" sz="1450" b="1" dirty="0">
                <a:solidFill>
                  <a:schemeClr val="tx2"/>
                </a:solidFill>
              </a:rPr>
              <a:t>Couvre l'US dans l'ordre</a:t>
            </a:r>
            <a:endParaRPr lang="en-US" sz="1450" dirty="0"/>
          </a:p>
        </p:txBody>
      </p:sp>
      <p:sp>
        <p:nvSpPr>
          <p:cNvPr id="7" name="Text 4"/>
          <p:cNvSpPr txBox="1"/>
          <p:nvPr/>
        </p:nvSpPr>
        <p:spPr>
          <a:xfrm>
            <a:off x="731520" y="2377440"/>
            <a:ext cx="3154680" cy="1143000"/>
          </a:xfrm>
          <a:prstGeom prst="rect">
            <a:avLst/>
          </a:prstGeom>
          <a:noFill/>
          <a:ln/>
        </p:spPr>
        <p:txBody>
          <a:bodyPr wrap="square" lIns="0" tIns="0" rIns="0" bIns="0" rtlCol="0" anchor="t"/>
          <a:lstStyle/>
          <a:p>
            <a:pPr indent="0" marL="0">
              <a:buNone/>
            </a:pPr>
            <a:r>
              <a:rPr lang="en-US" sz="1250" dirty="0">
                <a:solidFill>
                  <a:schemeClr val="tx1"/>
                </a:solidFill>
              </a:rPr>
              <a:t>Rôles, panneau, champs par nature, Affectée à, Millésime, Entité ID : sans oubli majeur sur l'écran</a:t>
            </a:r>
            <a:endParaRPr lang="en-US" sz="1250" dirty="0"/>
          </a:p>
        </p:txBody>
      </p:sp>
      <p:sp>
        <p:nvSpPr>
          <p:cNvPr id="8" name="card"/>
          <p:cNvSpPr/>
          <p:nvPr/>
        </p:nvSpPr>
        <p:spPr>
          <a:xfrm>
            <a:off x="4297680" y="1645920"/>
            <a:ext cx="3520440" cy="1965960"/>
          </a:xfrm>
          <a:prstGeom prst="roundRect">
            <a:avLst>
              <a:gd name="adj" fmla="val 4651"/>
            </a:avLst>
          </a:prstGeom>
          <a:solidFill>
            <a:schemeClr val="bg2"/>
          </a:solidFill>
          <a:ln/>
        </p:spPr>
      </p:sp>
      <p:pic>
        <p:nvPicPr>
          <p:cNvPr id="9" name="check" descr="preencoded.png">    </p:cNvPr>
          <p:cNvPicPr>
            <a:picLocks noChangeAspect="1"/>
          </p:cNvPicPr>
          <p:nvPr/>
        </p:nvPicPr>
        <p:blipFill>
          <a:blip r:embed="rId2"/>
          <a:stretch>
            <a:fillRect/>
          </a:stretch>
        </p:blipFill>
        <p:spPr>
          <a:xfrm>
            <a:off x="4480560" y="1847088"/>
            <a:ext cx="329184" cy="329184"/>
          </a:xfrm>
          <a:prstGeom prst="rect">
            <a:avLst/>
          </a:prstGeom>
        </p:spPr>
      </p:pic>
      <p:sp>
        <p:nvSpPr>
          <p:cNvPr id="10" name="Text 6"/>
          <p:cNvSpPr txBox="1"/>
          <p:nvPr/>
        </p:nvSpPr>
        <p:spPr>
          <a:xfrm>
            <a:off x="4937760" y="1792224"/>
            <a:ext cx="2743200" cy="457200"/>
          </a:xfrm>
          <a:prstGeom prst="rect">
            <a:avLst/>
          </a:prstGeom>
          <a:noFill/>
          <a:ln/>
        </p:spPr>
        <p:txBody>
          <a:bodyPr wrap="square" lIns="0" tIns="0" rIns="0" bIns="0" rtlCol="0" anchor="ctr"/>
          <a:lstStyle/>
          <a:p>
            <a:pPr indent="0" marL="0">
              <a:buNone/>
            </a:pPr>
            <a:r>
              <a:rPr lang="en-US" sz="1450" b="1" dirty="0">
                <a:solidFill>
                  <a:schemeClr val="tx2"/>
                </a:solidFill>
              </a:rPr>
              <a:t>Voit les différences entre natures</a:t>
            </a:r>
            <a:endParaRPr lang="en-US" sz="1450" dirty="0"/>
          </a:p>
        </p:txBody>
      </p:sp>
      <p:sp>
        <p:nvSpPr>
          <p:cNvPr id="11" name="Text 7"/>
          <p:cNvSpPr txBox="1"/>
          <p:nvPr/>
        </p:nvSpPr>
        <p:spPr>
          <a:xfrm>
            <a:off x="4480560" y="2377440"/>
            <a:ext cx="3154680" cy="1143000"/>
          </a:xfrm>
          <a:prstGeom prst="rect">
            <a:avLst/>
          </a:prstGeom>
          <a:noFill/>
          <a:ln/>
        </p:spPr>
        <p:txBody>
          <a:bodyPr wrap="square" lIns="0" tIns="0" rIns="0" bIns="0" rtlCol="0" anchor="t"/>
          <a:lstStyle/>
          <a:p>
            <a:pPr indent="0" marL="0">
              <a:buNone/>
            </a:pPr>
            <a:r>
              <a:rPr lang="en-US" sz="1250" dirty="0">
                <a:solidFill>
                  <a:schemeClr val="tx1"/>
                </a:solidFill>
              </a:rPr>
              <a:t>TC-005 vérifie que le champ Reprise n'est pas affiché en Renouvellement</a:t>
            </a:r>
            <a:endParaRPr lang="en-US" sz="1250" dirty="0"/>
          </a:p>
        </p:txBody>
      </p:sp>
      <p:sp>
        <p:nvSpPr>
          <p:cNvPr id="12" name="card"/>
          <p:cNvSpPr/>
          <p:nvPr/>
        </p:nvSpPr>
        <p:spPr>
          <a:xfrm>
            <a:off x="8046720" y="1645920"/>
            <a:ext cx="3520440" cy="1965960"/>
          </a:xfrm>
          <a:prstGeom prst="roundRect">
            <a:avLst>
              <a:gd name="adj" fmla="val 4651"/>
            </a:avLst>
          </a:prstGeom>
          <a:solidFill>
            <a:schemeClr val="bg2"/>
          </a:solidFill>
          <a:ln/>
        </p:spPr>
      </p:sp>
      <p:pic>
        <p:nvPicPr>
          <p:cNvPr id="13" name="check" descr="preencoded.png">    </p:cNvPr>
          <p:cNvPicPr>
            <a:picLocks noChangeAspect="1"/>
          </p:cNvPicPr>
          <p:nvPr/>
        </p:nvPicPr>
        <p:blipFill>
          <a:blip r:embed="rId3"/>
          <a:stretch>
            <a:fillRect/>
          </a:stretch>
        </p:blipFill>
        <p:spPr>
          <a:xfrm>
            <a:off x="8229600" y="1847088"/>
            <a:ext cx="329184" cy="329184"/>
          </a:xfrm>
          <a:prstGeom prst="rect">
            <a:avLst/>
          </a:prstGeom>
        </p:spPr>
      </p:pic>
      <p:sp>
        <p:nvSpPr>
          <p:cNvPr id="14" name="Text 9"/>
          <p:cNvSpPr txBox="1"/>
          <p:nvPr/>
        </p:nvSpPr>
        <p:spPr>
          <a:xfrm>
            <a:off x="8686800" y="1792224"/>
            <a:ext cx="2743200" cy="457200"/>
          </a:xfrm>
          <a:prstGeom prst="rect">
            <a:avLst/>
          </a:prstGeom>
          <a:noFill/>
          <a:ln/>
        </p:spPr>
        <p:txBody>
          <a:bodyPr wrap="square" lIns="0" tIns="0" rIns="0" bIns="0" rtlCol="0" anchor="ctr"/>
          <a:lstStyle/>
          <a:p>
            <a:pPr indent="0" marL="0">
              <a:buNone/>
            </a:pPr>
            <a:r>
              <a:rPr lang="en-US" sz="1450" b="1" dirty="0">
                <a:solidFill>
                  <a:schemeClr val="tx2"/>
                </a:solidFill>
              </a:rPr>
              <a:t>Reste fidèle au texte de l'US</a:t>
            </a:r>
            <a:endParaRPr lang="en-US" sz="1450" dirty="0"/>
          </a:p>
        </p:txBody>
      </p:sp>
      <p:sp>
        <p:nvSpPr>
          <p:cNvPr id="15" name="Text 10"/>
          <p:cNvSpPr txBox="1"/>
          <p:nvPr/>
        </p:nvSpPr>
        <p:spPr>
          <a:xfrm>
            <a:off x="8229600" y="2377440"/>
            <a:ext cx="3154680" cy="1143000"/>
          </a:xfrm>
          <a:prstGeom prst="rect">
            <a:avLst/>
          </a:prstGeom>
          <a:noFill/>
          <a:ln/>
        </p:spPr>
        <p:txBody>
          <a:bodyPr wrap="square" lIns="0" tIns="0" rIns="0" bIns="0" rtlCol="0" anchor="t"/>
          <a:lstStyle/>
          <a:p>
            <a:pPr indent="0" marL="0">
              <a:buNone/>
            </a:pPr>
            <a:r>
              <a:rPr lang="en-US" sz="1250" dirty="0">
                <a:solidFill>
                  <a:schemeClr val="tx1"/>
                </a:solidFill>
              </a:rPr>
              <a:t>Panneau à droite, liste visible (TC-004, US §2) ; millésime de -20 à +10 ans (TC-010, US §3) ; création puis redirection (TC-012, US §5)</a:t>
            </a:r>
            <a:endParaRPr lang="en-US" sz="1250" dirty="0"/>
          </a:p>
        </p:txBody>
      </p:sp>
      <p:sp>
        <p:nvSpPr>
          <p:cNvPr id="16" name="card"/>
          <p:cNvSpPr/>
          <p:nvPr/>
        </p:nvSpPr>
        <p:spPr>
          <a:xfrm>
            <a:off x="548640" y="3794760"/>
            <a:ext cx="3520440" cy="1965960"/>
          </a:xfrm>
          <a:prstGeom prst="roundRect">
            <a:avLst>
              <a:gd name="adj" fmla="val 4651"/>
            </a:avLst>
          </a:prstGeom>
          <a:solidFill>
            <a:schemeClr val="bg2"/>
          </a:solidFill>
          <a:ln/>
        </p:spPr>
      </p:sp>
      <p:pic>
        <p:nvPicPr>
          <p:cNvPr id="17" name="check" descr="preencoded.png">    </p:cNvPr>
          <p:cNvPicPr>
            <a:picLocks noChangeAspect="1"/>
          </p:cNvPicPr>
          <p:nvPr/>
        </p:nvPicPr>
        <p:blipFill>
          <a:blip r:embed="rId4"/>
          <a:stretch>
            <a:fillRect/>
          </a:stretch>
        </p:blipFill>
        <p:spPr>
          <a:xfrm>
            <a:off x="731520" y="3995928"/>
            <a:ext cx="329184" cy="329184"/>
          </a:xfrm>
          <a:prstGeom prst="rect">
            <a:avLst/>
          </a:prstGeom>
        </p:spPr>
      </p:pic>
      <p:sp>
        <p:nvSpPr>
          <p:cNvPr id="18" name="Text 12"/>
          <p:cNvSpPr txBox="1"/>
          <p:nvPr/>
        </p:nvSpPr>
        <p:spPr>
          <a:xfrm>
            <a:off x="1188720" y="3941064"/>
            <a:ext cx="2743200" cy="457200"/>
          </a:xfrm>
          <a:prstGeom prst="rect">
            <a:avLst/>
          </a:prstGeom>
          <a:noFill/>
          <a:ln/>
        </p:spPr>
        <p:txBody>
          <a:bodyPr wrap="square" lIns="0" tIns="0" rIns="0" bIns="0" rtlCol="0" anchor="ctr"/>
          <a:lstStyle/>
          <a:p>
            <a:pPr indent="0" marL="0">
              <a:buNone/>
            </a:pPr>
            <a:r>
              <a:rPr lang="en-US" sz="1450" b="1" dirty="0">
                <a:solidFill>
                  <a:schemeClr val="tx2"/>
                </a:solidFill>
              </a:rPr>
              <a:t>Donne parfois une donnée concrète</a:t>
            </a:r>
            <a:endParaRPr lang="en-US" sz="1450" dirty="0"/>
          </a:p>
        </p:txBody>
      </p:sp>
      <p:sp>
        <p:nvSpPr>
          <p:cNvPr id="19" name="Text 13"/>
          <p:cNvSpPr txBox="1"/>
          <p:nvPr/>
        </p:nvSpPr>
        <p:spPr>
          <a:xfrm>
            <a:off x="731520" y="4526280"/>
            <a:ext cx="3154680" cy="1143000"/>
          </a:xfrm>
          <a:prstGeom prst="rect">
            <a:avLst/>
          </a:prstGeom>
          <a:noFill/>
          <a:ln/>
        </p:spPr>
        <p:txBody>
          <a:bodyPr wrap="square" lIns="0" tIns="0" rIns="0" bIns="0" rtlCol="0" anchor="t"/>
          <a:lstStyle/>
          <a:p>
            <a:pPr indent="0" marL="0">
              <a:buNone/>
            </a:pPr>
            <a:r>
              <a:rPr lang="en-US" sz="1250" dirty="0">
                <a:solidFill>
                  <a:schemeClr val="tx1"/>
                </a:solidFill>
              </a:rPr>
              <a:t>TC-007 : « Jean Dupont », et le champ prérempli avec « Jean Dupont »</a:t>
            </a:r>
            <a:endParaRPr lang="en-US" sz="1250" dirty="0"/>
          </a:p>
        </p:txBody>
      </p:sp>
      <p:sp>
        <p:nvSpPr>
          <p:cNvPr id="20" name="card"/>
          <p:cNvSpPr/>
          <p:nvPr/>
        </p:nvSpPr>
        <p:spPr>
          <a:xfrm>
            <a:off x="4297680" y="3794760"/>
            <a:ext cx="3520440" cy="1965960"/>
          </a:xfrm>
          <a:prstGeom prst="roundRect">
            <a:avLst>
              <a:gd name="adj" fmla="val 4651"/>
            </a:avLst>
          </a:prstGeom>
          <a:solidFill>
            <a:schemeClr val="bg2"/>
          </a:solidFill>
          <a:ln/>
        </p:spPr>
      </p:sp>
      <p:pic>
        <p:nvPicPr>
          <p:cNvPr id="21" name="check" descr="preencoded.png">    </p:cNvPr>
          <p:cNvPicPr>
            <a:picLocks noChangeAspect="1"/>
          </p:cNvPicPr>
          <p:nvPr/>
        </p:nvPicPr>
        <p:blipFill>
          <a:blip r:embed="rId5"/>
          <a:stretch>
            <a:fillRect/>
          </a:stretch>
        </p:blipFill>
        <p:spPr>
          <a:xfrm>
            <a:off x="4480560" y="3995928"/>
            <a:ext cx="329184" cy="329184"/>
          </a:xfrm>
          <a:prstGeom prst="rect">
            <a:avLst/>
          </a:prstGeom>
        </p:spPr>
      </p:pic>
      <p:sp>
        <p:nvSpPr>
          <p:cNvPr id="22" name="Text 15"/>
          <p:cNvSpPr txBox="1"/>
          <p:nvPr/>
        </p:nvSpPr>
        <p:spPr>
          <a:xfrm>
            <a:off x="4937760" y="3941064"/>
            <a:ext cx="2743200" cy="457200"/>
          </a:xfrm>
          <a:prstGeom prst="rect">
            <a:avLst/>
          </a:prstGeom>
          <a:noFill/>
          <a:ln/>
        </p:spPr>
        <p:txBody>
          <a:bodyPr wrap="square" lIns="0" tIns="0" rIns="0" bIns="0" rtlCol="0" anchor="ctr"/>
          <a:lstStyle/>
          <a:p>
            <a:pPr indent="0" marL="0">
              <a:buNone/>
            </a:pPr>
            <a:r>
              <a:rPr lang="en-US" sz="1450" b="1" dirty="0">
                <a:solidFill>
                  <a:schemeClr val="tx2"/>
                </a:solidFill>
              </a:rPr>
              <a:t>Titres clairs, lisibles par le métier</a:t>
            </a:r>
            <a:endParaRPr lang="en-US" sz="1450" dirty="0"/>
          </a:p>
        </p:txBody>
      </p:sp>
      <p:sp>
        <p:nvSpPr>
          <p:cNvPr id="23" name="Text 16"/>
          <p:cNvSpPr txBox="1"/>
          <p:nvPr/>
        </p:nvSpPr>
        <p:spPr>
          <a:xfrm>
            <a:off x="4480560" y="4526280"/>
            <a:ext cx="3154680" cy="1143000"/>
          </a:xfrm>
          <a:prstGeom prst="rect">
            <a:avLst/>
          </a:prstGeom>
          <a:noFill/>
          <a:ln/>
        </p:spPr>
        <p:txBody>
          <a:bodyPr wrap="square" lIns="0" tIns="0" rIns="0" bIns="0" rtlCol="0" anchor="t"/>
          <a:lstStyle/>
          <a:p>
            <a:pPr indent="0" marL="0">
              <a:buNone/>
            </a:pPr>
            <a:r>
              <a:rPr lang="en-US" sz="1250" dirty="0">
                <a:solidFill>
                  <a:schemeClr val="tx1"/>
                </a:solidFill>
              </a:rPr>
              <a:t>« Bouton masqué pour les autres rôles », « Champs affichés pour Nouveau »</a:t>
            </a:r>
            <a:endParaRPr lang="en-US" sz="1250" dirty="0"/>
          </a:p>
        </p:txBody>
      </p:sp>
      <p:sp>
        <p:nvSpPr>
          <p:cNvPr id="24" name="card"/>
          <p:cNvSpPr/>
          <p:nvPr/>
        </p:nvSpPr>
        <p:spPr>
          <a:xfrm>
            <a:off x="8046720" y="3794760"/>
            <a:ext cx="3520440" cy="1965960"/>
          </a:xfrm>
          <a:prstGeom prst="roundRect">
            <a:avLst>
              <a:gd name="adj" fmla="val 4651"/>
            </a:avLst>
          </a:prstGeom>
          <a:solidFill>
            <a:schemeClr val="bg2"/>
          </a:solidFill>
          <a:ln/>
        </p:spPr>
      </p:sp>
      <p:pic>
        <p:nvPicPr>
          <p:cNvPr id="25" name="check" descr="preencoded.png">    </p:cNvPr>
          <p:cNvPicPr>
            <a:picLocks noChangeAspect="1"/>
          </p:cNvPicPr>
          <p:nvPr/>
        </p:nvPicPr>
        <p:blipFill>
          <a:blip r:embed="rId6"/>
          <a:stretch>
            <a:fillRect/>
          </a:stretch>
        </p:blipFill>
        <p:spPr>
          <a:xfrm>
            <a:off x="8229600" y="3995928"/>
            <a:ext cx="329184" cy="329184"/>
          </a:xfrm>
          <a:prstGeom prst="rect">
            <a:avLst/>
          </a:prstGeom>
        </p:spPr>
      </p:pic>
      <p:sp>
        <p:nvSpPr>
          <p:cNvPr id="26" name="Text 18"/>
          <p:cNvSpPr txBox="1"/>
          <p:nvPr/>
        </p:nvSpPr>
        <p:spPr>
          <a:xfrm>
            <a:off x="8686800" y="3941064"/>
            <a:ext cx="2743200" cy="457200"/>
          </a:xfrm>
          <a:prstGeom prst="rect">
            <a:avLst/>
          </a:prstGeom>
          <a:noFill/>
          <a:ln/>
        </p:spPr>
        <p:txBody>
          <a:bodyPr wrap="square" lIns="0" tIns="0" rIns="0" bIns="0" rtlCol="0" anchor="ctr"/>
          <a:lstStyle/>
          <a:p>
            <a:pPr indent="0" marL="0">
              <a:buNone/>
            </a:pPr>
            <a:r>
              <a:rPr lang="en-US" sz="1450" b="1" dirty="0">
                <a:solidFill>
                  <a:schemeClr val="tx2"/>
                </a:solidFill>
              </a:rPr>
              <a:t>Publication bien outillée</a:t>
            </a:r>
            <a:endParaRPr lang="en-US" sz="1450" dirty="0"/>
          </a:p>
        </p:txBody>
      </p:sp>
      <p:sp>
        <p:nvSpPr>
          <p:cNvPr id="27" name="Text 19"/>
          <p:cNvSpPr txBox="1"/>
          <p:nvPr/>
        </p:nvSpPr>
        <p:spPr>
          <a:xfrm>
            <a:off x="8229600" y="4526280"/>
            <a:ext cx="3154680" cy="1143000"/>
          </a:xfrm>
          <a:prstGeom prst="rect">
            <a:avLst/>
          </a:prstGeom>
          <a:noFill/>
          <a:ln/>
        </p:spPr>
        <p:txBody>
          <a:bodyPr wrap="square" lIns="0" tIns="0" rIns="0" bIns="0" rtlCol="0" anchor="t"/>
          <a:lstStyle/>
          <a:p>
            <a:pPr indent="0" marL="0">
              <a:buNone/>
            </a:pPr>
            <a:r>
              <a:rPr lang="en-US" sz="1250" dirty="0">
                <a:solidFill>
                  <a:schemeClr val="tx1"/>
                </a:solidFill>
              </a:rPr>
              <a:t>Ses consignes contrôlent chaque code HTTP et vérifient le lien entre chaque cas et l'US</a:t>
            </a:r>
            <a:endParaRPr lang="en-US" sz="12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Pourquoi l'agent actuel n'est pas fiable</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Sur l'US 417829 (cas TC-001 à TC-015 et autres cas UI) : ses défauts viennent surtout de ses consignes.</a:t>
            </a:r>
            <a:endParaRPr lang="en-US" sz="1600" dirty="0"/>
          </a:p>
        </p:txBody>
      </p:sp>
      <p:graphicFrame>
        <p:nvGraphicFramePr>
          <p:cNvPr id="4" name="table-defauts"/>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2514600"/>
                <a:gridCol w="3429000"/>
                <a:gridCol w="2377440"/>
                <a:gridCol w="2743200"/>
              </a:tblGrid>
              <a:tr h="329184">
                <a:tc>
                  <a:txBody>
                    <a:bodyPr/>
                    <a:lstStyle/>
                    <a:p>
                      <a:pPr indent="0" marL="0">
                        <a:buNone/>
                      </a:pPr>
                      <a:r>
                        <a:rPr lang="en-US" sz="1200" b="1" dirty="0">
                          <a:solidFill>
                            <a:srgbClr val="FFFFFF"/>
                          </a:solidFill>
                        </a:rPr>
                        <a:t>Ce qu'il produit</a:t>
                      </a:r>
                      <a:endParaRPr lang="en-US" sz="12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B23B3B"/>
                    </a:solidFill>
                  </a:tcPr>
                </a:tc>
                <a:tc>
                  <a:txBody>
                    <a:bodyPr/>
                    <a:lstStyle/>
                    <a:p>
                      <a:pPr indent="0" marL="0">
                        <a:buNone/>
                      </a:pPr>
                      <a:r>
                        <a:rPr lang="en-US" sz="1200" b="1" dirty="0">
                          <a:solidFill>
                            <a:srgbClr val="FFFFFF"/>
                          </a:solidFill>
                        </a:rPr>
                        <a:t>Exemple sur l'US 417829</a:t>
                      </a:r>
                      <a:endParaRPr lang="en-US" sz="12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B23B3B"/>
                    </a:solidFill>
                  </a:tcPr>
                </a:tc>
                <a:tc>
                  <a:txBody>
                    <a:bodyPr/>
                    <a:lstStyle/>
                    <a:p>
                      <a:pPr indent="0" marL="0">
                        <a:buNone/>
                      </a:pPr>
                      <a:r>
                        <a:rPr lang="en-US" sz="1200" b="1" dirty="0">
                          <a:solidFill>
                            <a:srgbClr val="FFFFFF"/>
                          </a:solidFill>
                        </a:rPr>
                        <a:t>Cause dans qc.agent.md</a:t>
                      </a:r>
                      <a:endParaRPr lang="en-US" sz="12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Ce qu'on propose</a:t>
                      </a:r>
                      <a:endParaRPr lang="en-US" sz="12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2E7D4F"/>
                    </a:solidFill>
                  </a:tcPr>
                </a:tc>
              </a:tr>
              <a:tr h="530352">
                <a:tc>
                  <a:txBody>
                    <a:bodyPr/>
                    <a:lstStyle/>
                    <a:p>
                      <a:pPr indent="0" marL="0">
                        <a:buNone/>
                      </a:pPr>
                      <a:r>
                        <a:rPr lang="en-US" sz="950" b="1" dirty="0">
                          <a:solidFill>
                            <a:srgbClr val="1A1A2E"/>
                          </a:solidFill>
                        </a:rPr>
                        <a:t>Chaque cas tient en une ligne Given, When, Then, sans aucun Et</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950" i="1" dirty="0">
                          <a:solidFill>
                            <a:srgbClr val="1A1A2E"/>
                          </a:solidFill>
                        </a:rPr>
                        <a:t>TC-013 : « Given une entité valide, Nature « Nouveau », Reprise « Oui » et tous les champs renseignés, When … »</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950" dirty="0">
                          <a:solidFill>
                            <a:srgbClr val="1A1A2E"/>
                          </a:solidFill>
                        </a:rPr>
                        <a:t>Gherkin dans une cellule de tableau (l. 205-206) ; exemple en Given, When, Then (l. 232)</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950" dirty="0">
                          <a:solidFill>
                            <a:srgbClr val="00338D"/>
                          </a:solidFill>
                        </a:rPr>
                        <a:t>Gherkin en français, une ligne par étape</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530352">
                <a:tc>
                  <a:txBody>
                    <a:bodyPr/>
                    <a:lstStyle/>
                    <a:p>
                      <a:pPr indent="0" marL="0">
                        <a:buNone/>
                      </a:pPr>
                      <a:r>
                        <a:rPr lang="en-US" sz="950" b="1" dirty="0">
                          <a:solidFill>
                            <a:srgbClr val="1A1A2E"/>
                          </a:solidFill>
                        </a:rPr>
                        <a:t>Ni rôle, ni écran, ni données</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950" i="1" dirty="0">
                          <a:solidFill>
                            <a:srgbClr val="1A1A2E"/>
                          </a:solidFill>
                        </a:rPr>
                        <a:t>TC-005 : « Given le formulaire de création ouvert » ; TC-003 : « un rôle autre qu'Admin ou SuperAdmin »</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950" dirty="0">
                          <a:solidFill>
                            <a:srgbClr val="1A1A2E"/>
                          </a:solidFill>
                        </a:rPr>
                        <a:t>Exemple à copier : « Given un utilisateur actif » (l. 232)</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950" dirty="0">
                          <a:solidFill>
                            <a:srgbClr val="00338D"/>
                          </a:solidFill>
                        </a:rPr>
                        <a:t>Rôle et compte, écran, données fictives dans chaque cas</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530352">
                <a:tc>
                  <a:txBody>
                    <a:bodyPr/>
                    <a:lstStyle/>
                    <a:p>
                      <a:pPr indent="0" marL="0">
                        <a:buNone/>
                      </a:pPr>
                      <a:r>
                        <a:rPr lang="en-US" sz="950" b="1" dirty="0">
                          <a:solidFill>
                            <a:srgbClr val="1A1A2E"/>
                          </a:solidFill>
                        </a:rPr>
                        <a:t>Actions résumées en une clause</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950" i="1" dirty="0">
                          <a:solidFill>
                            <a:srgbClr val="1A1A2E"/>
                          </a:solidFill>
                        </a:rPr>
                        <a:t>TC-008 : « saisit un nom ou prénom … et le sélectionne » ; TC-012 : « tous les champs renseignés »</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950" dirty="0">
                          <a:solidFill>
                            <a:srgbClr val="1A1A2E"/>
                          </a:solidFill>
                        </a:rPr>
                        <a:t>Une seule ligne par cas ; aucune règle sur les données</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950" dirty="0">
                          <a:solidFill>
                            <a:srgbClr val="00338D"/>
                          </a:solidFill>
                        </a:rPr>
                        <a:t>Quand puis Et : une action par ligne</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530352">
                <a:tc>
                  <a:txBody>
                    <a:bodyPr/>
                    <a:lstStyle/>
                    <a:p>
                      <a:pPr indent="0" marL="0">
                        <a:buNone/>
                      </a:pPr>
                      <a:r>
                        <a:rPr lang="en-US" sz="950" b="1" dirty="0">
                          <a:solidFill>
                            <a:srgbClr val="1A1A2E"/>
                          </a:solidFill>
                        </a:rPr>
                        <a:t>Résultats impossibles à vérifier</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950" i="1" dirty="0">
                          <a:solidFill>
                            <a:srgbClr val="1A1A2E"/>
                          </a:solidFill>
                        </a:rPr>
                        <a:t>TC-008 : « le collaborateur est affecté à la demande », avant sa création ; TC-013 : « le formulaire adapté »</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950" dirty="0">
                          <a:solidFill>
                            <a:srgbClr val="1A1A2E"/>
                          </a:solidFill>
                        </a:rPr>
                        <a:t>Aucune règle sur le résultat attendu</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950" dirty="0">
                          <a:solidFill>
                            <a:srgbClr val="00338D"/>
                          </a:solidFill>
                        </a:rPr>
                        <a:t>Résultat exact ; un refus vérifie que rien n'a changé</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530352">
                <a:tc>
                  <a:txBody>
                    <a:bodyPr/>
                    <a:lstStyle/>
                    <a:p>
                      <a:pPr indent="0" marL="0">
                        <a:buNone/>
                      </a:pPr>
                      <a:r>
                        <a:rPr lang="en-US" sz="950" b="1" dirty="0">
                          <a:solidFill>
                            <a:srgbClr val="1A1A2E"/>
                          </a:solidFill>
                        </a:rPr>
                        <a:t>Règle de validation peu couverte</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950" i="1" dirty="0">
                          <a:solidFill>
                            <a:srgbClr val="1A1A2E"/>
                          </a:solidFill>
                        </a:rPr>
                        <a:t>US §4 : 5 situations selon le statut de l'entité ; une seule dans TC-001 à TC-015 (TC-012)</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950" dirty="0">
                          <a:solidFill>
                            <a:srgbClr val="1A1A2E"/>
                          </a:solidFill>
                        </a:rPr>
                        <a:t>Aucune étape qui extrait les règles de l'US</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950" dirty="0">
                          <a:solidFill>
                            <a:srgbClr val="00338D"/>
                          </a:solidFill>
                        </a:rPr>
                        <a:t>Une ligne par situation décrite dans l'US</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530352">
                <a:tc>
                  <a:txBody>
                    <a:bodyPr/>
                    <a:lstStyle/>
                    <a:p>
                      <a:pPr indent="0" marL="0">
                        <a:buNone/>
                      </a:pPr>
                      <a:r>
                        <a:rPr lang="en-US" sz="950" b="1" dirty="0">
                          <a:solidFill>
                            <a:srgbClr val="1A1A2E"/>
                          </a:solidFill>
                        </a:rPr>
                        <a:t>Aucune question au PO, des ajouts non demandés</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950" i="1" dirty="0">
                          <a:solidFill>
                            <a:srgbClr val="1A1A2E"/>
                          </a:solidFill>
                        </a:rPr>
                        <a:t>Erreur « Entité ID inconnue » prévue en test UI, alors que TC-011 dit la saisie libre impossible ; « anti double clic » absent de l'US</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950" dirty="0">
                          <a:solidFill>
                            <a:srgbClr val="1A1A2E"/>
                          </a:solidFill>
                        </a:rPr>
                        <a:t>Structure fixe en 5 parties, aucune partie à ajouter (l. 207)</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950" dirty="0">
                          <a:solidFill>
                            <a:srgbClr val="00338D"/>
                          </a:solidFill>
                        </a:rPr>
                        <a:t>Une règle floue devient une question au PO</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530352">
                <a:tc>
                  <a:txBody>
                    <a:bodyPr/>
                    <a:lstStyle/>
                    <a:p>
                      <a:pPr indent="0" marL="0">
                        <a:buNone/>
                      </a:pPr>
                      <a:r>
                        <a:rPr lang="en-US" sz="950" b="1" dirty="0">
                          <a:solidFill>
                            <a:srgbClr val="1A1A2E"/>
                          </a:solidFill>
                        </a:rPr>
                        <a:t>Deux cas pour un même résultat écrit</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950" i="1" dirty="0">
                          <a:solidFill>
                            <a:srgbClr val="1A1A2E"/>
                          </a:solidFill>
                        </a:rPr>
                        <a:t>TC-013 et TC-014 : Reprise Oui, puis Non, « la demande est créée » et redirigée ; l'US ne dit pas ce que change Reprise</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950" dirty="0">
                          <a:solidFill>
                            <a:srgbClr val="1A1A2E"/>
                          </a:solidFill>
                        </a:rPr>
                        <a:t>Aucune règle sur les doublons</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950" dirty="0">
                          <a:solidFill>
                            <a:srgbClr val="00338D"/>
                          </a:solidFill>
                        </a:rPr>
                        <a:t>Un cas par résultat distinct</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530352">
                <a:tc>
                  <a:txBody>
                    <a:bodyPr/>
                    <a:lstStyle/>
                    <a:p>
                      <a:pPr indent="0" marL="0">
                        <a:buNone/>
                      </a:pPr>
                      <a:r>
                        <a:rPr lang="en-US" sz="950" b="1" dirty="0">
                          <a:solidFill>
                            <a:srgbClr val="1A1A2E"/>
                          </a:solidFill>
                        </a:rPr>
                        <a:t>Publication automatique, cas « Fonctionnel » seulement</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950" i="1" dirty="0">
                          <a:solidFill>
                            <a:srgbClr val="1A1A2E"/>
                          </a:solidFill>
                        </a:rPr>
                        <a:t>Un plan « QC - &lt;titre de l'US&gt; » créé pour chaque US ; les cas UI, dont l'erreur « Entité ID inconnue », ne sont jamais créés</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950" dirty="0">
                          <a:solidFill>
                            <a:srgbClr val="1A1A2E"/>
                          </a:solidFill>
                        </a:rPr>
                        <a:t>Création obligatoire dès qu'un ID est fourni (l. 51, 173) ; Fonctionnel seulement (l. 170)</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950" dirty="0">
                          <a:solidFill>
                            <a:srgbClr val="00338D"/>
                          </a:solidFill>
                        </a:rPr>
                        <a:t>Relecture, accord, plan existant</a:t>
                      </a:r>
                      <a:endParaRPr lang="en-US" sz="9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Ce qu'on propose</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Un contexte projet qui s'enrichit, deux étapes (analyser puis rédiger), une relecture humaine avant toute publication.</a:t>
            </a:r>
            <a:endParaRPr lang="en-US" sz="1600" dirty="0"/>
          </a:p>
        </p:txBody>
      </p:sp>
      <p:sp>
        <p:nvSpPr>
          <p:cNvPr id="4" name="etape"/>
          <p:cNvSpPr/>
          <p:nvPr/>
        </p:nvSpPr>
        <p:spPr>
          <a:xfrm>
            <a:off x="548640" y="1572768"/>
            <a:ext cx="2834640" cy="868680"/>
          </a:xfrm>
          <a:prstGeom prst="chevron">
            <a:avLst/>
          </a:prstGeom>
          <a:solidFill>
            <a:schemeClr val="tx2"/>
          </a:solidFill>
          <a:ln/>
        </p:spPr>
      </p:sp>
      <p:sp>
        <p:nvSpPr>
          <p:cNvPr id="5" name="Text 3"/>
          <p:cNvSpPr txBox="1"/>
          <p:nvPr/>
        </p:nvSpPr>
        <p:spPr>
          <a:xfrm>
            <a:off x="960120" y="1572768"/>
            <a:ext cx="2103120" cy="868680"/>
          </a:xfrm>
          <a:prstGeom prst="rect">
            <a:avLst/>
          </a:prstGeom>
          <a:noFill/>
          <a:ln/>
        </p:spPr>
        <p:txBody>
          <a:bodyPr wrap="square" lIns="0" tIns="0" rIns="0" bIns="0" rtlCol="0" anchor="ctr"/>
          <a:lstStyle/>
          <a:p>
            <a:pPr algn="ctr" indent="0" marL="0">
              <a:buNone/>
            </a:pPr>
            <a:r>
              <a:rPr lang="en-US" sz="1300" b="1" dirty="0">
                <a:solidFill>
                  <a:schemeClr val="bg1"/>
                </a:solidFill>
              </a:rPr>
              <a:t>Contexte projet</a:t>
            </a:r>
            <a:endParaRPr lang="en-US" sz="1300" dirty="0"/>
          </a:p>
          <a:p>
            <a:pPr algn="ctr" indent="0" marL="0">
              <a:buNone/>
            </a:pPr>
            <a:r>
              <a:rPr lang="en-US" sz="1000" dirty="0">
                <a:solidFill>
                  <a:schemeClr val="bg1"/>
                </a:solidFill>
              </a:rPr>
              <a:t>Créé depuis le PRD et le DAG, enrichi après validation</a:t>
            </a:r>
            <a:endParaRPr lang="en-US" sz="1300" dirty="0"/>
          </a:p>
        </p:txBody>
      </p:sp>
      <p:sp>
        <p:nvSpPr>
          <p:cNvPr id="6" name="etape"/>
          <p:cNvSpPr/>
          <p:nvPr/>
        </p:nvSpPr>
        <p:spPr>
          <a:xfrm>
            <a:off x="3291840" y="1572768"/>
            <a:ext cx="2834640" cy="868680"/>
          </a:xfrm>
          <a:prstGeom prst="chevron">
            <a:avLst/>
          </a:prstGeom>
          <a:solidFill>
            <a:schemeClr val="accent1"/>
          </a:solidFill>
          <a:ln/>
        </p:spPr>
      </p:sp>
      <p:sp>
        <p:nvSpPr>
          <p:cNvPr id="7" name="Text 5"/>
          <p:cNvSpPr txBox="1"/>
          <p:nvPr/>
        </p:nvSpPr>
        <p:spPr>
          <a:xfrm>
            <a:off x="3703320" y="1572768"/>
            <a:ext cx="2103120" cy="868680"/>
          </a:xfrm>
          <a:prstGeom prst="rect">
            <a:avLst/>
          </a:prstGeom>
          <a:noFill/>
          <a:ln/>
        </p:spPr>
        <p:txBody>
          <a:bodyPr wrap="square" lIns="0" tIns="0" rIns="0" bIns="0" rtlCol="0" anchor="ctr"/>
          <a:lstStyle/>
          <a:p>
            <a:pPr algn="ctr" indent="0" marL="0">
              <a:buNone/>
            </a:pPr>
            <a:r>
              <a:rPr lang="en-US" sz="1300" b="1" dirty="0">
                <a:solidFill>
                  <a:schemeClr val="bg1"/>
                </a:solidFill>
              </a:rPr>
              <a:t>Analyse de l'US</a:t>
            </a:r>
            <a:endParaRPr lang="en-US" sz="1300" dirty="0"/>
          </a:p>
          <a:p>
            <a:pPr algn="ctr" indent="0" marL="0">
              <a:buNone/>
            </a:pPr>
            <a:r>
              <a:rPr lang="en-US" sz="1000" dirty="0">
                <a:solidFill>
                  <a:schemeClr val="bg1"/>
                </a:solidFill>
              </a:rPr>
              <a:t>Règles, préconditions, combinaisons, questions au PO</a:t>
            </a:r>
            <a:endParaRPr lang="en-US" sz="1300" dirty="0"/>
          </a:p>
        </p:txBody>
      </p:sp>
      <p:sp>
        <p:nvSpPr>
          <p:cNvPr id="8" name="etape"/>
          <p:cNvSpPr/>
          <p:nvPr/>
        </p:nvSpPr>
        <p:spPr>
          <a:xfrm>
            <a:off x="6035040" y="1572768"/>
            <a:ext cx="2834640" cy="868680"/>
          </a:xfrm>
          <a:prstGeom prst="chevron">
            <a:avLst/>
          </a:prstGeom>
          <a:solidFill>
            <a:schemeClr val="tx2"/>
          </a:solidFill>
          <a:ln/>
        </p:spPr>
      </p:sp>
      <p:sp>
        <p:nvSpPr>
          <p:cNvPr id="9" name="Text 7"/>
          <p:cNvSpPr txBox="1"/>
          <p:nvPr/>
        </p:nvSpPr>
        <p:spPr>
          <a:xfrm>
            <a:off x="6446520" y="1572768"/>
            <a:ext cx="2103120" cy="868680"/>
          </a:xfrm>
          <a:prstGeom prst="rect">
            <a:avLst/>
          </a:prstGeom>
          <a:noFill/>
          <a:ln/>
        </p:spPr>
        <p:txBody>
          <a:bodyPr wrap="square" lIns="0" tIns="0" rIns="0" bIns="0" rtlCol="0" anchor="ctr"/>
          <a:lstStyle/>
          <a:p>
            <a:pPr algn="ctr" indent="0" marL="0">
              <a:buNone/>
            </a:pPr>
            <a:r>
              <a:rPr lang="en-US" sz="1300" b="1" dirty="0">
                <a:solidFill>
                  <a:schemeClr val="bg1"/>
                </a:solidFill>
              </a:rPr>
              <a:t>Rédaction Gherkin</a:t>
            </a:r>
            <a:endParaRPr lang="en-US" sz="1300" dirty="0"/>
          </a:p>
          <a:p>
            <a:pPr algn="ctr" indent="0" marL="0">
              <a:buNone/>
            </a:pPr>
            <a:r>
              <a:rPr lang="en-US" sz="1000" dirty="0">
                <a:solidFill>
                  <a:schemeClr val="bg1"/>
                </a:solidFill>
              </a:rPr>
              <a:t>Seulement pour les règles claires</a:t>
            </a:r>
            <a:endParaRPr lang="en-US" sz="1300" dirty="0"/>
          </a:p>
        </p:txBody>
      </p:sp>
      <p:sp>
        <p:nvSpPr>
          <p:cNvPr id="10" name="etape"/>
          <p:cNvSpPr/>
          <p:nvPr/>
        </p:nvSpPr>
        <p:spPr>
          <a:xfrm>
            <a:off x="8778240" y="1572768"/>
            <a:ext cx="2834640" cy="868680"/>
          </a:xfrm>
          <a:prstGeom prst="chevron">
            <a:avLst/>
          </a:prstGeom>
          <a:solidFill>
            <a:schemeClr val="accent4"/>
          </a:solidFill>
          <a:ln/>
        </p:spPr>
      </p:sp>
      <p:sp>
        <p:nvSpPr>
          <p:cNvPr id="11" name="Text 9"/>
          <p:cNvSpPr txBox="1"/>
          <p:nvPr/>
        </p:nvSpPr>
        <p:spPr>
          <a:xfrm>
            <a:off x="9189720" y="1572768"/>
            <a:ext cx="2103120" cy="868680"/>
          </a:xfrm>
          <a:prstGeom prst="rect">
            <a:avLst/>
          </a:prstGeom>
          <a:noFill/>
          <a:ln/>
        </p:spPr>
        <p:txBody>
          <a:bodyPr wrap="square" lIns="0" tIns="0" rIns="0" bIns="0" rtlCol="0" anchor="ctr"/>
          <a:lstStyle/>
          <a:p>
            <a:pPr algn="ctr" indent="0" marL="0">
              <a:buNone/>
            </a:pPr>
            <a:r>
              <a:rPr lang="en-US" sz="1300" b="1" dirty="0">
                <a:solidFill>
                  <a:schemeClr val="bg1"/>
                </a:solidFill>
              </a:rPr>
              <a:t>Relecture, publication</a:t>
            </a:r>
            <a:endParaRPr lang="en-US" sz="1300" dirty="0"/>
          </a:p>
          <a:p>
            <a:pPr algn="ctr" indent="0" marL="0">
              <a:buNone/>
            </a:pPr>
            <a:r>
              <a:rPr lang="en-US" sz="1000" dirty="0">
                <a:solidFill>
                  <a:schemeClr val="bg1"/>
                </a:solidFill>
              </a:rPr>
              <a:t>Après « oui », dans le plan existant ou en CSV</a:t>
            </a:r>
            <a:endParaRPr lang="en-US" sz="1300" dirty="0"/>
          </a:p>
        </p:txBody>
      </p:sp>
      <p:sp>
        <p:nvSpPr>
          <p:cNvPr id="12" name="Text 10"/>
          <p:cNvSpPr txBox="1"/>
          <p:nvPr/>
        </p:nvSpPr>
        <p:spPr>
          <a:xfrm>
            <a:off x="548640" y="2651760"/>
            <a:ext cx="11064240" cy="347472"/>
          </a:xfrm>
          <a:prstGeom prst="rect">
            <a:avLst/>
          </a:prstGeom>
          <a:noFill/>
          <a:ln/>
        </p:spPr>
        <p:txBody>
          <a:bodyPr wrap="square" lIns="0" tIns="0" rIns="0" bIns="0" rtlCol="0" anchor="t"/>
          <a:lstStyle/>
          <a:p>
            <a:pPr indent="0" marL="0">
              <a:buNone/>
            </a:pPr>
            <a:r>
              <a:rPr lang="en-US" sz="1600" b="1" dirty="0">
                <a:solidFill>
                  <a:schemeClr val="tx2"/>
                </a:solidFill>
              </a:rPr>
              <a:t>Chaque scénario est construit en trois blocs</a:t>
            </a:r>
            <a:endParaRPr lang="en-US" sz="1600" dirty="0"/>
          </a:p>
        </p:txBody>
      </p:sp>
      <p:sp>
        <p:nvSpPr>
          <p:cNvPr id="13" name="card"/>
          <p:cNvSpPr/>
          <p:nvPr/>
        </p:nvSpPr>
        <p:spPr>
          <a:xfrm>
            <a:off x="548640" y="3090672"/>
            <a:ext cx="3520440" cy="2148840"/>
          </a:xfrm>
          <a:prstGeom prst="roundRect">
            <a:avLst>
              <a:gd name="adj" fmla="val 4255"/>
            </a:avLst>
          </a:prstGeom>
          <a:solidFill>
            <a:schemeClr val="tx2"/>
          </a:solidFill>
          <a:ln/>
        </p:spPr>
      </p:sp>
      <p:sp>
        <p:nvSpPr>
          <p:cNvPr id="14" name="Text 12"/>
          <p:cNvSpPr txBox="1"/>
          <p:nvPr/>
        </p:nvSpPr>
        <p:spPr>
          <a:xfrm>
            <a:off x="731520" y="3182112"/>
            <a:ext cx="3200400" cy="329184"/>
          </a:xfrm>
          <a:prstGeom prst="rect">
            <a:avLst/>
          </a:prstGeom>
          <a:noFill/>
          <a:ln/>
        </p:spPr>
        <p:txBody>
          <a:bodyPr wrap="square" lIns="0" tIns="0" rIns="0" bIns="0" rtlCol="0" anchor="t"/>
          <a:lstStyle/>
          <a:p>
            <a:pPr indent="0" marL="0">
              <a:buNone/>
            </a:pPr>
            <a:r>
              <a:rPr lang="en-US" sz="1400" b="1" dirty="0">
                <a:solidFill>
                  <a:schemeClr val="bg1"/>
                </a:solidFill>
                <a:latin typeface="Courier New" pitchFamily="34" charset="0"/>
                <a:ea typeface="Courier New" pitchFamily="34" charset="-122"/>
                <a:cs typeface="Courier New" pitchFamily="34" charset="-120"/>
              </a:rPr>
              <a:t>Étant donné que … Et que …</a:t>
            </a:r>
            <a:endParaRPr lang="en-US" sz="1400" dirty="0"/>
          </a:p>
        </p:txBody>
      </p:sp>
      <p:sp>
        <p:nvSpPr>
          <p:cNvPr id="15" name="Text 13"/>
          <p:cNvSpPr txBox="1"/>
          <p:nvPr/>
        </p:nvSpPr>
        <p:spPr>
          <a:xfrm>
            <a:off x="731520" y="3529584"/>
            <a:ext cx="3200400" cy="292608"/>
          </a:xfrm>
          <a:prstGeom prst="rect">
            <a:avLst/>
          </a:prstGeom>
          <a:noFill/>
          <a:ln/>
        </p:spPr>
        <p:txBody>
          <a:bodyPr wrap="square" lIns="0" tIns="0" rIns="0" bIns="0" rtlCol="0" anchor="t"/>
          <a:lstStyle/>
          <a:p>
            <a:pPr indent="0" marL="0">
              <a:buNone/>
            </a:pPr>
            <a:r>
              <a:rPr lang="en-US" sz="1200" i="1" dirty="0">
                <a:solidFill>
                  <a:schemeClr val="accent3"/>
                </a:solidFill>
              </a:rPr>
              <a:t>Tout ce qui doit être vrai avant d'agir</a:t>
            </a:r>
            <a:endParaRPr lang="en-US" sz="1200" dirty="0"/>
          </a:p>
        </p:txBody>
      </p:sp>
      <p:sp>
        <p:nvSpPr>
          <p:cNvPr id="16" name="Text 14"/>
          <p:cNvSpPr txBox="1"/>
          <p:nvPr/>
        </p:nvSpPr>
        <p:spPr>
          <a:xfrm>
            <a:off x="731520" y="3886200"/>
            <a:ext cx="3200400" cy="12801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bg1"/>
                </a:solidFill>
              </a:rPr>
              <a:t>Qui est connecté : rôle et compte</a:t>
            </a:r>
            <a:endParaRPr lang="en-US" sz="1250" dirty="0"/>
          </a:p>
          <a:p>
            <a:pPr marL="342900" indent="-342900">
              <a:spcAft>
                <a:spcPts val="500"/>
              </a:spcAft>
              <a:buSzPct val="100000"/>
              <a:buChar char="•"/>
            </a:pPr>
            <a:r>
              <a:rPr lang="en-US" sz="1250" dirty="0">
                <a:solidFill>
                  <a:schemeClr val="bg1"/>
                </a:solidFill>
              </a:rPr>
              <a:t>Sur quel écran</a:t>
            </a:r>
            <a:endParaRPr lang="en-US" sz="1250" dirty="0"/>
          </a:p>
          <a:p>
            <a:pPr marL="342900" indent="-342900">
              <a:spcAft>
                <a:spcPts val="500"/>
              </a:spcAft>
              <a:buSzPct val="100000"/>
              <a:buChar char="•"/>
            </a:pPr>
            <a:r>
              <a:rPr lang="en-US" sz="1250" dirty="0">
                <a:solidFill>
                  <a:schemeClr val="bg1"/>
                </a:solidFill>
              </a:rPr>
              <a:t>Quelles données existent, dans quel état</a:t>
            </a:r>
            <a:endParaRPr lang="en-US" sz="1250" dirty="0"/>
          </a:p>
        </p:txBody>
      </p:sp>
      <p:sp>
        <p:nvSpPr>
          <p:cNvPr id="17" name="card"/>
          <p:cNvSpPr/>
          <p:nvPr/>
        </p:nvSpPr>
        <p:spPr>
          <a:xfrm>
            <a:off x="4297680" y="3090672"/>
            <a:ext cx="3520440" cy="2148840"/>
          </a:xfrm>
          <a:prstGeom prst="roundRect">
            <a:avLst>
              <a:gd name="adj" fmla="val 4255"/>
            </a:avLst>
          </a:prstGeom>
          <a:solidFill>
            <a:schemeClr val="bg2"/>
          </a:solidFill>
          <a:ln/>
        </p:spPr>
      </p:sp>
      <p:sp>
        <p:nvSpPr>
          <p:cNvPr id="18" name="Text 16"/>
          <p:cNvSpPr txBox="1"/>
          <p:nvPr/>
        </p:nvSpPr>
        <p:spPr>
          <a:xfrm>
            <a:off x="4480560" y="3182112"/>
            <a:ext cx="3200400" cy="329184"/>
          </a:xfrm>
          <a:prstGeom prst="rect">
            <a:avLst/>
          </a:prstGeom>
          <a:noFill/>
          <a:ln/>
        </p:spPr>
        <p:txBody>
          <a:bodyPr wrap="square" lIns="0" tIns="0" rIns="0" bIns="0" rtlCol="0" anchor="t"/>
          <a:lstStyle/>
          <a:p>
            <a:pPr indent="0" marL="0">
              <a:buNone/>
            </a:pPr>
            <a:r>
              <a:rPr lang="en-US" sz="1400" b="1" dirty="0">
                <a:solidFill>
                  <a:schemeClr val="tx2"/>
                </a:solidFill>
                <a:latin typeface="Courier New" pitchFamily="34" charset="0"/>
                <a:ea typeface="Courier New" pitchFamily="34" charset="-122"/>
                <a:cs typeface="Courier New" pitchFamily="34" charset="-120"/>
              </a:rPr>
              <a:t>Quand … Et …</a:t>
            </a:r>
            <a:endParaRPr lang="en-US" sz="1400" dirty="0"/>
          </a:p>
        </p:txBody>
      </p:sp>
      <p:sp>
        <p:nvSpPr>
          <p:cNvPr id="19" name="Text 17"/>
          <p:cNvSpPr txBox="1"/>
          <p:nvPr/>
        </p:nvSpPr>
        <p:spPr>
          <a:xfrm>
            <a:off x="4480560" y="3529584"/>
            <a:ext cx="3200400" cy="292608"/>
          </a:xfrm>
          <a:prstGeom prst="rect">
            <a:avLst/>
          </a:prstGeom>
          <a:noFill/>
          <a:ln/>
        </p:spPr>
        <p:txBody>
          <a:bodyPr wrap="square" lIns="0" tIns="0" rIns="0" bIns="0" rtlCol="0" anchor="t"/>
          <a:lstStyle/>
          <a:p>
            <a:pPr indent="0" marL="0">
              <a:buNone/>
            </a:pPr>
            <a:r>
              <a:rPr lang="en-US" sz="1200" i="1" dirty="0">
                <a:solidFill>
                  <a:schemeClr val="accent1"/>
                </a:solidFill>
              </a:rPr>
              <a:t>Les actions de l'utilisateur</a:t>
            </a:r>
            <a:endParaRPr lang="en-US" sz="1200" dirty="0"/>
          </a:p>
        </p:txBody>
      </p:sp>
      <p:sp>
        <p:nvSpPr>
          <p:cNvPr id="20" name="Text 18"/>
          <p:cNvSpPr txBox="1"/>
          <p:nvPr/>
        </p:nvSpPr>
        <p:spPr>
          <a:xfrm>
            <a:off x="4480560" y="3886200"/>
            <a:ext cx="3200400" cy="12801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1"/>
                </a:solidFill>
              </a:rPr>
              <a:t>Dans l'ordre du parcours</a:t>
            </a:r>
            <a:endParaRPr lang="en-US" sz="1250" dirty="0"/>
          </a:p>
          <a:p>
            <a:pPr marL="342900" indent="-342900">
              <a:spcAft>
                <a:spcPts val="500"/>
              </a:spcAft>
              <a:buSzPct val="100000"/>
              <a:buChar char="•"/>
            </a:pPr>
            <a:r>
              <a:rPr lang="en-US" sz="1250" dirty="0">
                <a:solidFill>
                  <a:schemeClr val="tx1"/>
                </a:solidFill>
              </a:rPr>
              <a:t>Jamais une vérification</a:t>
            </a:r>
            <a:endParaRPr lang="en-US" sz="1250" dirty="0"/>
          </a:p>
          <a:p>
            <a:pPr marL="342900" indent="-342900">
              <a:spcAft>
                <a:spcPts val="500"/>
              </a:spcAft>
              <a:buSzPct val="100000"/>
              <a:buChar char="•"/>
            </a:pPr>
            <a:r>
              <a:rPr lang="en-US" sz="1250" dirty="0">
                <a:solidFill>
                  <a:schemeClr val="tx1"/>
                </a:solidFill>
              </a:rPr>
              <a:t>Un seul comportement testé</a:t>
            </a:r>
            <a:endParaRPr lang="en-US" sz="1250" dirty="0"/>
          </a:p>
        </p:txBody>
      </p:sp>
      <p:sp>
        <p:nvSpPr>
          <p:cNvPr id="21" name="card"/>
          <p:cNvSpPr/>
          <p:nvPr/>
        </p:nvSpPr>
        <p:spPr>
          <a:xfrm>
            <a:off x="8046720" y="3090672"/>
            <a:ext cx="3520440" cy="2148840"/>
          </a:xfrm>
          <a:prstGeom prst="roundRect">
            <a:avLst>
              <a:gd name="adj" fmla="val 4255"/>
            </a:avLst>
          </a:prstGeom>
          <a:solidFill>
            <a:schemeClr val="bg2"/>
          </a:solidFill>
          <a:ln/>
        </p:spPr>
      </p:sp>
      <p:sp>
        <p:nvSpPr>
          <p:cNvPr id="22" name="Text 20"/>
          <p:cNvSpPr txBox="1"/>
          <p:nvPr/>
        </p:nvSpPr>
        <p:spPr>
          <a:xfrm>
            <a:off x="8229600" y="3182112"/>
            <a:ext cx="3200400" cy="329184"/>
          </a:xfrm>
          <a:prstGeom prst="rect">
            <a:avLst/>
          </a:prstGeom>
          <a:noFill/>
          <a:ln/>
        </p:spPr>
        <p:txBody>
          <a:bodyPr wrap="square" lIns="0" tIns="0" rIns="0" bIns="0" rtlCol="0" anchor="t"/>
          <a:lstStyle/>
          <a:p>
            <a:pPr indent="0" marL="0">
              <a:buNone/>
            </a:pPr>
            <a:r>
              <a:rPr lang="en-US" sz="1400" b="1" dirty="0">
                <a:solidFill>
                  <a:schemeClr val="tx2"/>
                </a:solidFill>
                <a:latin typeface="Courier New" pitchFamily="34" charset="0"/>
                <a:ea typeface="Courier New" pitchFamily="34" charset="-122"/>
                <a:cs typeface="Courier New" pitchFamily="34" charset="-120"/>
              </a:rPr>
              <a:t>Alors … Et …</a:t>
            </a:r>
            <a:endParaRPr lang="en-US" sz="1400" dirty="0"/>
          </a:p>
        </p:txBody>
      </p:sp>
      <p:sp>
        <p:nvSpPr>
          <p:cNvPr id="23" name="Text 21"/>
          <p:cNvSpPr txBox="1"/>
          <p:nvPr/>
        </p:nvSpPr>
        <p:spPr>
          <a:xfrm>
            <a:off x="8229600" y="3529584"/>
            <a:ext cx="3200400" cy="292608"/>
          </a:xfrm>
          <a:prstGeom prst="rect">
            <a:avLst/>
          </a:prstGeom>
          <a:noFill/>
          <a:ln/>
        </p:spPr>
        <p:txBody>
          <a:bodyPr wrap="square" lIns="0" tIns="0" rIns="0" bIns="0" rtlCol="0" anchor="t"/>
          <a:lstStyle/>
          <a:p>
            <a:pPr indent="0" marL="0">
              <a:buNone/>
            </a:pPr>
            <a:r>
              <a:rPr lang="en-US" sz="1200" i="1" dirty="0">
                <a:solidFill>
                  <a:schemeClr val="accent1"/>
                </a:solidFill>
              </a:rPr>
              <a:t>Chaque résultat observable</a:t>
            </a:r>
            <a:endParaRPr lang="en-US" sz="1200" dirty="0"/>
          </a:p>
        </p:txBody>
      </p:sp>
      <p:sp>
        <p:nvSpPr>
          <p:cNvPr id="24" name="Text 22"/>
          <p:cNvSpPr txBox="1"/>
          <p:nvPr/>
        </p:nvSpPr>
        <p:spPr>
          <a:xfrm>
            <a:off x="8229600" y="3886200"/>
            <a:ext cx="3200400" cy="12801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1"/>
                </a:solidFill>
              </a:rPr>
              <a:t>Statut, valeur, message exacts</a:t>
            </a:r>
            <a:endParaRPr lang="en-US" sz="1250" dirty="0"/>
          </a:p>
          <a:p>
            <a:pPr marL="342900" indent="-342900">
              <a:spcAft>
                <a:spcPts val="500"/>
              </a:spcAft>
              <a:buSzPct val="100000"/>
              <a:buChar char="•"/>
            </a:pPr>
            <a:r>
              <a:rPr lang="en-US" sz="1250" dirty="0">
                <a:solidFill>
                  <a:schemeClr val="tx1"/>
                </a:solidFill>
              </a:rPr>
              <a:t>Jamais « A ou B »</a:t>
            </a:r>
            <a:endParaRPr lang="en-US" sz="1250" dirty="0"/>
          </a:p>
          <a:p>
            <a:pPr marL="342900" indent="-342900">
              <a:spcAft>
                <a:spcPts val="500"/>
              </a:spcAft>
              <a:buSzPct val="100000"/>
              <a:buChar char="•"/>
            </a:pPr>
            <a:r>
              <a:rPr lang="en-US" sz="1250" dirty="0">
                <a:solidFill>
                  <a:schemeClr val="tx1"/>
                </a:solidFill>
              </a:rPr>
              <a:t>Un refus vérifie que rien n'a changé</a:t>
            </a:r>
            <a:endParaRPr lang="en-US" sz="1250" dirty="0"/>
          </a:p>
        </p:txBody>
      </p:sp>
      <p:sp>
        <p:nvSpPr>
          <p:cNvPr id="25" name="card"/>
          <p:cNvSpPr/>
          <p:nvPr/>
        </p:nvSpPr>
        <p:spPr>
          <a:xfrm>
            <a:off x="548640" y="5376672"/>
            <a:ext cx="11064240" cy="530352"/>
          </a:xfrm>
          <a:prstGeom prst="roundRect">
            <a:avLst>
              <a:gd name="adj" fmla="val 17241"/>
            </a:avLst>
          </a:prstGeom>
          <a:solidFill>
            <a:schemeClr val="accent5"/>
          </a:solidFill>
          <a:ln/>
        </p:spPr>
      </p:sp>
      <p:sp>
        <p:nvSpPr>
          <p:cNvPr id="26" name="Text 24"/>
          <p:cNvSpPr txBox="1"/>
          <p:nvPr/>
        </p:nvSpPr>
        <p:spPr>
          <a:xfrm>
            <a:off x="777240" y="5376672"/>
            <a:ext cx="10698480" cy="530352"/>
          </a:xfrm>
          <a:prstGeom prst="rect">
            <a:avLst/>
          </a:prstGeom>
          <a:noFill/>
          <a:ln/>
        </p:spPr>
        <p:txBody>
          <a:bodyPr wrap="square" lIns="0" tIns="0" rIns="0" bIns="0" rtlCol="0" anchor="ctr"/>
          <a:lstStyle/>
          <a:p>
            <a:pPr indent="0" marL="0">
              <a:buNone/>
            </a:pPr>
            <a:r>
              <a:rPr lang="en-US" sz="1350" b="1" dirty="0">
                <a:solidFill>
                  <a:srgbClr val="00338D"/>
                </a:solidFill>
              </a:rPr>
              <a:t>Règle d'or : </a:t>
            </a:r>
            <a:pPr indent="0" marL="0">
              <a:buNone/>
            </a:pPr>
            <a:r>
              <a:rPr lang="en-US" sz="1350" dirty="0">
                <a:solidFill>
                  <a:schemeClr val="tx1"/>
                </a:solidFill>
              </a:rPr>
              <a:t>rien d'inventé. Une règle floue ou contradictoire devient une question au PO, pas un cas de test.</a:t>
            </a:r>
            <a:endParaRPr lang="en-US" sz="13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Comment l'agent travaille : une étape à la fois</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Chaque commande fait une étape puis s'arrête ; le contexte ne retient que ce que l'humain a validé.</a:t>
            </a:r>
            <a:endParaRPr lang="en-US" sz="1600" dirty="0"/>
          </a:p>
        </p:txBody>
      </p:sp>
      <p:graphicFrame>
        <p:nvGraphicFramePr>
          <p:cNvPr id="6" name="table-etapes"/>
          <p:cNvGraphicFramePr>
            <a:graphicFrameLocks noGrp="1"/>
          </p:cNvGraphicFramePr>
          <p:nvPr>
            <p:extLst>
              <p:ext uri="{D42A27DB-BD31-4B8C-83A1-F6EECF244321}">
                <p14:modId xmlns:p14="http://schemas.microsoft.com/office/powerpoint/2010/main" val="1579011935"/>
              </p:ext>
            </p:extLst>
          </p:nvPr>
        </p:nvGraphicFramePr>
        <p:xfrm>
          <a:off x="548640" y="1572768"/>
          <a:ext cx="6400800" cy="914400"/>
        </p:xfrm>
        <a:graphic>
          <a:graphicData uri="http://schemas.openxmlformats.org/drawingml/2006/table">
            <a:tbl>
              <a:tblPr/>
              <a:tblGrid>
                <a:gridCol w="1783080"/>
                <a:gridCol w="2377440"/>
                <a:gridCol w="2240280"/>
              </a:tblGrid>
              <a:tr h="329184">
                <a:tc>
                  <a:txBody>
                    <a:bodyPr/>
                    <a:lstStyle/>
                    <a:p>
                      <a:pPr indent="0" marL="0">
                        <a:buNone/>
                      </a:pPr>
                      <a:r>
                        <a:rPr lang="en-US" sz="1200" b="1" dirty="0">
                          <a:solidFill>
                            <a:srgbClr val="FFFFFF"/>
                          </a:solidFill>
                        </a:rPr>
                        <a:t>Étape</a:t>
                      </a:r>
                      <a:endParaRPr lang="en-US" sz="12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Commande</a:t>
                      </a:r>
                      <a:endParaRPr lang="en-US" sz="12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S'arrête après</a:t>
                      </a:r>
                      <a:endParaRPr lang="en-US" sz="12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r>
              <a:tr h="420624">
                <a:tc>
                  <a:txBody>
                    <a:bodyPr/>
                    <a:lstStyle/>
                    <a:p>
                      <a:pPr indent="0" marL="0">
                        <a:buNone/>
                      </a:pPr>
                      <a:r>
                        <a:rPr lang="en-US" sz="1150" b="1" dirty="0">
                          <a:solidFill>
                            <a:srgbClr val="1A1A2E"/>
                          </a:solidFill>
                        </a:rPr>
                        <a:t>Une fois par projet</a:t>
                      </a:r>
                      <a:endParaRPr lang="en-US" sz="11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00338D"/>
                          </a:solidFill>
                          <a:latin typeface="Courier New" pitchFamily="34" charset="0"/>
                          <a:ea typeface="Courier New" pitchFamily="34" charset="-122"/>
                          <a:cs typeface="Courier New" pitchFamily="34" charset="-120"/>
                        </a:rPr>
                        <a:t>/init-contexte</a:t>
                      </a:r>
                      <a:endParaRPr lang="en-US" sz="1150" dirty="0">
                        <a:latin typeface="Courier New" charset="0"/>
                        <a:ea typeface="Courier New" charset="0"/>
                        <a:cs typeface="Courier New" charset="0"/>
                      </a:endParaRPr>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1A1A2E"/>
                          </a:solidFill>
                        </a:rPr>
                        <a:t>Contexte écrit, à relire</a:t>
                      </a:r>
                      <a:endParaRPr lang="en-US" sz="11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r h="420624">
                <a:tc>
                  <a:txBody>
                    <a:bodyPr/>
                    <a:lstStyle/>
                    <a:p>
                      <a:pPr indent="0" marL="0">
                        <a:buNone/>
                      </a:pPr>
                      <a:r>
                        <a:rPr lang="en-US" sz="1150" b="1" dirty="0">
                          <a:solidFill>
                            <a:srgbClr val="1A1A2E"/>
                          </a:solidFill>
                        </a:rPr>
                        <a:t>Analyser l'US</a:t>
                      </a:r>
                      <a:endParaRPr lang="en-US" sz="11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00338D"/>
                          </a:solidFill>
                          <a:latin typeface="Courier New" pitchFamily="34" charset="0"/>
                          <a:ea typeface="Courier New" pitchFamily="34" charset="-122"/>
                          <a:cs typeface="Courier New" pitchFamily="34" charset="-120"/>
                        </a:rPr>
                        <a:t>/us-analysis</a:t>
                      </a:r>
                      <a:endParaRPr lang="en-US" sz="1150" dirty="0">
                        <a:latin typeface="Courier New" charset="0"/>
                        <a:ea typeface="Courier New" charset="0"/>
                        <a:cs typeface="Courier New" charset="0"/>
                      </a:endParaRPr>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1A1A2E"/>
                          </a:solidFill>
                        </a:rPr>
                        <a:t>Analyse et propositions pour le contexte</a:t>
                      </a:r>
                      <a:endParaRPr lang="en-US" sz="11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420624">
                <a:tc>
                  <a:txBody>
                    <a:bodyPr/>
                    <a:lstStyle/>
                    <a:p>
                      <a:pPr indent="0" marL="0">
                        <a:buNone/>
                      </a:pPr>
                      <a:r>
                        <a:rPr lang="en-US" sz="1150" b="1" dirty="0">
                          <a:solidFill>
                            <a:srgbClr val="1A1A2E"/>
                          </a:solidFill>
                        </a:rPr>
                        <a:t>Écrire les scénarios</a:t>
                      </a:r>
                      <a:endParaRPr lang="en-US" sz="11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00338D"/>
                          </a:solidFill>
                          <a:latin typeface="Courier New" pitchFamily="34" charset="0"/>
                          <a:ea typeface="Courier New" pitchFamily="34" charset="-122"/>
                          <a:cs typeface="Courier New" pitchFamily="34" charset="-120"/>
                        </a:rPr>
                        <a:t>/gherkin-test-generation</a:t>
                      </a:r>
                      <a:endParaRPr lang="en-US" sz="1150" dirty="0">
                        <a:latin typeface="Courier New" charset="0"/>
                        <a:ea typeface="Courier New" charset="0"/>
                        <a:cs typeface="Courier New" charset="0"/>
                      </a:endParaRPr>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1A1A2E"/>
                          </a:solidFill>
                        </a:rPr>
                        <a:t>Scénarios contrôlés par script</a:t>
                      </a:r>
                      <a:endParaRPr lang="en-US" sz="11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r h="420624">
                <a:tc>
                  <a:txBody>
                    <a:bodyPr/>
                    <a:lstStyle/>
                    <a:p>
                      <a:pPr indent="0" marL="0">
                        <a:buNone/>
                      </a:pPr>
                      <a:r>
                        <a:rPr lang="en-US" sz="1150" b="1" dirty="0">
                          <a:solidFill>
                            <a:srgbClr val="1A1A2E"/>
                          </a:solidFill>
                        </a:rPr>
                        <a:t>Enrichir le contexte</a:t>
                      </a:r>
                      <a:endParaRPr lang="en-US" sz="11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00338D"/>
                          </a:solidFill>
                          <a:latin typeface="Courier New" pitchFamily="34" charset="0"/>
                          <a:ea typeface="Courier New" pitchFamily="34" charset="-122"/>
                          <a:cs typeface="Courier New" pitchFamily="34" charset="-120"/>
                        </a:rPr>
                        <a:t>/maj-contexte</a:t>
                      </a:r>
                      <a:endParaRPr lang="en-US" sz="1150" dirty="0">
                        <a:latin typeface="Courier New" charset="0"/>
                        <a:ea typeface="Courier New" charset="0"/>
                        <a:cs typeface="Courier New" charset="0"/>
                      </a:endParaRPr>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1A1A2E"/>
                          </a:solidFill>
                        </a:rPr>
                        <a:t>Aperçu, puis « oui »</a:t>
                      </a:r>
                      <a:endParaRPr lang="en-US" sz="11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420624">
                <a:tc>
                  <a:txBody>
                    <a:bodyPr/>
                    <a:lstStyle/>
                    <a:p>
                      <a:pPr indent="0" marL="0">
                        <a:buNone/>
                      </a:pPr>
                      <a:r>
                        <a:rPr lang="en-US" sz="1150" b="1" dirty="0">
                          <a:solidFill>
                            <a:srgbClr val="1A1A2E"/>
                          </a:solidFill>
                        </a:rPr>
                        <a:t>Publier</a:t>
                      </a:r>
                      <a:endParaRPr lang="en-US" sz="11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00338D"/>
                          </a:solidFill>
                          <a:latin typeface="Courier New" pitchFamily="34" charset="0"/>
                          <a:ea typeface="Courier New" pitchFamily="34" charset="-122"/>
                          <a:cs typeface="Courier New" pitchFamily="34" charset="-120"/>
                        </a:rPr>
                        <a:t>/publication-ado</a:t>
                      </a:r>
                      <a:endParaRPr lang="en-US" sz="1150" dirty="0">
                        <a:latin typeface="Courier New" charset="0"/>
                        <a:ea typeface="Courier New" charset="0"/>
                        <a:cs typeface="Courier New" charset="0"/>
                      </a:endParaRPr>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1A1A2E"/>
                          </a:solidFill>
                        </a:rPr>
                        <a:t>Aperçu, puis « oui » ; ou un CSV</a:t>
                      </a:r>
                      <a:endParaRPr lang="en-US" sz="11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r h="420624">
                <a:tc>
                  <a:txBody>
                    <a:bodyPr/>
                    <a:lstStyle/>
                    <a:p>
                      <a:pPr indent="0" marL="0">
                        <a:buNone/>
                      </a:pPr>
                      <a:r>
                        <a:rPr lang="en-US" sz="1150" b="1" dirty="0">
                          <a:solidFill>
                            <a:srgbClr val="1A1A2E"/>
                          </a:solidFill>
                        </a:rPr>
                        <a:t>Rédiger un bug</a:t>
                      </a:r>
                      <a:endParaRPr lang="en-US" sz="11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00338D"/>
                          </a:solidFill>
                          <a:latin typeface="Courier New" pitchFamily="34" charset="0"/>
                          <a:ea typeface="Courier New" pitchFamily="34" charset="-122"/>
                          <a:cs typeface="Courier New" pitchFamily="34" charset="-120"/>
                        </a:rPr>
                        <a:t>/redaction-anomalie</a:t>
                      </a:r>
                      <a:endParaRPr lang="en-US" sz="1150" dirty="0">
                        <a:latin typeface="Courier New" charset="0"/>
                        <a:ea typeface="Courier New" charset="0"/>
                        <a:cs typeface="Courier New" charset="0"/>
                      </a:endParaRPr>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1A1A2E"/>
                          </a:solidFill>
                        </a:rPr>
                        <a:t>Aperçu, puis « oui »</a:t>
                      </a:r>
                      <a:endParaRPr lang="en-US" sz="11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526280"/>
            <a:ext cx="6400800" cy="365760"/>
          </a:xfrm>
          <a:prstGeom prst="rect">
            <a:avLst/>
          </a:prstGeom>
          <a:noFill/>
          <a:ln/>
        </p:spPr>
        <p:txBody>
          <a:bodyPr wrap="square" lIns="0" tIns="0" rIns="0" bIns="0" rtlCol="0" anchor="t"/>
          <a:lstStyle/>
          <a:p>
            <a:pPr indent="0" marL="0">
              <a:buNone/>
            </a:pPr>
            <a:r>
              <a:rPr lang="en-US" sz="1200" b="1" dirty="0">
                <a:solidFill>
                  <a:srgbClr val="00338D"/>
                </a:solidFill>
              </a:rPr>
              <a:t>Sans commande, rien : </a:t>
            </a:r>
            <a:pPr indent="0" marL="0">
              <a:buNone/>
            </a:pPr>
            <a:r>
              <a:rPr lang="en-US" sz="1200" dirty="0">
                <a:solidFill>
                  <a:schemeClr val="tx1"/>
                </a:solidFill>
              </a:rPr>
              <a:t>un document déposé ne lance aucune analyse ; l'agent dit ce qu'il a reçu et attend.</a:t>
            </a:r>
            <a:endParaRPr lang="en-US" sz="1200" dirty="0"/>
          </a:p>
        </p:txBody>
      </p:sp>
      <p:sp>
        <p:nvSpPr>
          <p:cNvPr id="6" name="card"/>
          <p:cNvSpPr/>
          <p:nvPr/>
        </p:nvSpPr>
        <p:spPr>
          <a:xfrm>
            <a:off x="7178040" y="1572768"/>
            <a:ext cx="4434840" cy="3319272"/>
          </a:xfrm>
          <a:prstGeom prst="roundRect">
            <a:avLst>
              <a:gd name="adj" fmla="val 2755"/>
            </a:avLst>
          </a:prstGeom>
          <a:solidFill>
            <a:schemeClr val="tx2"/>
          </a:solidFill>
          <a:ln/>
        </p:spPr>
      </p:sp>
      <p:sp>
        <p:nvSpPr>
          <p:cNvPr id="7" name="Text 4"/>
          <p:cNvSpPr txBox="1"/>
          <p:nvPr/>
        </p:nvSpPr>
        <p:spPr>
          <a:xfrm>
            <a:off x="7406640" y="1691640"/>
            <a:ext cx="4023360" cy="347472"/>
          </a:xfrm>
          <a:prstGeom prst="rect">
            <a:avLst/>
          </a:prstGeom>
          <a:noFill/>
          <a:ln/>
        </p:spPr>
        <p:txBody>
          <a:bodyPr wrap="square" lIns="0" tIns="0" rIns="0" bIns="0" rtlCol="0" anchor="t"/>
          <a:lstStyle/>
          <a:p>
            <a:pPr indent="0" marL="0">
              <a:buNone/>
            </a:pPr>
            <a:r>
              <a:rPr lang="en-US" sz="1500" b="1" dirty="0">
                <a:solidFill>
                  <a:schemeClr val="bg1"/>
                </a:solidFill>
              </a:rPr>
              <a:t>Le contexte apprend le projet</a:t>
            </a:r>
            <a:endParaRPr lang="en-US" sz="1500" dirty="0"/>
          </a:p>
        </p:txBody>
      </p:sp>
      <p:sp>
        <p:nvSpPr>
          <p:cNvPr id="8" name="Text 5"/>
          <p:cNvSpPr txBox="1"/>
          <p:nvPr/>
        </p:nvSpPr>
        <p:spPr>
          <a:xfrm>
            <a:off x="7406640" y="2148840"/>
            <a:ext cx="4023360" cy="196596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350" dirty="0">
                <a:solidFill>
                  <a:schemeClr val="bg1"/>
                </a:solidFill>
              </a:rPr>
              <a:t>L'analyse d'une US propose des lignes, chacune avec sa source</a:t>
            </a:r>
            <a:endParaRPr lang="en-US" sz="1350" dirty="0"/>
          </a:p>
          <a:p>
            <a:pPr marL="342900" indent="-342900">
              <a:spcAft>
                <a:spcPts val="1200"/>
              </a:spcAft>
              <a:buSzPct val="100000"/>
              <a:buFont typeface="+mj-lt"/>
              <a:buAutoNum type="arabicPeriod" startAt="1"/>
            </a:pPr>
            <a:r>
              <a:rPr lang="en-US" sz="1350" dirty="0">
                <a:solidFill>
                  <a:schemeClr val="bg1"/>
                </a:solidFill>
              </a:rPr>
              <a:t>La QC choisit ce qui entre</a:t>
            </a:r>
            <a:endParaRPr lang="en-US" sz="1350" dirty="0"/>
          </a:p>
          <a:p>
            <a:pPr marL="342900" indent="-342900">
              <a:spcAft>
                <a:spcPts val="1200"/>
              </a:spcAft>
              <a:buSzPct val="100000"/>
              <a:buFont typeface="+mj-lt"/>
              <a:buAutoNum type="arabicPeriod" startAt="1"/>
            </a:pPr>
            <a:r>
              <a:rPr lang="en-US" sz="1350" dirty="0">
                <a:solidFill>
                  <a:schemeClr val="bg1"/>
                </a:solidFill>
              </a:rPr>
              <a:t>/maj-contexte l'écrit ; Git garde l'historique</a:t>
            </a:r>
            <a:endParaRPr lang="en-US" sz="1350" dirty="0"/>
          </a:p>
          <a:p>
            <a:pPr marL="342900" indent="-342900">
              <a:spcAft>
                <a:spcPts val="1200"/>
              </a:spcAft>
              <a:buSzPct val="100000"/>
              <a:buFont typeface="+mj-lt"/>
              <a:buAutoNum type="arabicPeriod" startAt="1"/>
            </a:pPr>
            <a:r>
              <a:rPr lang="en-US" sz="1350" dirty="0">
                <a:solidFill>
                  <a:schemeClr val="bg1"/>
                </a:solidFill>
              </a:rPr>
              <a:t>L'US suivante en profite</a:t>
            </a:r>
            <a:endParaRPr lang="en-US" sz="1350" dirty="0"/>
          </a:p>
        </p:txBody>
      </p:sp>
      <p:sp>
        <p:nvSpPr>
          <p:cNvPr id="9" name="Text 6"/>
          <p:cNvSpPr txBox="1"/>
          <p:nvPr/>
        </p:nvSpPr>
        <p:spPr>
          <a:xfrm>
            <a:off x="7406640" y="4206240"/>
            <a:ext cx="4023360" cy="548640"/>
          </a:xfrm>
          <a:prstGeom prst="rect">
            <a:avLst/>
          </a:prstGeom>
          <a:noFill/>
          <a:ln/>
        </p:spPr>
        <p:txBody>
          <a:bodyPr wrap="square" lIns="0" tIns="0" rIns="0" bIns="0" rtlCol="0" anchor="t"/>
          <a:lstStyle/>
          <a:p>
            <a:pPr indent="0" marL="0">
              <a:buNone/>
            </a:pPr>
            <a:r>
              <a:rPr lang="en-US" sz="1200" i="1" dirty="0">
                <a:solidFill>
                  <a:schemeClr val="accent3"/>
                </a:solidFill>
              </a:rPr>
              <a:t>Une hypothèse ou une question encore ouverte n'entre jamais.</a:t>
            </a:r>
            <a:endParaRPr lang="en-US" sz="1200" dirty="0"/>
          </a:p>
        </p:txBody>
      </p:sp>
      <p:sp>
        <p:nvSpPr>
          <p:cNvPr id="10" name="card"/>
          <p:cNvSpPr/>
          <p:nvPr/>
        </p:nvSpPr>
        <p:spPr>
          <a:xfrm>
            <a:off x="548640" y="5074920"/>
            <a:ext cx="11064240" cy="868680"/>
          </a:xfrm>
          <a:prstGeom prst="roundRect">
            <a:avLst>
              <a:gd name="adj" fmla="val 10526"/>
            </a:avLst>
          </a:prstGeom>
          <a:solidFill>
            <a:schemeClr val="accent5"/>
          </a:solidFill>
          <a:ln/>
        </p:spPr>
      </p:sp>
      <p:sp>
        <p:nvSpPr>
          <p:cNvPr id="11" name="icon-circle"/>
          <p:cNvSpPr/>
          <p:nvPr/>
        </p:nvSpPr>
        <p:spPr>
          <a:xfrm>
            <a:off x="685800" y="5257800"/>
            <a:ext cx="493776" cy="493776"/>
          </a:xfrm>
          <a:prstGeom prst="ellipse">
            <a:avLst/>
          </a:prstGeom>
          <a:solidFill>
            <a:schemeClr val="accent1"/>
          </a:solidFill>
          <a:ln/>
        </p:spPr>
      </p:sp>
      <p:pic>
        <p:nvPicPr>
          <p:cNvPr id="12" name="icon" descr="preencoded.png">    </p:cNvPr>
          <p:cNvPicPr>
            <a:picLocks noChangeAspect="1"/>
          </p:cNvPicPr>
          <p:nvPr/>
        </p:nvPicPr>
        <p:blipFill>
          <a:blip r:embed="rId1"/>
          <a:stretch>
            <a:fillRect/>
          </a:stretch>
        </p:blipFill>
        <p:spPr>
          <a:xfrm>
            <a:off x="794431" y="5366431"/>
            <a:ext cx="276515" cy="276515"/>
          </a:xfrm>
          <a:prstGeom prst="rect">
            <a:avLst/>
          </a:prstGeom>
        </p:spPr>
      </p:pic>
      <p:sp>
        <p:nvSpPr>
          <p:cNvPr id="13" name="Text 9"/>
          <p:cNvSpPr txBox="1"/>
          <p:nvPr/>
        </p:nvSpPr>
        <p:spPr>
          <a:xfrm>
            <a:off x="1325880" y="5074920"/>
            <a:ext cx="10149840" cy="868680"/>
          </a:xfrm>
          <a:prstGeom prst="rect">
            <a:avLst/>
          </a:prstGeom>
          <a:noFill/>
          <a:ln/>
        </p:spPr>
        <p:txBody>
          <a:bodyPr wrap="square" lIns="0" tIns="0" rIns="0" bIns="0" rtlCol="0" anchor="ctr"/>
          <a:lstStyle/>
          <a:p>
            <a:pPr indent="0" marL="0">
              <a:buNone/>
            </a:pPr>
            <a:r>
              <a:rPr lang="en-US" sz="1200" b="1" dirty="0">
                <a:solidFill>
                  <a:srgbClr val="00338D"/>
                </a:solidFill>
              </a:rPr>
              <a:t>Contrôlé par script : </a:t>
            </a:r>
            <a:pPr indent="0" marL="0">
              <a:buNone/>
            </a:pPr>
            <a:r>
              <a:rPr lang="en-US" sz="1200" dirty="0">
                <a:solidFill>
                  <a:schemeClr val="tx1"/>
                </a:solidFill>
              </a:rPr>
              <a:t>écriture dans Azure DevOps, commit et push demandent confirmation ; suppression et affichage du PAT sont refusés.</a:t>
            </a:r>
            <a:endParaRPr lang="en-US" sz="1200" dirty="0"/>
          </a:p>
          <a:p>
            <a:pPr indent="0" marL="0">
              <a:buNone/>
            </a:pPr>
            <a:r>
              <a:rPr lang="en-US" sz="1200" b="1" dirty="0">
                <a:solidFill>
                  <a:srgbClr val="00338D"/>
                </a:solidFill>
              </a:rPr>
              <a:t>Outils : </a:t>
            </a:r>
            <a:pPr indent="0" marL="0">
              <a:buNone/>
            </a:pPr>
            <a:r>
              <a:rPr lang="en-US" sz="1200" dirty="0">
                <a:solidFill>
                  <a:schemeClr val="tx1"/>
                </a:solidFill>
              </a:rPr>
              <a:t>complet dans Claude Code ; dans VS Code avec Copilot, l'agent et les skills sont lus, pas ces contrôles.</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Les résultats comparés sur l'US 417829</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Même US. Notre résultat est un premier essai, à rejouer avec le nouvel agent dans l'outil de l'équipe.</a:t>
            </a:r>
            <a:endParaRPr lang="en-US" sz="1600" dirty="0"/>
          </a:p>
        </p:txBody>
      </p:sp>
      <p:graphicFrame>
        <p:nvGraphicFramePr>
          <p:cNvPr id="7" name="table-comparaison"/>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2194560"/>
                <a:gridCol w="4389120"/>
                <a:gridCol w="4480560"/>
              </a:tblGrid>
              <a:tr h="329184">
                <a:tc>
                  <a:txBody>
                    <a:bodyPr/>
                    <a:lstStyle/>
                    <a:p>
                      <a:pPr indent="0" marL="0">
                        <a:buNone/>
                      </a:pPr>
                      <a:r>
                        <a:rPr lang="en-US" sz="1200" b="1" dirty="0">
                          <a:solidFill>
                            <a:srgbClr val="FFFFFF"/>
                          </a:solidFill>
                        </a:rPr>
                        <a:t>Point</a:t>
                      </a:r>
                      <a:endParaRPr lang="en-US" sz="12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Agent QC actuel</a:t>
                      </a:r>
                      <a:endParaRPr lang="en-US" sz="12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B23B3B"/>
                    </a:solidFill>
                  </a:tcPr>
                </a:tc>
                <a:tc>
                  <a:txBody>
                    <a:bodyPr/>
                    <a:lstStyle/>
                    <a:p>
                      <a:pPr indent="0" marL="0">
                        <a:buNone/>
                      </a:pPr>
                      <a:r>
                        <a:rPr lang="en-US" sz="1200" b="1" dirty="0">
                          <a:solidFill>
                            <a:srgbClr val="FFFFFF"/>
                          </a:solidFill>
                        </a:rPr>
                        <a:t>Version proposée</a:t>
                      </a:r>
                      <a:endParaRPr lang="en-US" sz="120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2E7D4F"/>
                    </a:solidFill>
                  </a:tcPr>
                </a:tc>
              </a:tr>
              <a:tr h="438912">
                <a:tc>
                  <a:txBody>
                    <a:bodyPr/>
                    <a:lstStyle/>
                    <a:p>
                      <a:pPr indent="0" marL="0">
                        <a:buNone/>
                      </a:pPr>
                      <a:r>
                        <a:rPr lang="en-US" sz="1050" b="1" dirty="0">
                          <a:solidFill>
                            <a:srgbClr val="1A1A2E"/>
                          </a:solidFill>
                        </a:rPr>
                        <a:t>Forme</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050" dirty="0">
                          <a:solidFill>
                            <a:srgbClr val="1A1A2E"/>
                          </a:solidFill>
                        </a:rPr>
                        <a:t>Une ligne Given, When, Then par cas ; « Fonctionnel » partout (TC-001 à TC-014)</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050" dirty="0">
                          <a:solidFill>
                            <a:srgbClr val="00338D"/>
                          </a:solidFill>
                        </a:rPr>
                        <a:t>Gherkin en français, préconditions, actions et résultats sur des lignes séparées</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438912">
                <a:tc>
                  <a:txBody>
                    <a:bodyPr/>
                    <a:lstStyle/>
                    <a:p>
                      <a:pPr indent="0" marL="0">
                        <a:buNone/>
                      </a:pPr>
                      <a:r>
                        <a:rPr lang="en-US" sz="1050" b="1" dirty="0">
                          <a:solidFill>
                            <a:srgbClr val="1A1A2E"/>
                          </a:solidFill>
                        </a:rPr>
                        <a:t>Préconditions</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rPr>
                        <a:t>« Given le formulaire de création ouvert » (TC-005) ; « une entité valide » (TC-013)</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050" dirty="0">
                          <a:solidFill>
                            <a:srgbClr val="00338D"/>
                          </a:solidFill>
                        </a:rPr>
                        <a:t>Rôle et compte, écran de départ, entité et statut de sa demande</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1A1A2E"/>
                          </a:solidFill>
                        </a:rPr>
                        <a:t>Rôles (US §1)</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050" dirty="0">
                          <a:solidFill>
                            <a:srgbClr val="1A1A2E"/>
                          </a:solidFill>
                        </a:rPr>
                        <a:t>« un rôle autre qu'Admin ou SuperAdmin » (TC-003)</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050" dirty="0">
                          <a:solidFill>
                            <a:srgbClr val="00338D"/>
                          </a:solidFill>
                        </a:rPr>
                        <a:t>Rôle User nommé, avec son compte de test</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438912">
                <a:tc>
                  <a:txBody>
                    <a:bodyPr/>
                    <a:lstStyle/>
                    <a:p>
                      <a:pPr indent="0" marL="0">
                        <a:buNone/>
                      </a:pPr>
                      <a:r>
                        <a:rPr lang="en-US" sz="1050" b="1" dirty="0">
                          <a:solidFill>
                            <a:srgbClr val="1A1A2E"/>
                          </a:solidFill>
                        </a:rPr>
                        <a:t>Règle de validation (US §4)</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rPr>
                        <a:t>1 situation sur 5 : entité sans demande (TC-012)</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050" dirty="0">
                          <a:solidFill>
                            <a:srgbClr val="00338D"/>
                          </a:solidFill>
                        </a:rPr>
                        <a:t>5 situations : 2 acceptées, 3 refusées, avec vérification que la demande existante ne change pas</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1A1A2E"/>
                          </a:solidFill>
                        </a:rPr>
                        <a:t>Champs obligatoires (US §3, §4)</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050" dirty="0">
                          <a:solidFill>
                            <a:srgbClr val="1A1A2E"/>
                          </a:solidFill>
                        </a:rPr>
                        <a:t>1 cas générique (TC-015)</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050" dirty="0">
                          <a:solidFill>
                            <a:srgbClr val="00338D"/>
                          </a:solidFill>
                        </a:rPr>
                        <a:t>1 cas par champ, avec « aucune demande créée »</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438912">
                <a:tc>
                  <a:txBody>
                    <a:bodyPr/>
                    <a:lstStyle/>
                    <a:p>
                      <a:pPr indent="0" marL="0">
                        <a:buNone/>
                      </a:pPr>
                      <a:r>
                        <a:rPr lang="en-US" sz="1050" b="1" dirty="0">
                          <a:solidFill>
                            <a:srgbClr val="1A1A2E"/>
                          </a:solidFill>
                        </a:rPr>
                        <a:t>Ajouts absents de l'US</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rPr>
                        <a:t>« Désactivation du bouton pendant l'envoi (anti double clic) »</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050" dirty="0">
                          <a:solidFill>
                            <a:srgbClr val="00338D"/>
                          </a:solidFill>
                        </a:rPr>
                        <a:t>Aucun</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1A1A2E"/>
                          </a:solidFill>
                        </a:rPr>
                        <a:t>Reprise (US §3)</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050" dirty="0">
                          <a:solidFill>
                            <a:srgbClr val="1A1A2E"/>
                          </a:solidFill>
                        </a:rPr>
                        <a:t>TC-013 et TC-014 : même résultat écrit pour Oui et Non</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050" dirty="0">
                          <a:solidFill>
                            <a:srgbClr val="00338D"/>
                          </a:solidFill>
                        </a:rPr>
                        <a:t>Affichage de Reprise vérifié ; son effet, non décrit par l'US, n'est pas inventé</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438912">
                <a:tc>
                  <a:txBody>
                    <a:bodyPr/>
                    <a:lstStyle/>
                    <a:p>
                      <a:pPr indent="0" marL="0">
                        <a:buNone/>
                      </a:pPr>
                      <a:r>
                        <a:rPr lang="en-US" sz="1050" b="1" dirty="0">
                          <a:solidFill>
                            <a:srgbClr val="1A1A2E"/>
                          </a:solidFill>
                        </a:rPr>
                        <a:t>Ce que l'US ne dit pas</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rPr>
                        <a:t>Aucune question ; l'erreur « Entité ID inconnue » est prévue en test UI sans relever que la saisie libre est impossible (TC-011)</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050" dirty="0">
                          <a:solidFill>
                            <a:srgbClr val="00338D"/>
                          </a:solidFill>
                        </a:rPr>
                        <a:t>9 questions au PO, dont 2 bloquantes : Entité ID inconnue (§3), documents obligatoires (§4)</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1A1A2E"/>
                          </a:solidFill>
                        </a:rPr>
                        <a:t>Volume</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050" dirty="0">
                          <a:solidFill>
                            <a:srgbClr val="1A1A2E"/>
                          </a:solidFill>
                        </a:rPr>
                        <a:t>Au moins 15 cas</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050" dirty="0">
                          <a:solidFill>
                            <a:srgbClr val="00338D"/>
                          </a:solidFill>
                        </a:rPr>
                        <a:t>23 lignes exécutables, chacune avec sa raison</a:t>
                      </a:r>
                      <a:endParaRPr lang="en-US" sz="1050" dirty="0"/>
                    </a:p>
                  </a:txBody>
                  <a:tcPr marL="73152" marR="73152"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bl>
          </a:graphicData>
        </a:graphic>
      </p:graphicFrame>
      <p:sp>
        <p:nvSpPr>
          <p:cNvPr id="5" name="Text 2"/>
          <p:cNvSpPr txBox="1"/>
          <p:nvPr/>
        </p:nvSpPr>
        <p:spPr>
          <a:xfrm>
            <a:off x="548640" y="5943600"/>
            <a:ext cx="11064240" cy="310896"/>
          </a:xfrm>
          <a:prstGeom prst="rect">
            <a:avLst/>
          </a:prstGeom>
          <a:noFill/>
          <a:ln/>
        </p:spPr>
        <p:txBody>
          <a:bodyPr wrap="square" lIns="0" tIns="0" rIns="0" bIns="0" rtlCol="0" anchor="t"/>
          <a:lstStyle/>
          <a:p>
            <a:pPr indent="0" marL="0">
              <a:buNone/>
            </a:pPr>
            <a:r>
              <a:rPr lang="en-US" sz="1200" b="1" dirty="0">
                <a:solidFill>
                  <a:srgbClr val="00338D"/>
                </a:solidFill>
              </a:rPr>
              <a:t>Gardé de l'agent actuel : </a:t>
            </a:r>
            <a:pPr indent="0" marL="0">
              <a:buNone/>
            </a:pPr>
            <a:r>
              <a:rPr lang="en-US" sz="1200" dirty="0">
                <a:solidFill>
                  <a:schemeClr val="tx1"/>
                </a:solidFill>
              </a:rPr>
              <a:t>Reprise absente en Renouvellement, valeur par défaut concrète, ouverture du panneau, recherche d'un collaborateur.</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La règle de validation : 5 situations, 1 seule dans les cas actuels</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US 417829, §4 Validation, 4e point : ce que vérifie le système au clic sur « Valider la création ».</a:t>
            </a:r>
            <a:endParaRPr lang="en-US" sz="1600" dirty="0"/>
          </a:p>
        </p:txBody>
      </p:sp>
      <p:sp>
        <p:nvSpPr>
          <p:cNvPr id="4" name="card"/>
          <p:cNvSpPr/>
          <p:nvPr/>
        </p:nvSpPr>
        <p:spPr>
          <a:xfrm>
            <a:off x="548640" y="1536192"/>
            <a:ext cx="11064240" cy="566928"/>
          </a:xfrm>
          <a:prstGeom prst="roundRect">
            <a:avLst>
              <a:gd name="adj" fmla="val 16129"/>
            </a:avLst>
          </a:prstGeom>
          <a:solidFill>
            <a:schemeClr val="bg2"/>
          </a:solidFill>
          <a:ln/>
        </p:spPr>
      </p:sp>
      <p:sp>
        <p:nvSpPr>
          <p:cNvPr id="5" name="Text 3"/>
          <p:cNvSpPr txBox="1"/>
          <p:nvPr/>
        </p:nvSpPr>
        <p:spPr>
          <a:xfrm>
            <a:off x="731520" y="1536192"/>
            <a:ext cx="10698480" cy="566928"/>
          </a:xfrm>
          <a:prstGeom prst="rect">
            <a:avLst/>
          </a:prstGeom>
          <a:noFill/>
          <a:ln/>
        </p:spPr>
        <p:txBody>
          <a:bodyPr wrap="square" lIns="0" tIns="0" rIns="0" bIns="0" rtlCol="0" anchor="ctr"/>
          <a:lstStyle/>
          <a:p>
            <a:pPr indent="0" marL="0">
              <a:buNone/>
            </a:pPr>
            <a:r>
              <a:rPr lang="en-US" sz="1200" i="1" dirty="0">
                <a:solidFill>
                  <a:srgbClr val="00338D"/>
                </a:solidFill>
              </a:rPr>
              <a:t>« une création de demande possible avec une entité ID qui n'a pas encore de statut ou bien un statut validé (erreur si une entité ID a déjà une demande en statut : en cours, retard ou révision) »</a:t>
            </a:r>
            <a:endParaRPr lang="en-US" sz="1200" dirty="0"/>
          </a:p>
        </p:txBody>
      </p:sp>
      <p:graphicFrame>
        <p:nvGraphicFramePr>
          <p:cNvPr id="8" name="table-situations"/>
          <p:cNvGraphicFramePr>
            <a:graphicFrameLocks noGrp="1"/>
          </p:cNvGraphicFramePr>
          <p:nvPr>
            <p:extLst>
              <p:ext uri="{D42A27DB-BD31-4B8C-83A1-F6EECF244321}">
                <p14:modId xmlns:p14="http://schemas.microsoft.com/office/powerpoint/2010/main" val="1579011935"/>
              </p:ext>
            </p:extLst>
          </p:nvPr>
        </p:nvGraphicFramePr>
        <p:xfrm>
          <a:off x="548640" y="2212848"/>
          <a:ext cx="11064240" cy="914400"/>
        </p:xfrm>
        <a:graphic>
          <a:graphicData uri="http://schemas.openxmlformats.org/drawingml/2006/table">
            <a:tbl>
              <a:tblPr/>
              <a:tblGrid>
                <a:gridCol w="3017520"/>
                <a:gridCol w="2011680"/>
                <a:gridCol w="3291840"/>
                <a:gridCol w="2743200"/>
              </a:tblGrid>
              <a:tr h="347472">
                <a:tc>
                  <a:txBody>
                    <a:bodyPr/>
                    <a:lstStyle/>
                    <a:p>
                      <a:pPr indent="0" marL="0">
                        <a:buNone/>
                      </a:pPr>
                      <a:r>
                        <a:rPr lang="en-US" sz="1200" b="1" dirty="0">
                          <a:solidFill>
                            <a:srgbClr val="FFFFFF"/>
                          </a:solidFill>
                        </a:rPr>
                        <a:t>Situation de l'entité</a:t>
                      </a:r>
                      <a:endParaRPr lang="en-US" sz="12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Ce que dit l'US</a:t>
                      </a:r>
                      <a:endParaRPr lang="en-US" sz="12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Agent actuel (TC-001 à TC-015)</a:t>
                      </a:r>
                      <a:endParaRPr lang="en-US" sz="12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B23B3B"/>
                    </a:solidFill>
                  </a:tcPr>
                </a:tc>
                <a:tc>
                  <a:txBody>
                    <a:bodyPr/>
                    <a:lstStyle/>
                    <a:p>
                      <a:pPr indent="0" marL="0">
                        <a:buNone/>
                      </a:pPr>
                      <a:r>
                        <a:rPr lang="en-US" sz="1200" b="1" dirty="0">
                          <a:solidFill>
                            <a:srgbClr val="FFFFFF"/>
                          </a:solidFill>
                        </a:rPr>
                        <a:t>Version proposée</a:t>
                      </a:r>
                      <a:endParaRPr lang="en-US" sz="12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2E7D4F"/>
                    </a:solidFill>
                  </a:tcPr>
                </a:tc>
              </a:tr>
              <a:tr h="384048">
                <a:tc>
                  <a:txBody>
                    <a:bodyPr/>
                    <a:lstStyle/>
                    <a:p>
                      <a:pPr indent="0" marL="0">
                        <a:buNone/>
                      </a:pPr>
                      <a:r>
                        <a:rPr lang="en-US" sz="1150" b="1" dirty="0">
                          <a:solidFill>
                            <a:srgbClr val="1A1A2E"/>
                          </a:solidFill>
                        </a:rPr>
                        <a:t>Entité sans statut</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1A1A2E"/>
                          </a:solidFill>
                        </a:rPr>
                        <a:t>Création possible</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b="1" dirty="0">
                          <a:solidFill>
                            <a:srgbClr val="2E7D4F"/>
                          </a:solidFill>
                        </a:rPr>
                        <a:t>Trouvé (TC-012 : « entité sans demande existante »)</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c>
                  <a:txBody>
                    <a:bodyPr/>
                    <a:lstStyle/>
                    <a:p>
                      <a:pPr indent="0" marL="0">
                        <a:buNone/>
                      </a:pPr>
                      <a:r>
                        <a:rPr lang="en-US" sz="1150" b="1" dirty="0">
                          <a:solidFill>
                            <a:srgbClr val="2E7D4F"/>
                          </a:solidFill>
                        </a:rPr>
                        <a:t>Testé</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384048">
                <a:tc>
                  <a:txBody>
                    <a:bodyPr/>
                    <a:lstStyle/>
                    <a:p>
                      <a:pPr indent="0" marL="0">
                        <a:buNone/>
                      </a:pPr>
                      <a:r>
                        <a:rPr lang="en-US" sz="1150" b="1" dirty="0">
                          <a:solidFill>
                            <a:srgbClr val="1A1A2E"/>
                          </a:solidFill>
                        </a:rPr>
                        <a:t>Entité au statut validé</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1A1A2E"/>
                          </a:solidFill>
                        </a:rPr>
                        <a:t>Création possible</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b="1" dirty="0">
                          <a:solidFill>
                            <a:srgbClr val="B23B3B"/>
                          </a:solidFill>
                        </a:rPr>
                        <a:t>Non trouvé</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6DADA"/>
                    </a:solidFill>
                  </a:tcPr>
                </a:tc>
                <a:tc>
                  <a:txBody>
                    <a:bodyPr/>
                    <a:lstStyle/>
                    <a:p>
                      <a:pPr indent="0" marL="0">
                        <a:buNone/>
                      </a:pPr>
                      <a:r>
                        <a:rPr lang="en-US" sz="1150" b="1" dirty="0">
                          <a:solidFill>
                            <a:srgbClr val="2E7D4F"/>
                          </a:solidFill>
                        </a:rPr>
                        <a:t>Testé</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384048">
                <a:tc>
                  <a:txBody>
                    <a:bodyPr/>
                    <a:lstStyle/>
                    <a:p>
                      <a:pPr indent="0" marL="0">
                        <a:buNone/>
                      </a:pPr>
                      <a:r>
                        <a:rPr lang="en-US" sz="1150" b="1" dirty="0">
                          <a:solidFill>
                            <a:srgbClr val="1A1A2E"/>
                          </a:solidFill>
                        </a:rPr>
                        <a:t>Entité avec une demande en cours</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1A1A2E"/>
                          </a:solidFill>
                        </a:rPr>
                        <a:t>Erreur</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b="1" dirty="0">
                          <a:solidFill>
                            <a:srgbClr val="B23B3B"/>
                          </a:solidFill>
                        </a:rPr>
                        <a:t>Non trouvé</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6DADA"/>
                    </a:solidFill>
                  </a:tcPr>
                </a:tc>
                <a:tc>
                  <a:txBody>
                    <a:bodyPr/>
                    <a:lstStyle/>
                    <a:p>
                      <a:pPr indent="0" marL="0">
                        <a:buNone/>
                      </a:pPr>
                      <a:r>
                        <a:rPr lang="en-US" sz="1150" b="1" dirty="0">
                          <a:solidFill>
                            <a:srgbClr val="2E7D4F"/>
                          </a:solidFill>
                        </a:rPr>
                        <a:t>Testé, demande existante inchangée</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384048">
                <a:tc>
                  <a:txBody>
                    <a:bodyPr/>
                    <a:lstStyle/>
                    <a:p>
                      <a:pPr indent="0" marL="0">
                        <a:buNone/>
                      </a:pPr>
                      <a:r>
                        <a:rPr lang="en-US" sz="1150" b="1" dirty="0">
                          <a:solidFill>
                            <a:srgbClr val="1A1A2E"/>
                          </a:solidFill>
                        </a:rPr>
                        <a:t>Entité avec une demande en retard</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dirty="0">
                          <a:solidFill>
                            <a:srgbClr val="1A1A2E"/>
                          </a:solidFill>
                        </a:rPr>
                        <a:t>Erreur</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indent="0" marL="0">
                        <a:buNone/>
                      </a:pPr>
                      <a:r>
                        <a:rPr lang="en-US" sz="1150" b="1" dirty="0">
                          <a:solidFill>
                            <a:srgbClr val="B23B3B"/>
                          </a:solidFill>
                        </a:rPr>
                        <a:t>Non trouvé</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6DADA"/>
                    </a:solidFill>
                  </a:tcPr>
                </a:tc>
                <a:tc>
                  <a:txBody>
                    <a:bodyPr/>
                    <a:lstStyle/>
                    <a:p>
                      <a:pPr indent="0" marL="0">
                        <a:buNone/>
                      </a:pPr>
                      <a:r>
                        <a:rPr lang="en-US" sz="1150" b="1" dirty="0">
                          <a:solidFill>
                            <a:srgbClr val="2E7D4F"/>
                          </a:solidFill>
                        </a:rPr>
                        <a:t>Testé, demande existante inchangée</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r h="384048">
                <a:tc>
                  <a:txBody>
                    <a:bodyPr/>
                    <a:lstStyle/>
                    <a:p>
                      <a:pPr indent="0" marL="0">
                        <a:buNone/>
                      </a:pPr>
                      <a:r>
                        <a:rPr lang="en-US" sz="1150" b="1" dirty="0">
                          <a:solidFill>
                            <a:srgbClr val="1A1A2E"/>
                          </a:solidFill>
                        </a:rPr>
                        <a:t>Entité avec une demande en révision</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dirty="0">
                          <a:solidFill>
                            <a:srgbClr val="1A1A2E"/>
                          </a:solidFill>
                        </a:rPr>
                        <a:t>Erreur</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indent="0" marL="0">
                        <a:buNone/>
                      </a:pPr>
                      <a:r>
                        <a:rPr lang="en-US" sz="1150" b="1" dirty="0">
                          <a:solidFill>
                            <a:srgbClr val="B23B3B"/>
                          </a:solidFill>
                        </a:rPr>
                        <a:t>Non trouvé</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6DADA"/>
                    </a:solidFill>
                  </a:tcPr>
                </a:tc>
                <a:tc>
                  <a:txBody>
                    <a:bodyPr/>
                    <a:lstStyle/>
                    <a:p>
                      <a:pPr indent="0" marL="0">
                        <a:buNone/>
                      </a:pPr>
                      <a:r>
                        <a:rPr lang="en-US" sz="1150" b="1" dirty="0">
                          <a:solidFill>
                            <a:srgbClr val="2E7D4F"/>
                          </a:solidFill>
                        </a:rPr>
                        <a:t>Testé, demande existante inchangée</a:t>
                      </a:r>
                      <a:endParaRPr lang="en-US" sz="115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r>
            </a:tbl>
          </a:graphicData>
        </a:graphic>
      </p:graphicFrame>
      <p:sp>
        <p:nvSpPr>
          <p:cNvPr id="7" name="card"/>
          <p:cNvSpPr/>
          <p:nvPr/>
        </p:nvSpPr>
        <p:spPr>
          <a:xfrm>
            <a:off x="548640" y="4572000"/>
            <a:ext cx="3931920" cy="1417320"/>
          </a:xfrm>
          <a:prstGeom prst="roundRect">
            <a:avLst>
              <a:gd name="adj" fmla="val 6452"/>
            </a:avLst>
          </a:prstGeom>
          <a:solidFill>
            <a:schemeClr val="tx2"/>
          </a:solidFill>
          <a:ln/>
        </p:spPr>
      </p:sp>
      <p:sp>
        <p:nvSpPr>
          <p:cNvPr id="8" name="Text 5"/>
          <p:cNvSpPr txBox="1"/>
          <p:nvPr/>
        </p:nvSpPr>
        <p:spPr>
          <a:xfrm>
            <a:off x="777240" y="4572000"/>
            <a:ext cx="3566160" cy="1417320"/>
          </a:xfrm>
          <a:prstGeom prst="rect">
            <a:avLst/>
          </a:prstGeom>
          <a:noFill/>
          <a:ln/>
        </p:spPr>
        <p:txBody>
          <a:bodyPr wrap="square" lIns="0" tIns="0" rIns="0" bIns="0" rtlCol="0" anchor="ctr"/>
          <a:lstStyle/>
          <a:p>
            <a:pPr indent="0" marL="0">
              <a:buNone/>
            </a:pPr>
            <a:r>
              <a:rPr lang="en-US" sz="1450" b="1" dirty="0">
                <a:solidFill>
                  <a:schemeClr val="bg1"/>
                </a:solidFill>
              </a:rPr>
              <a:t>Pourquoi c'est important</a:t>
            </a:r>
            <a:endParaRPr lang="en-US" sz="1200" dirty="0"/>
          </a:p>
          <a:p>
            <a:pPr indent="0" marL="0">
              <a:buNone/>
            </a:pPr>
            <a:r>
              <a:rPr lang="en-US" sz="1200" dirty="0">
                <a:solidFill>
                  <a:schemeClr val="bg1"/>
                </a:solidFill>
              </a:rPr>
              <a:t>Si cette règle casse, une entité reçoit une nouvelle demande alors qu'une autre est en cours, en retard ou en révision. Aucun des cas TC-001 à TC-015 ne le verrait.</a:t>
            </a:r>
            <a:endParaRPr lang="en-US" sz="1200" dirty="0"/>
          </a:p>
        </p:txBody>
      </p:sp>
      <p:sp>
        <p:nvSpPr>
          <p:cNvPr id="9" name="card"/>
          <p:cNvSpPr/>
          <p:nvPr/>
        </p:nvSpPr>
        <p:spPr>
          <a:xfrm>
            <a:off x="4663440" y="4572000"/>
            <a:ext cx="6949440" cy="1417320"/>
          </a:xfrm>
          <a:prstGeom prst="roundRect">
            <a:avLst>
              <a:gd name="adj" fmla="val 6452"/>
            </a:avLst>
          </a:prstGeom>
          <a:solidFill>
            <a:srgbClr val="DCEFE2"/>
          </a:solidFill>
          <a:ln/>
        </p:spPr>
      </p:sp>
      <p:sp>
        <p:nvSpPr>
          <p:cNvPr id="10" name="Text 7"/>
          <p:cNvSpPr txBox="1"/>
          <p:nvPr/>
        </p:nvSpPr>
        <p:spPr>
          <a:xfrm>
            <a:off x="4800600" y="4617720"/>
            <a:ext cx="6720840" cy="1325880"/>
          </a:xfrm>
          <a:prstGeom prst="rect">
            <a:avLst/>
          </a:prstGeom>
          <a:noFill/>
          <a:ln/>
        </p:spPr>
        <p:txBody>
          <a:bodyPr wrap="square" lIns="0" tIns="0" rIns="0" bIns="0" rtlCol="0" anchor="ctr"/>
          <a:lstStyle/>
          <a:p>
            <a:pPr indent="0" marL="0">
              <a:buNone/>
            </a:pPr>
            <a:r>
              <a:rPr lang="en-US" sz="950" dirty="0">
                <a:solidFill>
                  <a:srgbClr val="1A1A2E"/>
                </a:solidFill>
                <a:latin typeface="Courier New" pitchFamily="34" charset="0"/>
                <a:ea typeface="Courier New" pitchFamily="34" charset="-122"/>
                <a:cs typeface="Courier New" pitchFamily="34" charset="-120"/>
              </a:rPr>
              <a:t>Étant donné que l'utilisateur "ADM-TEST-01" est connecté avec le rôle "Admin"</a:t>
            </a:r>
            <a:endParaRPr lang="en-US" sz="950" dirty="0"/>
          </a:p>
          <a:p>
            <a:pPr indent="0" marL="0">
              <a:buNone/>
            </a:pPr>
            <a:r>
              <a:rPr lang="en-US" sz="950" dirty="0">
                <a:solidFill>
                  <a:srgbClr val="1A1A2E"/>
                </a:solidFill>
                <a:latin typeface="Courier New" pitchFamily="34" charset="0"/>
                <a:ea typeface="Courier New" pitchFamily="34" charset="-122"/>
                <a:cs typeface="Courier New" pitchFamily="34" charset="-120"/>
              </a:rPr>
              <a:t>Et que l'entité "ENT-TEST-03" a une demande "DEM-TEST-03" au statut "En cours"</a:t>
            </a:r>
            <a:endParaRPr lang="en-US" sz="950" dirty="0"/>
          </a:p>
          <a:p>
            <a:pPr indent="0" marL="0">
              <a:buNone/>
            </a:pPr>
            <a:r>
              <a:rPr lang="en-US" sz="950" dirty="0">
                <a:solidFill>
                  <a:srgbClr val="1A1A2E"/>
                </a:solidFill>
                <a:latin typeface="Courier New" pitchFamily="34" charset="0"/>
                <a:ea typeface="Courier New" pitchFamily="34" charset="-122"/>
                <a:cs typeface="Courier New" pitchFamily="34" charset="-120"/>
              </a:rPr>
              <a:t>Et que tous les champs obligatoires sont renseignés avec l'entité "ENT-TEST-03"</a:t>
            </a:r>
            <a:endParaRPr lang="en-US" sz="950" dirty="0"/>
          </a:p>
          <a:p>
            <a:pPr indent="0" marL="0">
              <a:buNone/>
            </a:pPr>
            <a:r>
              <a:rPr lang="en-US" sz="950" dirty="0">
                <a:solidFill>
                  <a:srgbClr val="1A1A2E"/>
                </a:solidFill>
                <a:latin typeface="Courier New" pitchFamily="34" charset="0"/>
                <a:ea typeface="Courier New" pitchFamily="34" charset="-122"/>
                <a:cs typeface="Courier New" pitchFamily="34" charset="-120"/>
              </a:rPr>
              <a:t>Quand il clique sur "Valider la création"</a:t>
            </a:r>
            <a:endParaRPr lang="en-US" sz="950" dirty="0"/>
          </a:p>
          <a:p>
            <a:pPr indent="0" marL="0">
              <a:buNone/>
            </a:pPr>
            <a:r>
              <a:rPr lang="en-US" sz="950" dirty="0">
                <a:solidFill>
                  <a:srgbClr val="1A1A2E"/>
                </a:solidFill>
                <a:latin typeface="Courier New" pitchFamily="34" charset="0"/>
                <a:ea typeface="Courier New" pitchFamily="34" charset="-122"/>
                <a:cs typeface="Courier New" pitchFamily="34" charset="-120"/>
              </a:rPr>
              <a:t>Alors un message d'erreur s'affiche</a:t>
            </a:r>
            <a:endParaRPr lang="en-US" sz="950" dirty="0"/>
          </a:p>
          <a:p>
            <a:pPr indent="0" marL="0">
              <a:buNone/>
            </a:pPr>
            <a:r>
              <a:rPr lang="en-US" sz="950" dirty="0">
                <a:solidFill>
                  <a:srgbClr val="1A1A2E"/>
                </a:solidFill>
                <a:latin typeface="Courier New" pitchFamily="34" charset="0"/>
                <a:ea typeface="Courier New" pitchFamily="34" charset="-122"/>
                <a:cs typeface="Courier New" pitchFamily="34" charset="-120"/>
              </a:rPr>
              <a:t>Et aucune nouvelle demande n'est créée</a:t>
            </a:r>
            <a:endParaRPr lang="en-US" sz="950" dirty="0"/>
          </a:p>
          <a:p>
            <a:pPr indent="0" marL="0">
              <a:buNone/>
            </a:pPr>
            <a:r>
              <a:rPr lang="en-US" sz="950" dirty="0">
                <a:solidFill>
                  <a:srgbClr val="1A1A2E"/>
                </a:solidFill>
                <a:latin typeface="Courier New" pitchFamily="34" charset="0"/>
                <a:ea typeface="Courier New" pitchFamily="34" charset="-122"/>
                <a:cs typeface="Courier New" pitchFamily="34" charset="-120"/>
              </a:rPr>
              <a:t>Et la demande "DEM-TEST-03" est toujours au statut "En cours"</a:t>
            </a:r>
            <a:endParaRPr lang="en-US" sz="9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Bilan de l'agent actuel</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Bon pour décrire l'écran et publier, insuffisant pour écrire des cas exécutables et couvrir les règles métier.</a:t>
            </a:r>
            <a:endParaRPr lang="en-US" sz="1600" dirty="0"/>
          </a:p>
        </p:txBody>
      </p:sp>
      <p:graphicFrame>
        <p:nvGraphicFramePr>
          <p:cNvPr id="9" name="table-bilan"/>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4206240"/>
                <a:gridCol w="1737360"/>
                <a:gridCol w="5120640"/>
              </a:tblGrid>
              <a:tr h="384048">
                <a:tc>
                  <a:txBody>
                    <a:bodyPr/>
                    <a:lstStyle/>
                    <a:p>
                      <a:pPr indent="0" marL="0">
                        <a:buNone/>
                      </a:pPr>
                      <a:r>
                        <a:rPr lang="en-US" sz="1200" b="1" dirty="0">
                          <a:solidFill>
                            <a:srgbClr val="FFFFFF"/>
                          </a:solidFill>
                        </a:rPr>
                        <a:t>Domaine</a:t>
                      </a:r>
                      <a:endParaRPr lang="en-US" sz="12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Agent actuel</a:t>
                      </a:r>
                      <a:endParaRPr lang="en-US" sz="12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00338D"/>
                    </a:solidFill>
                  </a:tcPr>
                </a:tc>
                <a:tc>
                  <a:txBody>
                    <a:bodyPr/>
                    <a:lstStyle/>
                    <a:p>
                      <a:pPr indent="0" marL="0">
                        <a:buNone/>
                      </a:pPr>
                      <a:r>
                        <a:rPr lang="en-US" sz="1200" b="1" dirty="0">
                          <a:solidFill>
                            <a:srgbClr val="FFFFFF"/>
                          </a:solidFill>
                        </a:rPr>
                        <a:t>Ce qu'on fait</a:t>
                      </a:r>
                      <a:endParaRPr lang="en-US" sz="12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2E7D4F"/>
                    </a:solidFill>
                  </a:tcPr>
                </a:tc>
              </a:tr>
              <a:tr h="566928">
                <a:tc>
                  <a:txBody>
                    <a:bodyPr/>
                    <a:lstStyle/>
                    <a:p>
                      <a:pPr indent="0" marL="0">
                        <a:buNone/>
                      </a:pPr>
                      <a:r>
                        <a:rPr lang="en-US" sz="1300" b="1" dirty="0">
                          <a:solidFill>
                            <a:srgbClr val="1A1A2E"/>
                          </a:solidFill>
                        </a:rPr>
                        <a:t>Lecture de l'écran (accès, panneau, champs)</a:t>
                      </a:r>
                      <a:endParaRPr lang="en-US" sz="13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algn="ctr" indent="0" marL="0">
                        <a:buNone/>
                      </a:pPr>
                      <a:r>
                        <a:rPr lang="en-US" sz="1300" b="1" dirty="0">
                          <a:solidFill>
                            <a:srgbClr val="2E7D4F"/>
                          </a:solidFill>
                        </a:rPr>
                        <a:t>Bon</a:t>
                      </a:r>
                      <a:endParaRPr lang="en-US" sz="13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c>
                  <a:txBody>
                    <a:bodyPr/>
                    <a:lstStyle/>
                    <a:p>
                      <a:pPr indent="0" marL="0">
                        <a:buNone/>
                      </a:pPr>
                      <a:r>
                        <a:rPr lang="en-US" sz="1300" dirty="0">
                          <a:solidFill>
                            <a:srgbClr val="00338D"/>
                          </a:solidFill>
                        </a:rPr>
                        <a:t>Gardé</a:t>
                      </a:r>
                      <a:endParaRPr lang="en-US" sz="13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r h="566928">
                <a:tc>
                  <a:txBody>
                    <a:bodyPr/>
                    <a:lstStyle/>
                    <a:p>
                      <a:pPr indent="0" marL="0">
                        <a:buNone/>
                      </a:pPr>
                      <a:r>
                        <a:rPr lang="en-US" sz="1300" b="1" dirty="0">
                          <a:solidFill>
                            <a:srgbClr val="1A1A2E"/>
                          </a:solidFill>
                        </a:rPr>
                        <a:t>Publication technique dans Azure DevOps</a:t>
                      </a:r>
                      <a:endParaRPr lang="en-US" sz="13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4F"/>
                          </a:solidFill>
                        </a:rPr>
                        <a:t>Bon</a:t>
                      </a:r>
                      <a:endParaRPr lang="en-US" sz="13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DCEFE2"/>
                    </a:solidFill>
                  </a:tcPr>
                </a:tc>
                <a:tc>
                  <a:txBody>
                    <a:bodyPr/>
                    <a:lstStyle/>
                    <a:p>
                      <a:pPr indent="0" marL="0">
                        <a:buNone/>
                      </a:pPr>
                      <a:r>
                        <a:rPr lang="en-US" sz="1300" dirty="0">
                          <a:solidFill>
                            <a:srgbClr val="00338D"/>
                          </a:solidFill>
                        </a:rPr>
                        <a:t>Gardée, après relecture et accord</a:t>
                      </a:r>
                      <a:endParaRPr lang="en-US" sz="13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A1A2E"/>
                          </a:solidFill>
                        </a:rPr>
                        <a:t>Forme Gherkin : langue, Et, une ligne par étape</a:t>
                      </a:r>
                      <a:endParaRPr lang="en-US" sz="13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algn="ctr" indent="0" marL="0">
                        <a:buNone/>
                      </a:pPr>
                      <a:r>
                        <a:rPr lang="en-US" sz="1300" b="1" dirty="0">
                          <a:solidFill>
                            <a:srgbClr val="B7791F"/>
                          </a:solidFill>
                        </a:rPr>
                        <a:t>Insuffisant</a:t>
                      </a:r>
                      <a:endParaRPr lang="en-US" sz="13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BEFD5"/>
                    </a:solidFill>
                  </a:tcPr>
                </a:tc>
                <a:tc>
                  <a:txBody>
                    <a:bodyPr/>
                    <a:lstStyle/>
                    <a:p>
                      <a:pPr indent="0" marL="0">
                        <a:buNone/>
                      </a:pPr>
                      <a:r>
                        <a:rPr lang="en-US" sz="1300" dirty="0">
                          <a:solidFill>
                            <a:srgbClr val="00338D"/>
                          </a:solidFill>
                        </a:rPr>
                        <a:t>Gherkin en français, une ligne par précondition, action et résultat</a:t>
                      </a:r>
                      <a:endParaRPr lang="en-US" sz="13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r h="566928">
                <a:tc>
                  <a:txBody>
                    <a:bodyPr/>
                    <a:lstStyle/>
                    <a:p>
                      <a:pPr indent="0" marL="0">
                        <a:buNone/>
                      </a:pPr>
                      <a:r>
                        <a:rPr lang="en-US" sz="1300" b="1" dirty="0">
                          <a:solidFill>
                            <a:srgbClr val="1A1A2E"/>
                          </a:solidFill>
                        </a:rPr>
                        <a:t>Préconditions et données</a:t>
                      </a:r>
                      <a:endParaRPr lang="en-US" sz="13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7791F"/>
                          </a:solidFill>
                        </a:rPr>
                        <a:t>Insuffisant</a:t>
                      </a:r>
                      <a:endParaRPr lang="en-US" sz="13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BEFD5"/>
                    </a:solidFill>
                  </a:tcPr>
                </a:tc>
                <a:tc>
                  <a:txBody>
                    <a:bodyPr/>
                    <a:lstStyle/>
                    <a:p>
                      <a:pPr indent="0" marL="0">
                        <a:buNone/>
                      </a:pPr>
                      <a:r>
                        <a:rPr lang="en-US" sz="1300" dirty="0">
                          <a:solidFill>
                            <a:srgbClr val="00338D"/>
                          </a:solidFill>
                        </a:rPr>
                        <a:t>Rôle, compte, écran et données nommés dans chaque cas</a:t>
                      </a:r>
                      <a:endParaRPr lang="en-US" sz="13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A1A2E"/>
                          </a:solidFill>
                        </a:rPr>
                        <a:t>Règles métier de la validation</a:t>
                      </a:r>
                      <a:endParaRPr lang="en-US" sz="13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c>
                  <a:txBody>
                    <a:bodyPr/>
                    <a:lstStyle/>
                    <a:p>
                      <a:pPr algn="ctr" indent="0" marL="0">
                        <a:buNone/>
                      </a:pPr>
                      <a:r>
                        <a:rPr lang="en-US" sz="1300" b="1" dirty="0">
                          <a:solidFill>
                            <a:srgbClr val="B7791F"/>
                          </a:solidFill>
                        </a:rPr>
                        <a:t>Insuffisant</a:t>
                      </a:r>
                      <a:endParaRPr lang="en-US" sz="13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BEFD5"/>
                    </a:solidFill>
                  </a:tcPr>
                </a:tc>
                <a:tc>
                  <a:txBody>
                    <a:bodyPr/>
                    <a:lstStyle/>
                    <a:p>
                      <a:pPr indent="0" marL="0">
                        <a:buNone/>
                      </a:pPr>
                      <a:r>
                        <a:rPr lang="en-US" sz="1300" dirty="0">
                          <a:solidFill>
                            <a:srgbClr val="00338D"/>
                          </a:solidFill>
                        </a:rPr>
                        <a:t>Règles extraites de l'US, toutes les situations testées</a:t>
                      </a:r>
                      <a:endParaRPr lang="en-US" sz="13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EEF3FA"/>
                    </a:solidFill>
                  </a:tcPr>
                </a:tc>
              </a:tr>
              <a:tr h="566928">
                <a:tc>
                  <a:txBody>
                    <a:bodyPr/>
                    <a:lstStyle/>
                    <a:p>
                      <a:pPr indent="0" marL="0">
                        <a:buNone/>
                      </a:pPr>
                      <a:r>
                        <a:rPr lang="en-US" sz="1300" b="1" dirty="0">
                          <a:solidFill>
                            <a:srgbClr val="1A1A2E"/>
                          </a:solidFill>
                        </a:rPr>
                        <a:t>Regard critique sur l'US</a:t>
                      </a:r>
                      <a:endParaRPr lang="en-US" sz="13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23B3B"/>
                          </a:solidFill>
                        </a:rPr>
                        <a:t>Absent</a:t>
                      </a:r>
                      <a:endParaRPr lang="en-US" sz="13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6DADA"/>
                    </a:solidFill>
                  </a:tcPr>
                </a:tc>
                <a:tc>
                  <a:txBody>
                    <a:bodyPr/>
                    <a:lstStyle/>
                    <a:p>
                      <a:pPr indent="0" marL="0">
                        <a:buNone/>
                      </a:pPr>
                      <a:r>
                        <a:rPr lang="en-US" sz="1300" dirty="0">
                          <a:solidFill>
                            <a:srgbClr val="00338D"/>
                          </a:solidFill>
                        </a:rPr>
                        <a:t>Questions au PO au lieu de résultats inventés</a:t>
                      </a:r>
                      <a:endParaRPr lang="en-US" sz="1300" dirty="0"/>
                    </a:p>
                  </a:txBody>
                  <a:tcPr marL="91440" marR="91440" marT="27432" marB="27432" anchor="ctr">
                    <a:lnL w="6350" cap="flat" cmpd="sng" algn="ctr">
                      <a:solidFill>
                        <a:srgbClr val="B8D4F0"/>
                      </a:solidFill>
                      <a:prstDash val="solid"/>
                      <a:round/>
                      <a:headEnd type="none" w="med" len="med"/>
                      <a:tailEnd type="none" w="med" len="med"/>
                    </a:lnL>
                    <a:lnR w="6350" cap="flat" cmpd="sng" algn="ctr">
                      <a:solidFill>
                        <a:srgbClr val="B8D4F0"/>
                      </a:solidFill>
                      <a:prstDash val="solid"/>
                      <a:round/>
                      <a:headEnd type="none" w="med" len="med"/>
                      <a:tailEnd type="none" w="med" len="med"/>
                    </a:lnR>
                    <a:lnT w="6350" cap="flat" cmpd="sng" algn="ctr">
                      <a:solidFill>
                        <a:srgbClr val="B8D4F0"/>
                      </a:solidFill>
                      <a:prstDash val="solid"/>
                      <a:round/>
                      <a:headEnd type="none" w="med" len="med"/>
                      <a:tailEnd type="none" w="med" len="med"/>
                    </a:lnT>
                    <a:lnB w="6350" cap="flat" cmpd="sng" algn="ctr">
                      <a:solidFill>
                        <a:srgbClr val="B8D4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Prochaines étapes</a:t>
            </a:r>
            <a:endParaRPr lang="en-US" sz="2800" dirty="0"/>
          </a:p>
        </p:txBody>
      </p:sp>
      <p:sp>
        <p:nvSpPr>
          <p:cNvPr id="3" name="Text 0"/>
          <p:cNvSpPr/>
          <p:nvPr>
            <p:ph idx="101" type="body" hasCustomPrompt="1"/>
          </p:nvPr>
        </p:nvSpPr>
        <p:spPr>
          <a:xfrm>
            <a:off x="548640" y="960120"/>
            <a:ext cx="11064240" cy="502920"/>
          </a:xfrm>
          <a:prstGeom prst="rect">
            <a:avLst/>
          </a:prstGeom>
          <a:noFill/>
          <a:ln/>
        </p:spPr>
        <p:txBody>
          <a:bodyPr wrap="square" lIns="0" tIns="0" rIns="0" bIns="0" rtlCol="0" anchor="t"/>
          <a:lstStyle/>
          <a:p>
            <a:pPr algn="l" indent="0" marL="0">
              <a:buNone/>
            </a:pPr>
            <a:r>
              <a:rPr lang="en-US" sz="1600" i="1" dirty="0">
                <a:solidFill>
                  <a:schemeClr val="accent1"/>
                </a:solidFill>
              </a:rPr>
              <a:t>Mesurer sur des US déjà traitées avant de remplacer les consignes de l'agent.</a:t>
            </a:r>
            <a:endParaRPr lang="en-US" sz="1600" dirty="0"/>
          </a:p>
        </p:txBody>
      </p:sp>
      <p:sp>
        <p:nvSpPr>
          <p:cNvPr id="4" name="Text 2"/>
          <p:cNvSpPr txBox="1"/>
          <p:nvPr/>
        </p:nvSpPr>
        <p:spPr>
          <a:xfrm>
            <a:off x="548640" y="1691640"/>
            <a:ext cx="6035040" cy="4023360"/>
          </a:xfrm>
          <a:prstGeom prst="rect">
            <a:avLst/>
          </a:prstGeom>
          <a:noFill/>
          <a:ln/>
        </p:spPr>
        <p:txBody>
          <a:bodyPr wrap="square" lIns="0" tIns="0" rIns="0" bIns="0" rtlCol="0" anchor="t"/>
          <a:lstStyle/>
          <a:p>
            <a:pPr marL="342900" indent="-342900">
              <a:spcAft>
                <a:spcPts val="1400"/>
              </a:spcAft>
              <a:buSzPct val="100000"/>
              <a:buFont typeface="+mj-lt"/>
              <a:buAutoNum type="arabicPeriod" startAt="1"/>
            </a:pPr>
            <a:r>
              <a:rPr lang="en-US" sz="1500" dirty="0">
                <a:solidFill>
                  <a:schemeClr val="tx1"/>
                </a:solidFill>
              </a:rPr>
              <a:t>Créer le contexte projet depuis le PRD et le DAG, puis le faire relire</a:t>
            </a:r>
            <a:endParaRPr lang="en-US" sz="1500" dirty="0"/>
          </a:p>
          <a:p>
            <a:pPr marL="342900" indent="-342900">
              <a:spcAft>
                <a:spcPts val="1400"/>
              </a:spcAft>
              <a:buSzPct val="100000"/>
              <a:buFont typeface="+mj-lt"/>
              <a:buAutoNum type="arabicPeriod" startAt="1"/>
            </a:pPr>
            <a:r>
              <a:rPr lang="en-US" sz="1500" dirty="0">
                <a:solidFill>
                  <a:schemeClr val="tx1"/>
                </a:solidFill>
              </a:rPr>
              <a:t>Rejouer le nouvel agent sur 3 US déjà traitées à la main</a:t>
            </a:r>
            <a:endParaRPr lang="en-US" sz="1500" dirty="0"/>
          </a:p>
          <a:p>
            <a:pPr marL="342900" indent="-342900">
              <a:spcAft>
                <a:spcPts val="1400"/>
              </a:spcAft>
              <a:buSzPct val="100000"/>
              <a:buFont typeface="+mj-lt"/>
              <a:buAutoNum type="arabicPeriod" startAt="1"/>
            </a:pPr>
            <a:r>
              <a:rPr lang="en-US" sz="1500" dirty="0">
                <a:solidFill>
                  <a:schemeClr val="tx1"/>
                </a:solidFill>
              </a:rPr>
              <a:t>Comparer ses cas aux cas validés, critère par critère</a:t>
            </a:r>
            <a:endParaRPr lang="en-US" sz="1500" dirty="0"/>
          </a:p>
          <a:p>
            <a:pPr marL="342900" indent="-342900">
              <a:spcAft>
                <a:spcPts val="1400"/>
              </a:spcAft>
              <a:buSzPct val="100000"/>
              <a:buFont typeface="+mj-lt"/>
              <a:buAutoNum type="arabicPeriod" startAt="1"/>
            </a:pPr>
            <a:r>
              <a:rPr lang="en-US" sz="1500" dirty="0">
                <a:solidFill>
                  <a:schemeClr val="tx1"/>
                </a:solidFill>
              </a:rPr>
              <a:t>Mesurer : cas inventés (cible : zéro), cas acceptés sans réécriture, temps de rédaction</a:t>
            </a:r>
            <a:endParaRPr lang="en-US" sz="1500" dirty="0"/>
          </a:p>
          <a:p>
            <a:pPr marL="342900" indent="-342900">
              <a:spcAft>
                <a:spcPts val="1400"/>
              </a:spcAft>
              <a:buSzPct val="100000"/>
              <a:buFont typeface="+mj-lt"/>
              <a:buAutoNum type="arabicPeriod" startAt="1"/>
            </a:pPr>
            <a:r>
              <a:rPr lang="en-US" sz="1500" dirty="0">
                <a:solidFill>
                  <a:schemeClr val="tx1"/>
                </a:solidFill>
              </a:rPr>
              <a:t>Publier d'abord en CSV, dans une suite de test dédiée</a:t>
            </a:r>
            <a:endParaRPr lang="en-US" sz="1500" dirty="0"/>
          </a:p>
        </p:txBody>
      </p:sp>
      <p:sp>
        <p:nvSpPr>
          <p:cNvPr id="5" name="card"/>
          <p:cNvSpPr/>
          <p:nvPr/>
        </p:nvSpPr>
        <p:spPr>
          <a:xfrm>
            <a:off x="6949440" y="1691640"/>
            <a:ext cx="4663440" cy="2331720"/>
          </a:xfrm>
          <a:prstGeom prst="roundRect">
            <a:avLst>
              <a:gd name="adj" fmla="val 3922"/>
            </a:avLst>
          </a:prstGeom>
          <a:solidFill>
            <a:schemeClr val="tx2"/>
          </a:solidFill>
          <a:ln/>
        </p:spPr>
      </p:sp>
      <p:sp>
        <p:nvSpPr>
          <p:cNvPr id="6" name="Text 4"/>
          <p:cNvSpPr txBox="1"/>
          <p:nvPr/>
        </p:nvSpPr>
        <p:spPr>
          <a:xfrm>
            <a:off x="7178040" y="1828800"/>
            <a:ext cx="4206240" cy="365760"/>
          </a:xfrm>
          <a:prstGeom prst="rect">
            <a:avLst/>
          </a:prstGeom>
          <a:noFill/>
          <a:ln/>
        </p:spPr>
        <p:txBody>
          <a:bodyPr wrap="square" lIns="0" tIns="0" rIns="0" bIns="0" rtlCol="0" anchor="t"/>
          <a:lstStyle/>
          <a:p>
            <a:pPr indent="0" marL="0">
              <a:buNone/>
            </a:pPr>
            <a:r>
              <a:rPr lang="en-US" sz="1600" b="1" dirty="0">
                <a:solidFill>
                  <a:schemeClr val="bg1"/>
                </a:solidFill>
              </a:rPr>
              <a:t>Ce qu'on demande</a:t>
            </a:r>
            <a:endParaRPr lang="en-US" sz="1600" dirty="0"/>
          </a:p>
        </p:txBody>
      </p:sp>
      <p:sp>
        <p:nvSpPr>
          <p:cNvPr id="7" name="Text 5"/>
          <p:cNvSpPr txBox="1"/>
          <p:nvPr/>
        </p:nvSpPr>
        <p:spPr>
          <a:xfrm>
            <a:off x="7178040" y="2240280"/>
            <a:ext cx="4251960" cy="17373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bg1"/>
                </a:solidFill>
              </a:rPr>
              <a:t>Valider la démarche</a:t>
            </a:r>
            <a:endParaRPr lang="en-US" sz="1350" dirty="0"/>
          </a:p>
          <a:p>
            <a:pPr marL="342900" indent="-342900">
              <a:spcAft>
                <a:spcPts val="600"/>
              </a:spcAft>
              <a:buSzPct val="100000"/>
              <a:buChar char="•"/>
            </a:pPr>
            <a:r>
              <a:rPr lang="en-US" sz="1350" dirty="0">
                <a:solidFill>
                  <a:schemeClr val="bg1"/>
                </a:solidFill>
              </a:rPr>
              <a:t>Choisir les 3 US de référence</a:t>
            </a:r>
            <a:endParaRPr lang="en-US" sz="1350" dirty="0"/>
          </a:p>
          <a:p>
            <a:pPr marL="342900" indent="-342900">
              <a:spcAft>
                <a:spcPts val="600"/>
              </a:spcAft>
              <a:buSzPct val="100000"/>
              <a:buChar char="•"/>
            </a:pPr>
            <a:r>
              <a:rPr lang="en-US" sz="1350" dirty="0">
                <a:solidFill>
                  <a:schemeClr val="bg1"/>
                </a:solidFill>
              </a:rPr>
              <a:t>Un accès au dépôt pour l'installer</a:t>
            </a:r>
            <a:endParaRPr lang="en-US" sz="1350" dirty="0"/>
          </a:p>
          <a:p>
            <a:pPr marL="342900" indent="-342900">
              <a:spcAft>
                <a:spcPts val="600"/>
              </a:spcAft>
              <a:buSzPct val="100000"/>
              <a:buChar char="•"/>
            </a:pPr>
            <a:r>
              <a:rPr lang="en-US" sz="1350" dirty="0">
                <a:solidFill>
                  <a:schemeClr val="bg1"/>
                </a:solidFill>
              </a:rPr>
              <a:t>L'accord pour envoyer le PRD et le DAG à l'outil IA</a:t>
            </a:r>
            <a:endParaRPr lang="en-US" sz="1350" dirty="0"/>
          </a:p>
        </p:txBody>
      </p:sp>
      <p:sp>
        <p:nvSpPr>
          <p:cNvPr id="8" name="card"/>
          <p:cNvSpPr/>
          <p:nvPr/>
        </p:nvSpPr>
        <p:spPr>
          <a:xfrm>
            <a:off x="6949440" y="4206240"/>
            <a:ext cx="4663440" cy="822960"/>
          </a:xfrm>
          <a:prstGeom prst="roundRect">
            <a:avLst>
              <a:gd name="adj" fmla="val 11111"/>
            </a:avLst>
          </a:prstGeom>
          <a:solidFill>
            <a:schemeClr val="accent5"/>
          </a:solidFill>
          <a:ln/>
        </p:spPr>
      </p:sp>
      <p:sp>
        <p:nvSpPr>
          <p:cNvPr id="9" name="Text 7"/>
          <p:cNvSpPr txBox="1"/>
          <p:nvPr/>
        </p:nvSpPr>
        <p:spPr>
          <a:xfrm>
            <a:off x="7178040" y="4206240"/>
            <a:ext cx="4297680" cy="822960"/>
          </a:xfrm>
          <a:prstGeom prst="rect">
            <a:avLst/>
          </a:prstGeom>
          <a:noFill/>
          <a:ln/>
        </p:spPr>
        <p:txBody>
          <a:bodyPr wrap="square" lIns="0" tIns="0" rIns="0" bIns="0" rtlCol="0" anchor="ctr"/>
          <a:lstStyle/>
          <a:p>
            <a:pPr indent="0" marL="0">
              <a:buNone/>
            </a:pPr>
            <a:r>
              <a:rPr lang="en-US" sz="1300" b="1" dirty="0">
                <a:solidFill>
                  <a:srgbClr val="00338D"/>
                </a:solidFill>
              </a:rPr>
              <a:t>Si les mesures ne sont pas meilleures, </a:t>
            </a:r>
            <a:pPr indent="0" marL="0">
              <a:buNone/>
            </a:pPr>
            <a:r>
              <a:rPr lang="en-US" sz="1300" dirty="0">
                <a:solidFill>
                  <a:schemeClr val="tx1"/>
                </a:solidFill>
              </a:rPr>
              <a:t>on garde l'agent actuel.</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InfoCAC KPMG">
  <a:themeElements>
    <a:clrScheme name="InfoCAC KPMG">
      <a:dk1>
        <a:srgbClr val="1A1A2E"/>
      </a:dk1>
      <a:lt1>
        <a:srgbClr val="FFFFFF"/>
      </a:lt1>
      <a:dk2>
        <a:srgbClr val="00338D"/>
      </a:dk2>
      <a:lt2>
        <a:srgbClr val="EEF3FA"/>
      </a:lt2>
      <a:accent1>
        <a:srgbClr val="005EB8"/>
      </a:accent1>
      <a:accent2>
        <a:srgbClr val="0091DA"/>
      </a:accent2>
      <a:accent3>
        <a:srgbClr val="B8D4F0"/>
      </a:accent3>
      <a:accent4>
        <a:srgbClr val="5F6B7A"/>
      </a:accent4>
      <a:accent5>
        <a:srgbClr val="D9E4F2"/>
      </a:accent5>
      <a:accent6>
        <a:srgbClr val="00205B"/>
      </a:accent6>
      <a:hlink>
        <a:srgbClr val="005EB8"/>
      </a:hlink>
      <a:folHlink>
        <a:srgbClr val="00338D"/>
      </a:folHlink>
    </a:clrScheme>
    <a:fontScheme name="InfoCAC KPM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QC : actuel et proposé</dc:title>
  <dc:subject>PptxGenJS Presentation</dc:subject>
  <dc:creator>Daura</dc:creator>
  <cp:lastModifiedBy>Daura</cp:lastModifiedBy>
  <cp:revision>1</cp:revision>
  <dcterms:created xsi:type="dcterms:W3CDTF">2026-10-20T15:35:48Z</dcterms:created>
  <dcterms:modified xsi:type="dcterms:W3CDTF">2026-10-20T15:35:48Z</dcterms:modified>
</cp:coreProperties>
</file>