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ision" id="{7d37af11-ec60-f46a-3092-de6bfd0935e6}">
          <p14:sldIdLst>
            <p14:sldId id="256"/>
            <p14:sldId id="257"/>
            <p14:sldId id="258"/>
            <p14:sldId id="259"/>
            <p14:sldId id="260"/>
            <p14:sldId id="261"/>
            <p14:sldId id="262"/>
            <p14:sldId id="263"/>
            <p14:sldId id="264"/>
            <p14:sldId id="265"/>
            <p14:sldId id="266"/>
            <p14:sldId id="267"/>
            <p14:sldId id="268"/>
            <p14:sldId id="269"/>
            <p14:sldId id="270"/>
          </p14:sldIdLst>
        </p14:section>
        <p14:section name="Annexes" id="{3a76695d-c0fe-5884-db9a-1438bc859d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de travail qui complète la stratégie de test validée, sans la remplacer. Le volet agents IA fait l'objet d'une présentation séparée, pour un atelier dédié : cette présentation ne demande aucune décision sur l'IA. Supports associés : le document de stratégie détaillé et le classeur de sélection des candidats (matrice de risques, matrice de rentabilisation, calcul en heures).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Faits issus de la documentation projet et de la stratégie de test validée. InfoCAC : front Vue 3, API .NET documentée par un contrat OpenAPI, base Azure SQL. Environ 15 000 mandats IBS sont à reprendre, hors du périmètre de la suite automatisée. Mars 2027 est la mise en production ; la recette en ITG et PREPROD se déroule avant. Outillage QA : code des tests sur GitHub, pipelines dans Azure Pipelines, US et cas de test dans Azure DevOps et Test Plans. Risques : droits, car le risque habilitations est noté Haute dans la stratégie ; jeux de données, tous « non fournis » dans la stratégie. Message : ce qui coûte cher sur InfoCAC, ce n'est pas un écran cassé, c'est une donnée fausse qui passe inaperçue.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 de test et exclusions repris de la stratégie de test validée, sans la modifier. L'automatisation ne crée pas un nouveau type de test : elle exécute le smoke déjà prévu, et ajoute quelques contrôles de détection précoce. Périmètre de la suite : l'applicatif InfoCAC, par son interface et son API. La reprise IBS et les flux vers les autres applications sont hors de la suite Playwright ; les contrôles de données font l'objet d'une proposition à part (agent de data testing). Pourquoi le smoke d'abord : il est critère d'entrée de chaque campagne dans la stratégie et se rejoue à chaque déploiement, sur trois environnements ; c'est l'activité manuelle la plus fréquente. La non-régression, elle, ne devrait avoir que quelques passes avant mars (à confirmer) : l'automatiser pour gagner du temps ne tient pas. Les contrôles de règles automatisés ne remplacent donc pas la campagne de non-régression : ils détectent plus tôt, entre deux campagnes. Informations à obtenir : fréquence des déploiements en ITG, nombre de campagnes de non-régression prévues. Prérequis à vérifier au premier sprint : accès d'Azure Pipelines à ITG, un compte de test par rôle avec identifiant et mot de passe, accès au contrat OpenAPI.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à faire passer : sur InfoCAC, on n'automatise pas d'abord pour gagner du temps mais pour détecter tôt les régressions critiques. C'est une hypothèse : le pilote mesure les vrais coûts et les vrais gains avant d'aller plus loin. La frise montre pourquoi : la même régression coûte de plus en plus cher selon qu'on la voit le lendemain, en fin de sprint ou pendant le test métiers (S6 à S8 puis S9 à S11 dans la roadmap projet). Exemple aux chiffres fictifs, pour montrer le mécanisme (à remplacer par les mesures du pilote). Un scénario API sur une règle de statut : écriture 6 h, maintenance 1 h par sprint tant que l'US bouge, soit 8 h sur les 8 sprints restants (S4 à S11), total 14 h. Temps manuel évité : 20 min par passe de non-régression, une passe par sprint, soit environ 2,7 h. En temps seul, le test coûte bien plus qu'il ne rapporte. Les exécutions de nuit ne comptent pas comme gain de temps : on ne compte que les passes qu'on aurait faites à la main de toute façon. Ce qui peut rembourser le test : trouver une régression le lendemain au lieu de la fin du sprint ou de la recette métier, sur une règle coûteuse à rater. Une suite sans propriétaire après le 31/12 n'est plus exécutée ni maintenue : son ROI tombe à zéro.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niveaux à ne pas confondre : le POC compte 3 à 4 cas (slide du POC), la suite visée ensuite 5 à 10 scénarios. Ce volume vient du ROI (diapositive précédente) et de ce qu'un seul propriétaire peut maintenir après le 31/12. Aucune liste n'est arrêtée : les fonctionnalités du périmètre de la stratégie sont toutes à évaluer, une US à la fois, avec les cinq critères. Ces critères sont une proposition à valider avec la Test Manager avant de retenir le moindre cas. Un scénario peut porter une table de décision entière : vingt lignes d'exemples restent un seul scénario à maintenir. Indicateur suivi : défauts trouvés par la suite ; si elle ne trouve rien sur plusieurs sprints, on le dit et on réoriente l'effort.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une pyramide : chaque règle se teste au niveau le plus bas qui la porte. InfoCAC expose une API documentée, donc les règles de saisie, les droits et les statuts n'ont pas besoin de l'écran ; l'UI ne garde que ce que seul l'écran peut prouver. La base (tests unitaires .NET et Vue) appartient aux développeurs : sans elle, la pyramide perd son socle et les défauts de règles sont trouvés plus tard, et plus cher. Pourquoi Playwright pour l'API aussi : un seul langage, un seul rapport, une seule CI, et l'API sert déjà à créer les données des tests UI. Les tests API s'écrivent à partir du contrat OpenAPI.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client API est typé à partir du contrat OpenAPI de l'API .NET (génération de types) : un changement de contrat casse la compilation avant de casser un test. Page Objects : des actions, les vérifications restent dans les tests. Les tests ne recalculent pas la logique métier : l'attendu vient d'une règle écrite ou d'une table de décision validée. Connexion : en recette, pas de connexion automatique ; chaque test démarre comme une navigation privée, il faut saisir identifiant et mot de passe. On le fait une seule fois par rôle dans un projet de setup, on enregistre la session (storageState) et tous les tests la réutilisent. À vérifier au premier sprint : la page de connexion est-elle celle d'InfoCAC ou celle de Microsoft, y a-t-il une double authentification, où est stocké le jeton (s'il est en sessionStorage, storageState ne le garde pas et il faut un complément), combien de temps dure la session. Le dossier conventions/ est écrit pour les humains et chargé comme contexte par l'outil d'agents autorisé par KPMG. Comptes de test : un compte par rôle dans SailPoint, sans MFA interactive, à obtenir au sprint 1. Données : vérifier avec l'équipe intégration si les flux d'ITG partent vers des instances de test de DA et MyRotations ; si oui, un mandat de test validé y apparaîtra, d'où le préfixe QA et un nettoyage concerté. Config : trace: 'retain-on-failure', retries: 1 en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code des tests est sur GitHub, les pipelines tournent dans Azure Pipelines : une pull request GitHub déclenche le pipeline de validation, et la protection de branche exige qu'il soit vert pour merger. En CI : forbidOnly activé, --only-changed pour la PR (avec un checkout complet, fetchDepth: 0), retries: 1, trace: 'retain-on-failure'. Quarantaine concrète : tag @quarantaine ; le job bloquant lance --grep-invert @quarantaine, un job séparé non bloquant lance --grep @quarantaine pour suivre la stabilité. Un test instable est un défaut de la suite, pas une fatalité : sa cause est cherchée dans la trace (synchronisation, donnée partagée, locator ambigu). Secrets dans un groupe de variables relié à Key Vault ; résultats JUnit publiés dans le pipeline et rattachés aux cas Test Plans par un reporter (paquet communautaire, à valider). Point à vérifier : l'agent qui exécute le pipeline doit pouvoir ouvrir l'URL d'ITG ; si ITG n'est accessible que depuis le réseau KPMG, utiliser le pool d'agents auto-hébergés des pipelines de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POC répond à une seule question : sur InfoCAC, un petit nombre de tests automatisés détecte-t-il tôt des régressions qui comptent, pour un coût de maintenance acceptable ? Les 3 à 4 cas pilotes sont à valider avec la Test Manager (slide des décisions). GO : on étend vers une suite de 5 à 10 scénarios, au rythme des livraisons stables. ADAPTER : on change de couche (plus d'API, moins d'UI), de périmètre ou d'ambition selon ce qui a coûté. STOP : on reste en manuel ; le smoke est documenté et le code laissé en état pour qui voudrait reprendre. La durée de 2 sprints est une proposition : elle démarre quand ITG, les comptes de test et le contrat OpenAPI sont disponibles, pas avant. Le POC ne dépend d'aucun agent IA : s'ils sont autorisés plus tard, ils s'appuient sur ce socle. Les mesures du POC (temps d'écriture, maintenance, défauts trouvés, temps de diagnostic) remplacent les chiffres fictifs de la slide du ROI.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pas « 60 % de la régression automatisée » comme dans beaucoup de modèles de stratégie : ces cibles supposent un produit qui évolue pendant des années. Sur InfoCAC, il reste 8 sprints, aucune évolution n'est prévue après mars, et la suite vise dix scénarios au plus : un pourcentage serait soit trivial, soit intenable. On mesure donc la confiance. Smoke : critère d'entrée de chaque campagne dans la stratégie, il doit tourner à chaque déploiement, sinon il ne protège rien. Instabilité : un test qui échoue au hasard est ignoré, puis il masque une vraie régression ; le seuil de 2 % est une proposition, à durcir si la suite reste petite (un seul test instable sur dix suffit à le dépasser). Défauts trouvés : c'est le seul bénéfice réel (slide du ROI) ; si la suite ne trouve rien pendant plusieurs sprints, on le dit et on réoriente l'effort. Défauts échappés : une régression sur une règle couverte qui n'est vue qu'en recette métier signifie que le test ne vérifie pas ce qu'on croit. Temps de diagnostic et maintenance : mesurés pendant le pilote, ils remplacent les chiffres fictifs de l'exemple du ROI. Traçabilité : la recette sait ce qu'elle n'a plus à rejouer. Sources consultées pour la structure : modèles de stratégie Inflectra et TinyCTO, article de Julia Pottinger sur la stratégie d'automatisation à l'ère de l'IA ; les cibles sont adaptées à InfoCAC.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Calendrier aligné sur la roadmap review et développement présentée par le projet : 11 sprints (S1 du 07/09 à S11 qui se termine début février), test QC à chaque sprint à partir de S4, test métiers de S6 à S8 puis de S9 à S11. Côté développement : rôles et accès, création et liste des demandes, description du mandat en S1 à S3 ; formulaires mandat bleu en S4 à S6 ; gestion d'entité, multi-millésime et statut révision en S6 et S7 ; validation et flux, tableau de bord, documents en S7 et S8 ; formulaires mandat vert, import, export en S9 à S11. Principe : une fonctionnalité s'évalue pour l'automatisation au plus tôt un sprint après sa livraison, une fois passée en test QC, parce qu'avant elle bouge encore. À mi-octobre, aucun développement n'est encore livré en ITG : les dates des tests dépendent des premières livraisons. Conséquence à dire franchement : à la passation de fin décembre (fin S8), la suite sera encore courte ; d'où un propriétaire nommé, qui porte les barres grises, et des conventions écrites dans le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interlocuteurs indiqués sont une proposition, à ajuster selon l'organisation du projet. Sans les décisions 1 à 3, le POC ne peut pas démarrer : pas de cas pilotes validés, pas d'accès, pas de propriétaire. Le volet IA est volontairement séparé : il dépend de la politique IA de KPMG et de l'outillage autorisé, et ne doit pas retarder l'automatisation classique.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reprise de la stratégie de test produit que j'ai produite sur une mission précédente, adaptée aux outils d'InfoCAC : Azure DevOps et Test Plans à la place de Jira et Xray, tests API Playwright à la place de collections Postman. Ces activités complètent la stratégie validée, elles ne la remplacent pas. À nommer : qui suit et approuve chaque tâche.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 des types non fonctionnels et des critères de suspension reprise de ma stratégie de test produit précédente, adaptée à InfoCAC à partir de la stratégie validée (intrusion en PREPROD, performance non retenue, seuils Sonar). Compatibilité et accessibilité restent à confirmer. La fiabilité est le seul type non fonctionnel qui se prête bien à l'automatisation : Playwright peut simuler une API qui ne répond pas et vérifier le comportement de l'écran.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cette annexe : la slide des dix scénarios dit ce qu'on automatise ; elle ne dit pas ce que la recette rejoue à la main dans Test Plans à chaque livraison. Sans règle, on rejoue tout (trop long) ou au hasard (risqué). La règle : un socle rejoué à chaque livraison, puis des lots rejoués seulement si leur module a changé. Les lots suivent les zones du périmètre de la stratégie validée ; les exemples sont à confirmer US par US. Mise en œuvre dans Test Plans : un tag par lot (par exemple Regression-Socle, Regression-Statuts), une requête par tag, et la campagne de la livraison assemble le socle et les lots concernés. Le marquage « automatisé » évite de rejouer à la main ce que la suite couvre déjà. Structure inspirée d'un guide public de sélection de la régression (dépôt qa-test-strategy-samples), adaptée à InfoCAC.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21031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3931920"/>
            <a:ext cx="10698480" cy="146304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rtlCol="0"/>
          <a:lstStyle>
            <a:lvl1pPr algn="l" indent="0" marL="0">
              <a:buNone/>
              <a:defRPr lang="en-US" sz="1600" i="1" dirty="0">
                <a:solidFill>
                  <a:schemeClr val="accent1"/>
                </a:solidFill>
              </a:defRPr>
            </a:lvl1pPr>
          </a:lstStyle>
          <a:p>
            <a:pPr algn="l" indent="0" marL="0">
              <a:buNone/>
            </a:pPr>
            <a:endParaRPr lang="en-US" sz="16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InfoCAC · Vision de l'automatisation · Document de travail</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2103120"/>
          </a:xfrm>
          <a:prstGeom prst="rect">
            <a:avLst/>
          </a:prstGeom>
          <a:noFill/>
          <a:ln/>
        </p:spPr>
        <p:txBody>
          <a:bodyPr wrap="square" lIns="0" tIns="0" rIns="0" bIns="0" rtlCol="0" anchor="b"/>
          <a:lstStyle/>
          <a:p>
            <a:pPr algn="l" indent="0" marL="0">
              <a:buNone/>
            </a:pPr>
            <a:r>
              <a:rPr lang="en-US" sz="3600" b="1" dirty="0">
                <a:solidFill>
                  <a:schemeClr val="bg1"/>
                </a:solidFill>
              </a:rPr>
              <a:t>InfoCAC : automatiser là où le risque le justifie</a:t>
            </a:r>
            <a:endParaRPr lang="en-US" sz="3600" dirty="0"/>
          </a:p>
        </p:txBody>
      </p:sp>
      <p:sp>
        <p:nvSpPr>
          <p:cNvPr id="3" name="Text 0"/>
          <p:cNvSpPr/>
          <p:nvPr>
            <p:ph idx="101" type="body" hasCustomPrompt="1"/>
          </p:nvPr>
        </p:nvSpPr>
        <p:spPr>
          <a:xfrm>
            <a:off x="731520" y="3931920"/>
            <a:ext cx="10698480" cy="1463040"/>
          </a:xfrm>
          <a:prstGeom prst="rect">
            <a:avLst/>
          </a:prstGeom>
          <a:noFill/>
          <a:ln/>
        </p:spPr>
        <p:txBody>
          <a:bodyPr wrap="square" lIns="0" tIns="0" rIns="0" bIns="0" rtlCol="0" anchor="t"/>
          <a:lstStyle/>
          <a:p>
            <a:pPr algn="l" indent="0" marL="0">
              <a:buNone/>
            </a:pPr>
            <a:r>
              <a:rPr lang="en-US" sz="1800" dirty="0">
                <a:solidFill>
                  <a:schemeClr val="accent3"/>
                </a:solidFill>
              </a:rPr>
              <a:t>Vision de l'automatisation des tests</a:t>
            </a:r>
            <a:endParaRPr lang="en-US" sz="1800" dirty="0"/>
          </a:p>
          <a:p>
            <a:pPr algn="l" indent="0" marL="0">
              <a:buNone/>
            </a:pPr>
            <a:r>
              <a:rPr lang="en-US" sz="1800" dirty="0">
                <a:solidFill>
                  <a:schemeClr val="accent3"/>
                </a:solidFill>
              </a:rPr>
              <a:t>Proposition pour la Test Manager · Octobre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InfoCAC en bref, et ce qu'il faut protéger</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InfoCAC remplace IBS pour la gestion des mandats de commissariat aux comptes, en une seule bascule.</a:t>
            </a:r>
            <a:endParaRPr lang="en-US" sz="1600" dirty="0"/>
          </a:p>
        </p:txBody>
      </p:sp>
      <p:sp>
        <p:nvSpPr>
          <p:cNvPr id="4" name="Text 2"/>
          <p:cNvSpPr txBox="1"/>
          <p:nvPr/>
        </p:nvSpPr>
        <p:spPr>
          <a:xfrm>
            <a:off x="548640" y="1645920"/>
            <a:ext cx="5394960" cy="347472"/>
          </a:xfrm>
          <a:prstGeom prst="rect">
            <a:avLst/>
          </a:prstGeom>
          <a:noFill/>
          <a:ln/>
        </p:spPr>
        <p:txBody>
          <a:bodyPr wrap="square" lIns="0" tIns="0" rIns="0" bIns="0" rtlCol="0" anchor="t"/>
          <a:lstStyle/>
          <a:p>
            <a:pPr indent="0" marL="0">
              <a:buNone/>
            </a:pPr>
            <a:r>
              <a:rPr lang="en-US" sz="1700" b="1" dirty="0">
                <a:solidFill>
                  <a:schemeClr val="tx2"/>
                </a:solidFill>
              </a:rPr>
              <a:t>L'application</a:t>
            </a:r>
            <a:endParaRPr lang="en-US" sz="1700" dirty="0"/>
          </a:p>
        </p:txBody>
      </p:sp>
      <p:sp>
        <p:nvSpPr>
          <p:cNvPr id="5" name="Text 3"/>
          <p:cNvSpPr txBox="1"/>
          <p:nvPr/>
        </p:nvSpPr>
        <p:spPr>
          <a:xfrm>
            <a:off x="548640" y="2057400"/>
            <a:ext cx="5394960" cy="685800"/>
          </a:xfrm>
          <a:prstGeom prst="rect">
            <a:avLst/>
          </a:prstGeom>
          <a:noFill/>
          <a:ln/>
        </p:spPr>
        <p:txBody>
          <a:bodyPr wrap="square" lIns="0" tIns="0" rIns="0" bIns="0" rtlCol="0" anchor="t"/>
          <a:lstStyle/>
          <a:p>
            <a:pPr indent="0" marL="0">
              <a:buNone/>
            </a:pPr>
            <a:r>
              <a:rPr lang="en-US" sz="1400" dirty="0">
                <a:solidFill>
                  <a:schemeClr val="tx1"/>
                </a:solidFill>
              </a:rPr>
              <a:t>Application web de KPMG qui gère les mandats de commissariat aux comptes. Elle reprend la partie mandats d'IBS, arrêté en avril 2027.</a:t>
            </a:r>
            <a:endParaRPr lang="en-US" sz="1400" dirty="0"/>
          </a:p>
        </p:txBody>
      </p:sp>
      <p:sp>
        <p:nvSpPr>
          <p:cNvPr id="6" name="parcours"/>
          <p:cNvSpPr/>
          <p:nvPr/>
        </p:nvSpPr>
        <p:spPr>
          <a:xfrm>
            <a:off x="548640" y="2880360"/>
            <a:ext cx="1965960" cy="777240"/>
          </a:xfrm>
          <a:prstGeom prst="chevron">
            <a:avLst/>
          </a:prstGeom>
          <a:solidFill>
            <a:schemeClr val="tx2"/>
          </a:solidFill>
          <a:ln/>
        </p:spPr>
      </p:sp>
      <p:sp>
        <p:nvSpPr>
          <p:cNvPr id="7" name="Text 5"/>
          <p:cNvSpPr txBox="1"/>
          <p:nvPr/>
        </p:nvSpPr>
        <p:spPr>
          <a:xfrm>
            <a:off x="932688" y="2880360"/>
            <a:ext cx="1234440" cy="777240"/>
          </a:xfrm>
          <a:prstGeom prst="rect">
            <a:avLst/>
          </a:prstGeom>
          <a:noFill/>
          <a:ln/>
        </p:spPr>
        <p:txBody>
          <a:bodyPr wrap="square" lIns="0" tIns="0" rIns="0" bIns="0" rtlCol="0" anchor="ctr"/>
          <a:lstStyle/>
          <a:p>
            <a:pPr algn="ctr" indent="0" marL="0">
              <a:buNone/>
            </a:pPr>
            <a:r>
              <a:rPr lang="en-US" sz="1200" b="1" dirty="0">
                <a:solidFill>
                  <a:schemeClr val="bg1"/>
                </a:solidFill>
              </a:rPr>
              <a:t>Demande</a:t>
            </a:r>
            <a:endParaRPr lang="en-US" sz="1200" dirty="0"/>
          </a:p>
        </p:txBody>
      </p:sp>
      <p:sp>
        <p:nvSpPr>
          <p:cNvPr id="8" name="parcours"/>
          <p:cNvSpPr/>
          <p:nvPr/>
        </p:nvSpPr>
        <p:spPr>
          <a:xfrm>
            <a:off x="2331720" y="2880360"/>
            <a:ext cx="1965960" cy="777240"/>
          </a:xfrm>
          <a:prstGeom prst="chevron">
            <a:avLst/>
          </a:prstGeom>
          <a:solidFill>
            <a:schemeClr val="accent1"/>
          </a:solidFill>
          <a:ln/>
        </p:spPr>
      </p:sp>
      <p:sp>
        <p:nvSpPr>
          <p:cNvPr id="9" name="Text 7"/>
          <p:cNvSpPr txBox="1"/>
          <p:nvPr/>
        </p:nvSpPr>
        <p:spPr>
          <a:xfrm>
            <a:off x="2715768" y="2880360"/>
            <a:ext cx="1234440" cy="777240"/>
          </a:xfrm>
          <a:prstGeom prst="rect">
            <a:avLst/>
          </a:prstGeom>
          <a:noFill/>
          <a:ln/>
        </p:spPr>
        <p:txBody>
          <a:bodyPr wrap="square" lIns="0" tIns="0" rIns="0" bIns="0" rtlCol="0" anchor="ctr"/>
          <a:lstStyle/>
          <a:p>
            <a:pPr algn="ctr" indent="0" marL="0">
              <a:buNone/>
            </a:pPr>
            <a:r>
              <a:rPr lang="en-US" sz="1200" b="1" dirty="0">
                <a:solidFill>
                  <a:schemeClr val="bg1"/>
                </a:solidFill>
              </a:rPr>
              <a:t>Saisie selon le type de mandat</a:t>
            </a:r>
            <a:endParaRPr lang="en-US" sz="1200" dirty="0"/>
          </a:p>
        </p:txBody>
      </p:sp>
      <p:sp>
        <p:nvSpPr>
          <p:cNvPr id="10" name="parcours"/>
          <p:cNvSpPr/>
          <p:nvPr/>
        </p:nvSpPr>
        <p:spPr>
          <a:xfrm>
            <a:off x="4114800" y="2880360"/>
            <a:ext cx="1965960" cy="777240"/>
          </a:xfrm>
          <a:prstGeom prst="chevron">
            <a:avLst/>
          </a:prstGeom>
          <a:solidFill>
            <a:schemeClr val="tx2"/>
          </a:solidFill>
          <a:ln/>
        </p:spPr>
      </p:sp>
      <p:sp>
        <p:nvSpPr>
          <p:cNvPr id="11" name="Text 9"/>
          <p:cNvSpPr txBox="1"/>
          <p:nvPr/>
        </p:nvSpPr>
        <p:spPr>
          <a:xfrm>
            <a:off x="4498848" y="2880360"/>
            <a:ext cx="1234440" cy="777240"/>
          </a:xfrm>
          <a:prstGeom prst="rect">
            <a:avLst/>
          </a:prstGeom>
          <a:noFill/>
          <a:ln/>
        </p:spPr>
        <p:txBody>
          <a:bodyPr wrap="square" lIns="0" tIns="0" rIns="0" bIns="0" rtlCol="0" anchor="ctr"/>
          <a:lstStyle/>
          <a:p>
            <a:pPr algn="ctr" indent="0" marL="0">
              <a:buNone/>
            </a:pPr>
            <a:r>
              <a:rPr lang="en-US" sz="1200" b="1" dirty="0">
                <a:solidFill>
                  <a:schemeClr val="bg1"/>
                </a:solidFill>
              </a:rPr>
              <a:t>Validation</a:t>
            </a:r>
            <a:endParaRPr lang="en-US" sz="1200" dirty="0"/>
          </a:p>
        </p:txBody>
      </p:sp>
      <p:pic>
        <p:nvPicPr>
          <p:cNvPr id="12" name="check" descr="preencoded.png">    </p:cNvPr>
          <p:cNvPicPr>
            <a:picLocks noChangeAspect="1"/>
          </p:cNvPicPr>
          <p:nvPr/>
        </p:nvPicPr>
        <p:blipFill>
          <a:blip r:embed="rId1"/>
          <a:stretch>
            <a:fillRect/>
          </a:stretch>
        </p:blipFill>
        <p:spPr>
          <a:xfrm>
            <a:off x="548640" y="3931920"/>
            <a:ext cx="274320" cy="274320"/>
          </a:xfrm>
          <a:prstGeom prst="rect">
            <a:avLst/>
          </a:prstGeom>
        </p:spPr>
      </p:pic>
      <p:sp>
        <p:nvSpPr>
          <p:cNvPr id="13" name="Text 10"/>
          <p:cNvSpPr txBox="1"/>
          <p:nvPr/>
        </p:nvSpPr>
        <p:spPr>
          <a:xfrm>
            <a:off x="932688" y="3858768"/>
            <a:ext cx="5029200" cy="438912"/>
          </a:xfrm>
          <a:prstGeom prst="rect">
            <a:avLst/>
          </a:prstGeom>
          <a:noFill/>
          <a:ln/>
        </p:spPr>
        <p:txBody>
          <a:bodyPr wrap="square" lIns="0" tIns="0" rIns="0" bIns="0" rtlCol="0" anchor="ctr"/>
          <a:lstStyle/>
          <a:p>
            <a:pPr indent="0" marL="0">
              <a:buNone/>
            </a:pPr>
            <a:r>
              <a:rPr lang="en-US" sz="1350" dirty="0">
                <a:solidFill>
                  <a:schemeClr val="tx1"/>
                </a:solidFill>
              </a:rPr>
              <a:t>Trois rôles : User, Admin, Super Admin</a:t>
            </a:r>
            <a:endParaRPr lang="en-US" sz="1350" dirty="0"/>
          </a:p>
        </p:txBody>
      </p:sp>
      <p:pic>
        <p:nvPicPr>
          <p:cNvPr id="14" name="check" descr="preencoded.png">    </p:cNvPr>
          <p:cNvPicPr>
            <a:picLocks noChangeAspect="1"/>
          </p:cNvPicPr>
          <p:nvPr/>
        </p:nvPicPr>
        <p:blipFill>
          <a:blip r:embed="rId2"/>
          <a:stretch>
            <a:fillRect/>
          </a:stretch>
        </p:blipFill>
        <p:spPr>
          <a:xfrm>
            <a:off x="548640" y="4498848"/>
            <a:ext cx="274320" cy="274320"/>
          </a:xfrm>
          <a:prstGeom prst="rect">
            <a:avLst/>
          </a:prstGeom>
        </p:spPr>
      </p:pic>
      <p:sp>
        <p:nvSpPr>
          <p:cNvPr id="15" name="Text 11"/>
          <p:cNvSpPr txBox="1"/>
          <p:nvPr/>
        </p:nvSpPr>
        <p:spPr>
          <a:xfrm>
            <a:off x="932688" y="4425696"/>
            <a:ext cx="5029200" cy="438912"/>
          </a:xfrm>
          <a:prstGeom prst="rect">
            <a:avLst/>
          </a:prstGeom>
          <a:noFill/>
          <a:ln/>
        </p:spPr>
        <p:txBody>
          <a:bodyPr wrap="square" lIns="0" tIns="0" rIns="0" bIns="0" rtlCol="0" anchor="ctr"/>
          <a:lstStyle/>
          <a:p>
            <a:pPr indent="0" marL="0">
              <a:buNone/>
            </a:pPr>
            <a:r>
              <a:rPr lang="en-US" sz="1350" dirty="0">
                <a:solidFill>
                  <a:schemeClr val="tx1"/>
                </a:solidFill>
              </a:rPr>
              <a:t>Alimente des applications réglementaires : Déclaration d'Activités, MyRotations</a:t>
            </a:r>
            <a:endParaRPr lang="en-US" sz="1350" dirty="0"/>
          </a:p>
        </p:txBody>
      </p:sp>
      <p:pic>
        <p:nvPicPr>
          <p:cNvPr id="16" name="check" descr="preencoded.png">    </p:cNvPr>
          <p:cNvPicPr>
            <a:picLocks noChangeAspect="1"/>
          </p:cNvPicPr>
          <p:nvPr/>
        </p:nvPicPr>
        <p:blipFill>
          <a:blip r:embed="rId3"/>
          <a:stretch>
            <a:fillRect/>
          </a:stretch>
        </p:blipFill>
        <p:spPr>
          <a:xfrm>
            <a:off x="548640" y="5065776"/>
            <a:ext cx="274320" cy="274320"/>
          </a:xfrm>
          <a:prstGeom prst="rect">
            <a:avLst/>
          </a:prstGeom>
        </p:spPr>
      </p:pic>
      <p:sp>
        <p:nvSpPr>
          <p:cNvPr id="17" name="Text 12"/>
          <p:cNvSpPr txBox="1"/>
          <p:nvPr/>
        </p:nvSpPr>
        <p:spPr>
          <a:xfrm>
            <a:off x="932688" y="4992624"/>
            <a:ext cx="5029200" cy="438912"/>
          </a:xfrm>
          <a:prstGeom prst="rect">
            <a:avLst/>
          </a:prstGeom>
          <a:noFill/>
          <a:ln/>
        </p:spPr>
        <p:txBody>
          <a:bodyPr wrap="square" lIns="0" tIns="0" rIns="0" bIns="0" rtlCol="0" anchor="ctr"/>
          <a:lstStyle/>
          <a:p>
            <a:pPr indent="0" marL="0">
              <a:buNone/>
            </a:pPr>
            <a:r>
              <a:rPr lang="en-US" sz="1350" dirty="0">
                <a:solidFill>
                  <a:schemeClr val="tx1"/>
                </a:solidFill>
              </a:rPr>
              <a:t>11 sprints de développement jusqu'à début février, mise en production en mars 2027</a:t>
            </a:r>
            <a:endParaRPr lang="en-US" sz="1350" dirty="0"/>
          </a:p>
        </p:txBody>
      </p:sp>
      <p:sp>
        <p:nvSpPr>
          <p:cNvPr id="18" name="Text 13"/>
          <p:cNvSpPr txBox="1"/>
          <p:nvPr/>
        </p:nvSpPr>
        <p:spPr>
          <a:xfrm>
            <a:off x="6309360" y="1645920"/>
            <a:ext cx="5303520" cy="347472"/>
          </a:xfrm>
          <a:prstGeom prst="rect">
            <a:avLst/>
          </a:prstGeom>
          <a:noFill/>
          <a:ln/>
        </p:spPr>
        <p:txBody>
          <a:bodyPr wrap="square" lIns="0" tIns="0" rIns="0" bIns="0" rtlCol="0" anchor="t"/>
          <a:lstStyle/>
          <a:p>
            <a:pPr indent="0" marL="0">
              <a:buNone/>
            </a:pPr>
            <a:r>
              <a:rPr lang="en-US" sz="1700" b="1" dirty="0">
                <a:solidFill>
                  <a:schemeClr val="tx2"/>
                </a:solidFill>
              </a:rPr>
              <a:t>Trois risques</a:t>
            </a:r>
            <a:endParaRPr lang="en-US" sz="1700" dirty="0"/>
          </a:p>
        </p:txBody>
      </p:sp>
      <p:sp>
        <p:nvSpPr>
          <p:cNvPr id="19" name="card"/>
          <p:cNvSpPr/>
          <p:nvPr/>
        </p:nvSpPr>
        <p:spPr>
          <a:xfrm>
            <a:off x="6309360" y="2103120"/>
            <a:ext cx="5303520" cy="1133856"/>
          </a:xfrm>
          <a:prstGeom prst="roundRect">
            <a:avLst>
              <a:gd name="adj" fmla="val 8065"/>
            </a:avLst>
          </a:prstGeom>
          <a:solidFill>
            <a:schemeClr val="bg2"/>
          </a:solidFill>
          <a:ln/>
        </p:spPr>
      </p:sp>
      <p:sp>
        <p:nvSpPr>
          <p:cNvPr id="20" name="icon-circle"/>
          <p:cNvSpPr/>
          <p:nvPr/>
        </p:nvSpPr>
        <p:spPr>
          <a:xfrm>
            <a:off x="6473952" y="2304288"/>
            <a:ext cx="731520" cy="731520"/>
          </a:xfrm>
          <a:prstGeom prst="ellipse">
            <a:avLst/>
          </a:prstGeom>
          <a:solidFill>
            <a:schemeClr val="accent1"/>
          </a:solidFill>
          <a:ln/>
        </p:spPr>
      </p:sp>
      <p:pic>
        <p:nvPicPr>
          <p:cNvPr id="21" name="icon" descr="preencoded.png">    </p:cNvPr>
          <p:cNvPicPr>
            <a:picLocks noChangeAspect="1"/>
          </p:cNvPicPr>
          <p:nvPr/>
        </p:nvPicPr>
        <p:blipFill>
          <a:blip r:embed="rId4"/>
          <a:stretch>
            <a:fillRect/>
          </a:stretch>
        </p:blipFill>
        <p:spPr>
          <a:xfrm>
            <a:off x="6634886" y="2465222"/>
            <a:ext cx="409651" cy="409651"/>
          </a:xfrm>
          <a:prstGeom prst="rect">
            <a:avLst/>
          </a:prstGeom>
        </p:spPr>
      </p:pic>
      <p:sp>
        <p:nvSpPr>
          <p:cNvPr id="22" name="Text 16"/>
          <p:cNvSpPr txBox="1"/>
          <p:nvPr/>
        </p:nvSpPr>
        <p:spPr>
          <a:xfrm>
            <a:off x="7406640" y="2212848"/>
            <a:ext cx="4069080" cy="329184"/>
          </a:xfrm>
          <a:prstGeom prst="rect">
            <a:avLst/>
          </a:prstGeom>
          <a:noFill/>
          <a:ln/>
        </p:spPr>
        <p:txBody>
          <a:bodyPr wrap="square" lIns="0" tIns="0" rIns="0" bIns="0" rtlCol="0" anchor="t"/>
          <a:lstStyle/>
          <a:p>
            <a:pPr indent="0" marL="0">
              <a:buNone/>
            </a:pPr>
            <a:r>
              <a:rPr lang="en-US" sz="1600" b="1" dirty="0">
                <a:solidFill>
                  <a:schemeClr val="tx2"/>
                </a:solidFill>
              </a:rPr>
              <a:t>Les droits par rôle</a:t>
            </a:r>
            <a:endParaRPr lang="en-US" sz="1600" dirty="0"/>
          </a:p>
        </p:txBody>
      </p:sp>
      <p:sp>
        <p:nvSpPr>
          <p:cNvPr id="23" name="Text 17"/>
          <p:cNvSpPr txBox="1"/>
          <p:nvPr/>
        </p:nvSpPr>
        <p:spPr>
          <a:xfrm>
            <a:off x="7406640" y="2560320"/>
            <a:ext cx="4069080" cy="621792"/>
          </a:xfrm>
          <a:prstGeom prst="rect">
            <a:avLst/>
          </a:prstGeom>
          <a:noFill/>
          <a:ln/>
        </p:spPr>
        <p:txBody>
          <a:bodyPr wrap="square" lIns="0" tIns="0" rIns="0" bIns="0" rtlCol="0" anchor="t"/>
          <a:lstStyle/>
          <a:p>
            <a:pPr indent="0" marL="0">
              <a:buNone/>
            </a:pPr>
            <a:r>
              <a:rPr lang="en-US" sz="1300" dirty="0">
                <a:solidFill>
                  <a:schemeClr val="tx1"/>
                </a:solidFill>
              </a:rPr>
              <a:t>Un accès ou une action indus sur un mandat ne se voient pas forcément à l'écran.</a:t>
            </a:r>
            <a:endParaRPr lang="en-US" sz="1300" dirty="0"/>
          </a:p>
        </p:txBody>
      </p:sp>
      <p:sp>
        <p:nvSpPr>
          <p:cNvPr id="24" name="card"/>
          <p:cNvSpPr/>
          <p:nvPr/>
        </p:nvSpPr>
        <p:spPr>
          <a:xfrm>
            <a:off x="6309360" y="3364992"/>
            <a:ext cx="5303520" cy="1133856"/>
          </a:xfrm>
          <a:prstGeom prst="roundRect">
            <a:avLst>
              <a:gd name="adj" fmla="val 8065"/>
            </a:avLst>
          </a:prstGeom>
          <a:solidFill>
            <a:schemeClr val="bg2"/>
          </a:solidFill>
          <a:ln/>
        </p:spPr>
      </p:sp>
      <p:sp>
        <p:nvSpPr>
          <p:cNvPr id="25" name="icon-circle"/>
          <p:cNvSpPr/>
          <p:nvPr/>
        </p:nvSpPr>
        <p:spPr>
          <a:xfrm>
            <a:off x="6473952" y="3566160"/>
            <a:ext cx="731520" cy="731520"/>
          </a:xfrm>
          <a:prstGeom prst="ellipse">
            <a:avLst/>
          </a:prstGeom>
          <a:solidFill>
            <a:schemeClr val="accent1"/>
          </a:solidFill>
          <a:ln/>
        </p:spPr>
      </p:sp>
      <p:pic>
        <p:nvPicPr>
          <p:cNvPr id="26" name="icon" descr="preencoded.png">    </p:cNvPr>
          <p:cNvPicPr>
            <a:picLocks noChangeAspect="1"/>
          </p:cNvPicPr>
          <p:nvPr/>
        </p:nvPicPr>
        <p:blipFill>
          <a:blip r:embed="rId5"/>
          <a:stretch>
            <a:fillRect/>
          </a:stretch>
        </p:blipFill>
        <p:spPr>
          <a:xfrm>
            <a:off x="6634886" y="3727094"/>
            <a:ext cx="409651" cy="409651"/>
          </a:xfrm>
          <a:prstGeom prst="rect">
            <a:avLst/>
          </a:prstGeom>
        </p:spPr>
      </p:pic>
      <p:sp>
        <p:nvSpPr>
          <p:cNvPr id="27" name="Text 20"/>
          <p:cNvSpPr txBox="1"/>
          <p:nvPr/>
        </p:nvSpPr>
        <p:spPr>
          <a:xfrm>
            <a:off x="7406640" y="3474720"/>
            <a:ext cx="4069080" cy="329184"/>
          </a:xfrm>
          <a:prstGeom prst="rect">
            <a:avLst/>
          </a:prstGeom>
          <a:noFill/>
          <a:ln/>
        </p:spPr>
        <p:txBody>
          <a:bodyPr wrap="square" lIns="0" tIns="0" rIns="0" bIns="0" rtlCol="0" anchor="t"/>
          <a:lstStyle/>
          <a:p>
            <a:pPr indent="0" marL="0">
              <a:buNone/>
            </a:pPr>
            <a:r>
              <a:rPr lang="en-US" sz="1600" b="1" dirty="0">
                <a:solidFill>
                  <a:schemeClr val="tx2"/>
                </a:solidFill>
              </a:rPr>
              <a:t>Les formulaires et les statuts</a:t>
            </a:r>
            <a:endParaRPr lang="en-US" sz="1600" dirty="0"/>
          </a:p>
        </p:txBody>
      </p:sp>
      <p:sp>
        <p:nvSpPr>
          <p:cNvPr id="28" name="Text 21"/>
          <p:cNvSpPr txBox="1"/>
          <p:nvPr/>
        </p:nvSpPr>
        <p:spPr>
          <a:xfrm>
            <a:off x="7406640" y="3822192"/>
            <a:ext cx="4069080" cy="621792"/>
          </a:xfrm>
          <a:prstGeom prst="rect">
            <a:avLst/>
          </a:prstGeom>
          <a:noFill/>
          <a:ln/>
        </p:spPr>
        <p:txBody>
          <a:bodyPr wrap="square" lIns="0" tIns="0" rIns="0" bIns="0" rtlCol="0" anchor="t"/>
          <a:lstStyle/>
          <a:p>
            <a:pPr indent="0" marL="0">
              <a:buNone/>
            </a:pPr>
            <a:r>
              <a:rPr lang="en-US" sz="1300" dirty="0">
                <a:solidFill>
                  <a:schemeClr val="tx1"/>
                </a:solidFill>
              </a:rPr>
              <a:t>Chaque livraison peut casser une règle de saisie ou une transition déjà validée.</a:t>
            </a:r>
            <a:endParaRPr lang="en-US" sz="1300" dirty="0"/>
          </a:p>
        </p:txBody>
      </p:sp>
      <p:sp>
        <p:nvSpPr>
          <p:cNvPr id="29" name="card"/>
          <p:cNvSpPr/>
          <p:nvPr/>
        </p:nvSpPr>
        <p:spPr>
          <a:xfrm>
            <a:off x="6309360" y="4626864"/>
            <a:ext cx="5303520" cy="1133856"/>
          </a:xfrm>
          <a:prstGeom prst="roundRect">
            <a:avLst>
              <a:gd name="adj" fmla="val 8065"/>
            </a:avLst>
          </a:prstGeom>
          <a:solidFill>
            <a:schemeClr val="bg2"/>
          </a:solidFill>
          <a:ln/>
        </p:spPr>
      </p:sp>
      <p:sp>
        <p:nvSpPr>
          <p:cNvPr id="30" name="icon-circle"/>
          <p:cNvSpPr/>
          <p:nvPr/>
        </p:nvSpPr>
        <p:spPr>
          <a:xfrm>
            <a:off x="6473952" y="4828032"/>
            <a:ext cx="731520" cy="731520"/>
          </a:xfrm>
          <a:prstGeom prst="ellipse">
            <a:avLst/>
          </a:prstGeom>
          <a:solidFill>
            <a:schemeClr val="accent1"/>
          </a:solidFill>
          <a:ln/>
        </p:spPr>
      </p:sp>
      <p:pic>
        <p:nvPicPr>
          <p:cNvPr id="31" name="icon" descr="preencoded.png">    </p:cNvPr>
          <p:cNvPicPr>
            <a:picLocks noChangeAspect="1"/>
          </p:cNvPicPr>
          <p:nvPr/>
        </p:nvPicPr>
        <p:blipFill>
          <a:blip r:embed="rId6"/>
          <a:stretch>
            <a:fillRect/>
          </a:stretch>
        </p:blipFill>
        <p:spPr>
          <a:xfrm>
            <a:off x="6634886" y="4988966"/>
            <a:ext cx="409651" cy="409651"/>
          </a:xfrm>
          <a:prstGeom prst="rect">
            <a:avLst/>
          </a:prstGeom>
        </p:spPr>
      </p:pic>
      <p:sp>
        <p:nvSpPr>
          <p:cNvPr id="32" name="Text 24"/>
          <p:cNvSpPr txBox="1"/>
          <p:nvPr/>
        </p:nvSpPr>
        <p:spPr>
          <a:xfrm>
            <a:off x="7406640" y="4736592"/>
            <a:ext cx="4069080" cy="329184"/>
          </a:xfrm>
          <a:prstGeom prst="rect">
            <a:avLst/>
          </a:prstGeom>
          <a:noFill/>
          <a:ln/>
        </p:spPr>
        <p:txBody>
          <a:bodyPr wrap="square" lIns="0" tIns="0" rIns="0" bIns="0" rtlCol="0" anchor="t"/>
          <a:lstStyle/>
          <a:p>
            <a:pPr indent="0" marL="0">
              <a:buNone/>
            </a:pPr>
            <a:r>
              <a:rPr lang="en-US" sz="1600" b="1" dirty="0">
                <a:solidFill>
                  <a:schemeClr val="tx2"/>
                </a:solidFill>
              </a:rPr>
              <a:t>Les données de test</a:t>
            </a:r>
            <a:endParaRPr lang="en-US" sz="1600" dirty="0"/>
          </a:p>
        </p:txBody>
      </p:sp>
      <p:sp>
        <p:nvSpPr>
          <p:cNvPr id="33" name="Text 25"/>
          <p:cNvSpPr txBox="1"/>
          <p:nvPr/>
        </p:nvSpPr>
        <p:spPr>
          <a:xfrm>
            <a:off x="7406640" y="5084064"/>
            <a:ext cx="4069080" cy="621792"/>
          </a:xfrm>
          <a:prstGeom prst="rect">
            <a:avLst/>
          </a:prstGeom>
          <a:noFill/>
          <a:ln/>
        </p:spPr>
        <p:txBody>
          <a:bodyPr wrap="square" lIns="0" tIns="0" rIns="0" bIns="0" rtlCol="0" anchor="t"/>
          <a:lstStyle/>
          <a:p>
            <a:pPr indent="0" marL="0">
              <a:buNone/>
            </a:pPr>
            <a:r>
              <a:rPr lang="en-US" sz="1300" dirty="0">
                <a:solidFill>
                  <a:schemeClr val="tx1"/>
                </a:solidFill>
              </a:rPr>
              <a:t>Les 9 jeux de données listés par la stratégie ne sont pas encore fournis.</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Ce que l'automatisation pourrait prendre, et ce qu'elle laisse</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Proposition : automatiser le smoke, l'activité la plus répétée, et quelques contrôles de règles stables.</a:t>
            </a:r>
            <a:endParaRPr lang="en-US" sz="1600" dirty="0"/>
          </a:p>
        </p:txBody>
      </p:sp>
      <p:sp>
        <p:nvSpPr>
          <p:cNvPr id="4" name="box"/>
          <p:cNvSpPr/>
          <p:nvPr/>
        </p:nvSpPr>
        <p:spPr>
          <a:xfrm>
            <a:off x="548640" y="1691640"/>
            <a:ext cx="3474720" cy="548640"/>
          </a:xfrm>
          <a:prstGeom prst="roundRect">
            <a:avLst>
              <a:gd name="adj" fmla="val 10000"/>
            </a:avLst>
          </a:prstGeom>
          <a:solidFill>
            <a:schemeClr val="tx2"/>
          </a:solidFill>
          <a:ln/>
        </p:spPr>
      </p:sp>
      <p:sp>
        <p:nvSpPr>
          <p:cNvPr id="5" name="Text 3"/>
          <p:cNvSpPr txBox="1"/>
          <p:nvPr/>
        </p:nvSpPr>
        <p:spPr>
          <a:xfrm>
            <a:off x="731520" y="1691640"/>
            <a:ext cx="3108960" cy="548640"/>
          </a:xfrm>
          <a:prstGeom prst="rect">
            <a:avLst/>
          </a:prstGeom>
          <a:noFill/>
          <a:ln/>
        </p:spPr>
        <p:txBody>
          <a:bodyPr wrap="square" lIns="0" tIns="0" rIns="0" bIns="0" rtlCol="0" anchor="ctr"/>
          <a:lstStyle/>
          <a:p>
            <a:pPr indent="0" marL="0">
              <a:buNone/>
            </a:pPr>
            <a:r>
              <a:rPr lang="en-US" sz="1500" b="1" dirty="0">
                <a:solidFill>
                  <a:schemeClr val="bg1"/>
                </a:solidFill>
              </a:rPr>
              <a:t>Prévu par la stratégie validée</a:t>
            </a:r>
            <a:endParaRPr lang="en-US" sz="1500" dirty="0"/>
          </a:p>
        </p:txBody>
      </p:sp>
      <p:sp>
        <p:nvSpPr>
          <p:cNvPr id="6" name="card"/>
          <p:cNvSpPr/>
          <p:nvPr/>
        </p:nvSpPr>
        <p:spPr>
          <a:xfrm>
            <a:off x="548640" y="2331720"/>
            <a:ext cx="3474720" cy="2743200"/>
          </a:xfrm>
          <a:prstGeom prst="roundRect">
            <a:avLst>
              <a:gd name="adj" fmla="val 3333"/>
            </a:avLst>
          </a:prstGeom>
          <a:solidFill>
            <a:schemeClr val="bg2"/>
          </a:solidFill>
          <a:ln/>
        </p:spPr>
      </p:sp>
      <p:sp>
        <p:nvSpPr>
          <p:cNvPr id="7" name="Text 5"/>
          <p:cNvSpPr txBox="1"/>
          <p:nvPr/>
        </p:nvSpPr>
        <p:spPr>
          <a:xfrm>
            <a:off x="731520" y="2468880"/>
            <a:ext cx="3108960" cy="2514600"/>
          </a:xfrm>
          <a:prstGeom prst="rect">
            <a:avLst/>
          </a:prstGeom>
          <a:noFill/>
          <a:ln/>
        </p:spPr>
        <p:txBody>
          <a:bodyPr wrap="square" lIns="0" tIns="0" rIns="0" bIns="0" rtlCol="0" anchor="t"/>
          <a:lstStyle/>
          <a:p>
            <a:pPr indent="0" marL="0">
              <a:spcAft>
                <a:spcPts val="1400"/>
              </a:spcAft>
              <a:buNone/>
            </a:pPr>
            <a:r>
              <a:rPr lang="en-US" sz="1400" dirty="0">
                <a:solidFill>
                  <a:schemeClr val="tx1"/>
                </a:solidFill>
              </a:rPr>
              <a:t>Smoke en ITG, PREPROD et PROD, critère d'entrée de chaque campagne</a:t>
            </a:r>
            <a:endParaRPr lang="en-US" sz="1400" dirty="0"/>
          </a:p>
          <a:p>
            <a:pPr indent="0" marL="0">
              <a:spcAft>
                <a:spcPts val="1400"/>
              </a:spcAft>
              <a:buNone/>
            </a:pPr>
            <a:r>
              <a:rPr lang="en-US" sz="1400" dirty="0">
                <a:solidFill>
                  <a:schemeClr val="tx1"/>
                </a:solidFill>
              </a:rPr>
              <a:t>Non-régression en ITG et PREPROD</a:t>
            </a:r>
            <a:endParaRPr lang="en-US" sz="1400" dirty="0"/>
          </a:p>
          <a:p>
            <a:pPr indent="0" marL="0">
              <a:spcAft>
                <a:spcPts val="1400"/>
              </a:spcAft>
              <a:buNone/>
            </a:pPr>
            <a:r>
              <a:rPr lang="en-US" sz="1400" dirty="0">
                <a:solidFill>
                  <a:schemeClr val="tx1"/>
                </a:solidFill>
              </a:rPr>
              <a:t>Recette fonctionnelle en ITG, par la QC</a:t>
            </a:r>
            <a:endParaRPr lang="en-US" sz="1400" dirty="0"/>
          </a:p>
          <a:p>
            <a:pPr indent="0" marL="0">
              <a:spcAft>
                <a:spcPts val="1400"/>
              </a:spcAft>
              <a:buNone/>
            </a:pPr>
            <a:r>
              <a:rPr lang="en-US" sz="1400" dirty="0">
                <a:solidFill>
                  <a:schemeClr val="tx1"/>
                </a:solidFill>
              </a:rPr>
              <a:t>Acceptation par le métier en PREPROD</a:t>
            </a:r>
            <a:endParaRPr lang="en-US" sz="1400" dirty="0"/>
          </a:p>
        </p:txBody>
      </p:sp>
      <p:pic>
        <p:nvPicPr>
          <p:cNvPr id="8" name="arrow" descr="preencoded.png">    </p:cNvPr>
          <p:cNvPicPr>
            <a:picLocks noChangeAspect="1"/>
          </p:cNvPicPr>
          <p:nvPr/>
        </p:nvPicPr>
        <p:blipFill>
          <a:blip r:embed="rId1"/>
          <a:stretch>
            <a:fillRect/>
          </a:stretch>
        </p:blipFill>
        <p:spPr>
          <a:xfrm>
            <a:off x="4050792" y="3566160"/>
            <a:ext cx="274320" cy="274320"/>
          </a:xfrm>
          <a:prstGeom prst="rect">
            <a:avLst/>
          </a:prstGeom>
        </p:spPr>
      </p:pic>
      <p:sp>
        <p:nvSpPr>
          <p:cNvPr id="9" name="box"/>
          <p:cNvSpPr/>
          <p:nvPr/>
        </p:nvSpPr>
        <p:spPr>
          <a:xfrm>
            <a:off x="4343400" y="1691640"/>
            <a:ext cx="3474720" cy="548640"/>
          </a:xfrm>
          <a:prstGeom prst="roundRect">
            <a:avLst>
              <a:gd name="adj" fmla="val 10000"/>
            </a:avLst>
          </a:prstGeom>
          <a:solidFill>
            <a:schemeClr val="accent1"/>
          </a:solidFill>
          <a:ln/>
        </p:spPr>
      </p:sp>
      <p:sp>
        <p:nvSpPr>
          <p:cNvPr id="10" name="Text 7"/>
          <p:cNvSpPr txBox="1"/>
          <p:nvPr/>
        </p:nvSpPr>
        <p:spPr>
          <a:xfrm>
            <a:off x="4526280" y="1691640"/>
            <a:ext cx="3108960" cy="548640"/>
          </a:xfrm>
          <a:prstGeom prst="rect">
            <a:avLst/>
          </a:prstGeom>
          <a:noFill/>
          <a:ln/>
        </p:spPr>
        <p:txBody>
          <a:bodyPr wrap="square" lIns="0" tIns="0" rIns="0" bIns="0" rtlCol="0" anchor="ctr"/>
          <a:lstStyle/>
          <a:p>
            <a:pPr indent="0" marL="0">
              <a:buNone/>
            </a:pPr>
            <a:r>
              <a:rPr lang="en-US" sz="1500" b="1" dirty="0">
                <a:solidFill>
                  <a:schemeClr val="bg1"/>
                </a:solidFill>
              </a:rPr>
              <a:t>Proposé pour l'automatisation</a:t>
            </a:r>
            <a:endParaRPr lang="en-US" sz="1500" dirty="0"/>
          </a:p>
        </p:txBody>
      </p:sp>
      <p:sp>
        <p:nvSpPr>
          <p:cNvPr id="11" name="card"/>
          <p:cNvSpPr/>
          <p:nvPr/>
        </p:nvSpPr>
        <p:spPr>
          <a:xfrm>
            <a:off x="4343400" y="2331720"/>
            <a:ext cx="3474720" cy="2743200"/>
          </a:xfrm>
          <a:prstGeom prst="roundRect">
            <a:avLst>
              <a:gd name="adj" fmla="val 3333"/>
            </a:avLst>
          </a:prstGeom>
          <a:solidFill>
            <a:schemeClr val="bg2"/>
          </a:solidFill>
          <a:ln/>
        </p:spPr>
      </p:sp>
      <p:sp>
        <p:nvSpPr>
          <p:cNvPr id="12" name="Text 9"/>
          <p:cNvSpPr txBox="1"/>
          <p:nvPr/>
        </p:nvSpPr>
        <p:spPr>
          <a:xfrm>
            <a:off x="4526280" y="2468880"/>
            <a:ext cx="3108960" cy="2514600"/>
          </a:xfrm>
          <a:prstGeom prst="rect">
            <a:avLst/>
          </a:prstGeom>
          <a:noFill/>
          <a:ln/>
        </p:spPr>
        <p:txBody>
          <a:bodyPr wrap="square" lIns="0" tIns="0" rIns="0" bIns="0" rtlCol="0" anchor="t"/>
          <a:lstStyle/>
          <a:p>
            <a:pPr indent="0" marL="0">
              <a:spcAft>
                <a:spcPts val="1400"/>
              </a:spcAft>
              <a:buNone/>
            </a:pPr>
            <a:r>
              <a:rPr lang="en-US" sz="1400" dirty="0">
                <a:solidFill>
                  <a:schemeClr val="tx1"/>
                </a:solidFill>
              </a:rPr>
              <a:t>Le smoke, rejoué à chaque déploiement : c'est lui qui revient le plus souvent</a:t>
            </a:r>
            <a:endParaRPr lang="en-US" sz="1400" dirty="0"/>
          </a:p>
          <a:p>
            <a:pPr indent="0" marL="0">
              <a:spcAft>
                <a:spcPts val="1400"/>
              </a:spcAft>
              <a:buNone/>
            </a:pPr>
            <a:r>
              <a:rPr lang="en-US" sz="1400" dirty="0">
                <a:solidFill>
                  <a:schemeClr val="tx1"/>
                </a:solidFill>
              </a:rPr>
              <a:t>Quelques contrôles de règles stables, pour détecter tôt</a:t>
            </a:r>
            <a:endParaRPr lang="en-US" sz="1400" dirty="0"/>
          </a:p>
          <a:p>
            <a:pPr indent="0" marL="0">
              <a:spcAft>
                <a:spcPts val="1400"/>
              </a:spcAft>
              <a:buNone/>
            </a:pPr>
            <a:r>
              <a:rPr lang="en-US" sz="1400" dirty="0">
                <a:solidFill>
                  <a:schemeClr val="tx1"/>
                </a:solidFill>
              </a:rPr>
              <a:t>Par l'API quand la règle y vit, par l'écran sinon</a:t>
            </a:r>
            <a:endParaRPr lang="en-US" sz="1400" dirty="0"/>
          </a:p>
        </p:txBody>
      </p:sp>
      <p:pic>
        <p:nvPicPr>
          <p:cNvPr id="13" name="arrow" descr="preencoded.png">    </p:cNvPr>
          <p:cNvPicPr>
            <a:picLocks noChangeAspect="1"/>
          </p:cNvPicPr>
          <p:nvPr/>
        </p:nvPicPr>
        <p:blipFill>
          <a:blip r:embed="rId2"/>
          <a:stretch>
            <a:fillRect/>
          </a:stretch>
        </p:blipFill>
        <p:spPr>
          <a:xfrm>
            <a:off x="7845552" y="3566160"/>
            <a:ext cx="274320" cy="274320"/>
          </a:xfrm>
          <a:prstGeom prst="rect">
            <a:avLst/>
          </a:prstGeom>
        </p:spPr>
      </p:pic>
      <p:sp>
        <p:nvSpPr>
          <p:cNvPr id="14" name="box"/>
          <p:cNvSpPr/>
          <p:nvPr/>
        </p:nvSpPr>
        <p:spPr>
          <a:xfrm>
            <a:off x="8138160" y="1691640"/>
            <a:ext cx="3474720" cy="548640"/>
          </a:xfrm>
          <a:prstGeom prst="roundRect">
            <a:avLst>
              <a:gd name="adj" fmla="val 10000"/>
            </a:avLst>
          </a:prstGeom>
          <a:solidFill>
            <a:schemeClr val="accent4"/>
          </a:solidFill>
          <a:ln/>
        </p:spPr>
      </p:sp>
      <p:sp>
        <p:nvSpPr>
          <p:cNvPr id="15" name="Text 11"/>
          <p:cNvSpPr txBox="1"/>
          <p:nvPr/>
        </p:nvSpPr>
        <p:spPr>
          <a:xfrm>
            <a:off x="8321040" y="1691640"/>
            <a:ext cx="3108960" cy="548640"/>
          </a:xfrm>
          <a:prstGeom prst="rect">
            <a:avLst/>
          </a:prstGeom>
          <a:noFill/>
          <a:ln/>
        </p:spPr>
        <p:txBody>
          <a:bodyPr wrap="square" lIns="0" tIns="0" rIns="0" bIns="0" rtlCol="0" anchor="ctr"/>
          <a:lstStyle/>
          <a:p>
            <a:pPr indent="0" marL="0">
              <a:buNone/>
            </a:pPr>
            <a:r>
              <a:rPr lang="en-US" sz="1500" b="1" dirty="0">
                <a:solidFill>
                  <a:schemeClr val="bg1"/>
                </a:solidFill>
              </a:rPr>
              <a:t>Laissé hors de la suite</a:t>
            </a:r>
            <a:endParaRPr lang="en-US" sz="1500" dirty="0"/>
          </a:p>
        </p:txBody>
      </p:sp>
      <p:sp>
        <p:nvSpPr>
          <p:cNvPr id="16" name="card"/>
          <p:cNvSpPr/>
          <p:nvPr/>
        </p:nvSpPr>
        <p:spPr>
          <a:xfrm>
            <a:off x="8138160" y="2331720"/>
            <a:ext cx="3474720" cy="2743200"/>
          </a:xfrm>
          <a:prstGeom prst="roundRect">
            <a:avLst>
              <a:gd name="adj" fmla="val 3333"/>
            </a:avLst>
          </a:prstGeom>
          <a:solidFill>
            <a:schemeClr val="bg2"/>
          </a:solidFill>
          <a:ln/>
        </p:spPr>
      </p:sp>
      <p:sp>
        <p:nvSpPr>
          <p:cNvPr id="17" name="Text 13"/>
          <p:cNvSpPr txBox="1"/>
          <p:nvPr/>
        </p:nvSpPr>
        <p:spPr>
          <a:xfrm>
            <a:off x="8321040" y="2468880"/>
            <a:ext cx="3108960" cy="2514600"/>
          </a:xfrm>
          <a:prstGeom prst="rect">
            <a:avLst/>
          </a:prstGeom>
          <a:noFill/>
          <a:ln/>
        </p:spPr>
        <p:txBody>
          <a:bodyPr wrap="square" lIns="0" tIns="0" rIns="0" bIns="0" rtlCol="0" anchor="t"/>
          <a:lstStyle/>
          <a:p>
            <a:pPr indent="0" marL="0">
              <a:spcAft>
                <a:spcPts val="1400"/>
              </a:spcAft>
              <a:buNone/>
            </a:pPr>
            <a:r>
              <a:rPr lang="en-US" sz="1400" dirty="0">
                <a:solidFill>
                  <a:schemeClr val="tx1"/>
                </a:solidFill>
              </a:rPr>
              <a:t>Recette fonctionnelle et acceptation : jugement humain</a:t>
            </a:r>
            <a:endParaRPr lang="en-US" sz="1400" dirty="0"/>
          </a:p>
          <a:p>
            <a:pPr indent="0" marL="0">
              <a:spcAft>
                <a:spcPts val="1400"/>
              </a:spcAft>
              <a:buNone/>
            </a:pPr>
            <a:r>
              <a:rPr lang="en-US" sz="1400" dirty="0">
                <a:solidFill>
                  <a:schemeClr val="tx1"/>
                </a:solidFill>
              </a:rPr>
              <a:t>L'essentiel de la non-régression : trop peu de passes pour être rentable</a:t>
            </a:r>
            <a:endParaRPr lang="en-US" sz="1400" dirty="0"/>
          </a:p>
          <a:p>
            <a:pPr indent="0" marL="0">
              <a:spcAft>
                <a:spcPts val="1400"/>
              </a:spcAft>
              <a:buNone/>
            </a:pPr>
            <a:r>
              <a:rPr lang="en-US" sz="1400" dirty="0">
                <a:solidFill>
                  <a:schemeClr val="tx1"/>
                </a:solidFill>
              </a:rPr>
              <a:t>Reprise IBS et flux : décision de cadrage</a:t>
            </a:r>
            <a:endParaRPr lang="en-US" sz="1400" dirty="0"/>
          </a:p>
          <a:p>
            <a:pPr indent="0" marL="0">
              <a:spcAft>
                <a:spcPts val="1400"/>
              </a:spcAft>
              <a:buNone/>
            </a:pPr>
            <a:r>
              <a:rPr lang="en-US" sz="1400" dirty="0">
                <a:solidFill>
                  <a:schemeClr val="tx1"/>
                </a:solidFill>
              </a:rPr>
              <a:t>Exclu par la stratégie : SSO, SailPoint, technologie OCR</a:t>
            </a:r>
            <a:endParaRPr lang="en-US" sz="1400" dirty="0"/>
          </a:p>
        </p:txBody>
      </p:sp>
      <p:sp>
        <p:nvSpPr>
          <p:cNvPr id="18" name="box"/>
          <p:cNvSpPr/>
          <p:nvPr/>
        </p:nvSpPr>
        <p:spPr>
          <a:xfrm>
            <a:off x="548640" y="5303520"/>
            <a:ext cx="11064240" cy="548640"/>
          </a:xfrm>
          <a:prstGeom prst="roundRect">
            <a:avLst>
              <a:gd name="adj" fmla="val 10000"/>
            </a:avLst>
          </a:prstGeom>
          <a:solidFill>
            <a:schemeClr val="accent5"/>
          </a:solidFill>
          <a:ln/>
        </p:spPr>
      </p:sp>
      <p:sp>
        <p:nvSpPr>
          <p:cNvPr id="19" name="Text 15"/>
          <p:cNvSpPr txBox="1"/>
          <p:nvPr/>
        </p:nvSpPr>
        <p:spPr>
          <a:xfrm>
            <a:off x="731520" y="5303520"/>
            <a:ext cx="10698480" cy="548640"/>
          </a:xfrm>
          <a:prstGeom prst="rect">
            <a:avLst/>
          </a:prstGeom>
          <a:noFill/>
          <a:ln/>
        </p:spPr>
        <p:txBody>
          <a:bodyPr wrap="square" lIns="0" tIns="0" rIns="0" bIns="0" rtlCol="0" anchor="ctr"/>
          <a:lstStyle/>
          <a:p>
            <a:pPr indent="0" marL="0">
              <a:buNone/>
            </a:pPr>
            <a:r>
              <a:rPr lang="en-US" sz="1400" b="1" dirty="0">
                <a:solidFill>
                  <a:srgbClr val="00338D"/>
                </a:solidFill>
              </a:rPr>
              <a:t>Objectif : </a:t>
            </a:r>
            <a:pPr indent="0" marL="0">
              <a:buNone/>
            </a:pPr>
            <a:r>
              <a:rPr lang="en-US" sz="1400" dirty="0">
                <a:solidFill>
                  <a:schemeClr val="tx1"/>
                </a:solidFill>
              </a:rPr>
              <a:t>libérer le temps de la QC pour les nouvelles US et l'exploratoire, pas remplacer la recette.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Une assurance ciblée, à confirmer par le pilote</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Hypothèse : d'ici mars 2027, détecter tôt vaut davantage que les heures manuelles économisées. Le pilote le vérifie.</a:t>
            </a:r>
            <a:endParaRPr lang="en-US" sz="1600" dirty="0"/>
          </a:p>
        </p:txBody>
      </p:sp>
      <p:sp>
        <p:nvSpPr>
          <p:cNvPr id="4" name="card"/>
          <p:cNvSpPr/>
          <p:nvPr/>
        </p:nvSpPr>
        <p:spPr>
          <a:xfrm>
            <a:off x="548640" y="1600200"/>
            <a:ext cx="3474720" cy="2377440"/>
          </a:xfrm>
          <a:prstGeom prst="roundRect">
            <a:avLst>
              <a:gd name="adj" fmla="val 3846"/>
            </a:avLst>
          </a:prstGeom>
          <a:solidFill>
            <a:schemeClr val="bg2"/>
          </a:solidFill>
          <a:ln/>
        </p:spPr>
      </p:sp>
      <p:sp>
        <p:nvSpPr>
          <p:cNvPr id="5" name="Text 3"/>
          <p:cNvSpPr txBox="1"/>
          <p:nvPr/>
        </p:nvSpPr>
        <p:spPr>
          <a:xfrm>
            <a:off x="749808" y="1709928"/>
            <a:ext cx="3108960" cy="365760"/>
          </a:xfrm>
          <a:prstGeom prst="rect">
            <a:avLst/>
          </a:prstGeom>
          <a:noFill/>
          <a:ln/>
        </p:spPr>
        <p:txBody>
          <a:bodyPr wrap="square" lIns="0" tIns="0" rIns="0" bIns="0" rtlCol="0" anchor="t"/>
          <a:lstStyle/>
          <a:p>
            <a:pPr indent="0" marL="0">
              <a:buNone/>
            </a:pPr>
            <a:r>
              <a:rPr lang="en-US" sz="1500" b="1" dirty="0">
                <a:solidFill>
                  <a:schemeClr val="tx2"/>
                </a:solidFill>
              </a:rPr>
              <a:t>Ce que ça coûte</a:t>
            </a:r>
            <a:endParaRPr lang="en-US" sz="1500" dirty="0"/>
          </a:p>
        </p:txBody>
      </p:sp>
      <p:sp>
        <p:nvSpPr>
          <p:cNvPr id="6" name="box"/>
          <p:cNvSpPr/>
          <p:nvPr/>
        </p:nvSpPr>
        <p:spPr>
          <a:xfrm>
            <a:off x="749808" y="2121408"/>
            <a:ext cx="1600200" cy="274320"/>
          </a:xfrm>
          <a:prstGeom prst="roundRect">
            <a:avLst>
              <a:gd name="adj" fmla="val 20000"/>
            </a:avLst>
          </a:prstGeom>
          <a:solidFill>
            <a:srgbClr val="F6DADA"/>
          </a:solidFill>
          <a:ln/>
        </p:spPr>
      </p:sp>
      <p:sp>
        <p:nvSpPr>
          <p:cNvPr id="7" name="Text 5"/>
          <p:cNvSpPr txBox="1"/>
          <p:nvPr/>
        </p:nvSpPr>
        <p:spPr>
          <a:xfrm>
            <a:off x="749808" y="2121408"/>
            <a:ext cx="1600200" cy="274320"/>
          </a:xfrm>
          <a:prstGeom prst="rect">
            <a:avLst/>
          </a:prstGeom>
          <a:noFill/>
          <a:ln/>
        </p:spPr>
        <p:txBody>
          <a:bodyPr wrap="square" lIns="0" tIns="0" rIns="0" bIns="0" rtlCol="0" anchor="ctr"/>
          <a:lstStyle/>
          <a:p>
            <a:pPr algn="ctr" indent="0" marL="0">
              <a:buNone/>
            </a:pPr>
            <a:r>
              <a:rPr lang="en-US" sz="1100" b="1" dirty="0">
                <a:solidFill>
                  <a:srgbClr val="B23B3B"/>
                </a:solidFill>
              </a:rPr>
              <a:t>Plus que prévu</a:t>
            </a:r>
            <a:endParaRPr lang="en-US" sz="1100" dirty="0"/>
          </a:p>
        </p:txBody>
      </p:sp>
      <p:sp>
        <p:nvSpPr>
          <p:cNvPr id="8" name="Text 6"/>
          <p:cNvSpPr txBox="1"/>
          <p:nvPr/>
        </p:nvSpPr>
        <p:spPr>
          <a:xfrm>
            <a:off x="749808" y="2514600"/>
            <a:ext cx="3154680"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Écrire le test</a:t>
            </a:r>
            <a:endParaRPr lang="en-US" sz="1150" dirty="0"/>
          </a:p>
          <a:p>
            <a:pPr marL="342900" indent="-342900">
              <a:spcAft>
                <a:spcPts val="400"/>
              </a:spcAft>
              <a:buSzPct val="100000"/>
              <a:buChar char="•"/>
            </a:pPr>
            <a:r>
              <a:rPr lang="en-US" sz="1150" dirty="0">
                <a:solidFill>
                  <a:schemeClr val="tx1"/>
                </a:solidFill>
              </a:rPr>
              <a:t>Le maintenir à chaque changement d'US</a:t>
            </a:r>
            <a:endParaRPr lang="en-US" sz="1150" dirty="0"/>
          </a:p>
          <a:p>
            <a:pPr marL="342900" indent="-342900">
              <a:spcAft>
                <a:spcPts val="400"/>
              </a:spcAft>
              <a:buSzPct val="100000"/>
              <a:buChar char="•"/>
            </a:pPr>
            <a:r>
              <a:rPr lang="en-US" sz="1150" dirty="0">
                <a:solidFill>
                  <a:schemeClr val="tx1"/>
                </a:solidFill>
              </a:rPr>
              <a:t>Accès ITG, comptes par rôle, données fiables</a:t>
            </a:r>
            <a:endParaRPr lang="en-US" sz="1150" dirty="0"/>
          </a:p>
          <a:p>
            <a:pPr marL="342900" indent="-342900">
              <a:spcAft>
                <a:spcPts val="400"/>
              </a:spcAft>
              <a:buSzPct val="100000"/>
              <a:buChar char="•"/>
            </a:pPr>
            <a:r>
              <a:rPr lang="en-US" sz="1150" dirty="0">
                <a:solidFill>
                  <a:schemeClr val="tx1"/>
                </a:solidFill>
              </a:rPr>
              <a:t>Un propriétaire après le 31/12, sinon la suite meurt</a:t>
            </a:r>
            <a:endParaRPr lang="en-US" sz="1150" dirty="0"/>
          </a:p>
        </p:txBody>
      </p:sp>
      <p:sp>
        <p:nvSpPr>
          <p:cNvPr id="9" name="card"/>
          <p:cNvSpPr/>
          <p:nvPr/>
        </p:nvSpPr>
        <p:spPr>
          <a:xfrm>
            <a:off x="4343400" y="1600200"/>
            <a:ext cx="3474720" cy="2377440"/>
          </a:xfrm>
          <a:prstGeom prst="roundRect">
            <a:avLst>
              <a:gd name="adj" fmla="val 3846"/>
            </a:avLst>
          </a:prstGeom>
          <a:solidFill>
            <a:schemeClr val="bg2"/>
          </a:solidFill>
          <a:ln/>
        </p:spPr>
      </p:sp>
      <p:sp>
        <p:nvSpPr>
          <p:cNvPr id="10" name="Text 8"/>
          <p:cNvSpPr txBox="1"/>
          <p:nvPr/>
        </p:nvSpPr>
        <p:spPr>
          <a:xfrm>
            <a:off x="4544568" y="1709928"/>
            <a:ext cx="3108960" cy="365760"/>
          </a:xfrm>
          <a:prstGeom prst="rect">
            <a:avLst/>
          </a:prstGeom>
          <a:noFill/>
          <a:ln/>
        </p:spPr>
        <p:txBody>
          <a:bodyPr wrap="square" lIns="0" tIns="0" rIns="0" bIns="0" rtlCol="0" anchor="t"/>
          <a:lstStyle/>
          <a:p>
            <a:pPr indent="0" marL="0">
              <a:buNone/>
            </a:pPr>
            <a:r>
              <a:rPr lang="en-US" sz="1500" b="1" dirty="0">
                <a:solidFill>
                  <a:schemeClr val="tx2"/>
                </a:solidFill>
              </a:rPr>
              <a:t>Ce que ça fait gagner en temps</a:t>
            </a:r>
            <a:endParaRPr lang="en-US" sz="1500" dirty="0"/>
          </a:p>
        </p:txBody>
      </p:sp>
      <p:sp>
        <p:nvSpPr>
          <p:cNvPr id="11" name="box"/>
          <p:cNvSpPr/>
          <p:nvPr/>
        </p:nvSpPr>
        <p:spPr>
          <a:xfrm>
            <a:off x="4544568" y="2121408"/>
            <a:ext cx="1600200" cy="274320"/>
          </a:xfrm>
          <a:prstGeom prst="roundRect">
            <a:avLst>
              <a:gd name="adj" fmla="val 20000"/>
            </a:avLst>
          </a:prstGeom>
          <a:solidFill>
            <a:srgbClr val="E6E9ED"/>
          </a:solidFill>
          <a:ln/>
        </p:spPr>
      </p:sp>
      <p:sp>
        <p:nvSpPr>
          <p:cNvPr id="12" name="Text 10"/>
          <p:cNvSpPr txBox="1"/>
          <p:nvPr/>
        </p:nvSpPr>
        <p:spPr>
          <a:xfrm>
            <a:off x="4544568" y="2121408"/>
            <a:ext cx="1600200" cy="274320"/>
          </a:xfrm>
          <a:prstGeom prst="rect">
            <a:avLst/>
          </a:prstGeom>
          <a:noFill/>
          <a:ln/>
        </p:spPr>
        <p:txBody>
          <a:bodyPr wrap="square" lIns="0" tIns="0" rIns="0" bIns="0" rtlCol="0" anchor="ctr"/>
          <a:lstStyle/>
          <a:p>
            <a:pPr algn="ctr" indent="0" marL="0">
              <a:buNone/>
            </a:pPr>
            <a:r>
              <a:rPr lang="en-US" sz="1100" b="1" dirty="0">
                <a:solidFill>
                  <a:srgbClr val="5F6B7A"/>
                </a:solidFill>
              </a:rPr>
              <a:t>À mesurer</a:t>
            </a:r>
            <a:endParaRPr lang="en-US" sz="1100" dirty="0"/>
          </a:p>
        </p:txBody>
      </p:sp>
      <p:sp>
        <p:nvSpPr>
          <p:cNvPr id="13" name="Text 11"/>
          <p:cNvSpPr txBox="1"/>
          <p:nvPr/>
        </p:nvSpPr>
        <p:spPr>
          <a:xfrm>
            <a:off x="4544568" y="2514600"/>
            <a:ext cx="3154680"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Seules comptent les passes manuelles réellement évitées : le smoke, quelques non-régressions</a:t>
            </a:r>
            <a:endParaRPr lang="en-US" sz="1150" dirty="0"/>
          </a:p>
          <a:p>
            <a:pPr marL="342900" indent="-342900">
              <a:spcAft>
                <a:spcPts val="400"/>
              </a:spcAft>
              <a:buSzPct val="100000"/>
              <a:buChar char="•"/>
            </a:pPr>
            <a:r>
              <a:rPr lang="en-US" sz="1150" dirty="0">
                <a:solidFill>
                  <a:schemeClr val="tx1"/>
                </a:solidFill>
              </a:rPr>
              <a:t>Les exécutions de nuit ne remplacent personne</a:t>
            </a:r>
            <a:endParaRPr lang="en-US" sz="1150" dirty="0"/>
          </a:p>
          <a:p>
            <a:pPr marL="342900" indent="-342900">
              <a:spcAft>
                <a:spcPts val="400"/>
              </a:spcAft>
              <a:buSzPct val="100000"/>
              <a:buChar char="•"/>
            </a:pPr>
            <a:r>
              <a:rPr lang="en-US" sz="1150" dirty="0">
                <a:solidFill>
                  <a:schemeClr val="tx1"/>
                </a:solidFill>
              </a:rPr>
              <a:t>Le pilote mesure déploiements, durée des contrôles, maintenance</a:t>
            </a:r>
            <a:endParaRPr lang="en-US" sz="1150" dirty="0"/>
          </a:p>
        </p:txBody>
      </p:sp>
      <p:sp>
        <p:nvSpPr>
          <p:cNvPr id="14" name="card"/>
          <p:cNvSpPr/>
          <p:nvPr/>
        </p:nvSpPr>
        <p:spPr>
          <a:xfrm>
            <a:off x="8138160" y="1600200"/>
            <a:ext cx="3474720" cy="2377440"/>
          </a:xfrm>
          <a:prstGeom prst="roundRect">
            <a:avLst>
              <a:gd name="adj" fmla="val 3846"/>
            </a:avLst>
          </a:prstGeom>
          <a:solidFill>
            <a:schemeClr val="tx2"/>
          </a:solidFill>
          <a:ln/>
        </p:spPr>
      </p:sp>
      <p:sp>
        <p:nvSpPr>
          <p:cNvPr id="15" name="Text 13"/>
          <p:cNvSpPr txBox="1"/>
          <p:nvPr/>
        </p:nvSpPr>
        <p:spPr>
          <a:xfrm>
            <a:off x="8339328" y="1709928"/>
            <a:ext cx="3108960" cy="365760"/>
          </a:xfrm>
          <a:prstGeom prst="rect">
            <a:avLst/>
          </a:prstGeom>
          <a:noFill/>
          <a:ln/>
        </p:spPr>
        <p:txBody>
          <a:bodyPr wrap="square" lIns="0" tIns="0" rIns="0" bIns="0" rtlCol="0" anchor="t"/>
          <a:lstStyle/>
          <a:p>
            <a:pPr indent="0" marL="0">
              <a:buNone/>
            </a:pPr>
            <a:r>
              <a:rPr lang="en-US" sz="1500" b="1" dirty="0">
                <a:solidFill>
                  <a:schemeClr val="bg1"/>
                </a:solidFill>
              </a:rPr>
              <a:t>Ce que ça fait gagner en risque</a:t>
            </a:r>
            <a:endParaRPr lang="en-US" sz="1500" dirty="0"/>
          </a:p>
        </p:txBody>
      </p:sp>
      <p:sp>
        <p:nvSpPr>
          <p:cNvPr id="16" name="box"/>
          <p:cNvSpPr/>
          <p:nvPr/>
        </p:nvSpPr>
        <p:spPr>
          <a:xfrm>
            <a:off x="8339328" y="2121408"/>
            <a:ext cx="1600200" cy="274320"/>
          </a:xfrm>
          <a:prstGeom prst="roundRect">
            <a:avLst>
              <a:gd name="adj" fmla="val 20000"/>
            </a:avLst>
          </a:prstGeom>
          <a:solidFill>
            <a:srgbClr val="DCEFE2"/>
          </a:solidFill>
          <a:ln/>
        </p:spPr>
      </p:sp>
      <p:sp>
        <p:nvSpPr>
          <p:cNvPr id="17" name="Text 15"/>
          <p:cNvSpPr txBox="1"/>
          <p:nvPr/>
        </p:nvSpPr>
        <p:spPr>
          <a:xfrm>
            <a:off x="8339328" y="2121408"/>
            <a:ext cx="1600200" cy="274320"/>
          </a:xfrm>
          <a:prstGeom prst="rect">
            <a:avLst/>
          </a:prstGeom>
          <a:noFill/>
          <a:ln/>
        </p:spPr>
        <p:txBody>
          <a:bodyPr wrap="square" lIns="0" tIns="0" rIns="0" bIns="0" rtlCol="0" anchor="ctr"/>
          <a:lstStyle/>
          <a:p>
            <a:pPr algn="ctr" indent="0" marL="0">
              <a:buNone/>
            </a:pPr>
            <a:r>
              <a:rPr lang="en-US" sz="1100" b="1" dirty="0">
                <a:solidFill>
                  <a:srgbClr val="2E7D4F"/>
                </a:solidFill>
              </a:rPr>
              <a:t>Le vrai bénéfice</a:t>
            </a:r>
            <a:endParaRPr lang="en-US" sz="1100" dirty="0"/>
          </a:p>
        </p:txBody>
      </p:sp>
      <p:sp>
        <p:nvSpPr>
          <p:cNvPr id="18" name="Text 16"/>
          <p:cNvSpPr txBox="1"/>
          <p:nvPr/>
        </p:nvSpPr>
        <p:spPr>
          <a:xfrm>
            <a:off x="8339328" y="2514600"/>
            <a:ext cx="3154680"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bg1"/>
                </a:solidFill>
              </a:rPr>
              <a:t>Une régression vue le lendemain, pas en fin de sprint ni en recette métier</a:t>
            </a:r>
            <a:endParaRPr lang="en-US" sz="1150" dirty="0"/>
          </a:p>
          <a:p>
            <a:pPr marL="342900" indent="-342900">
              <a:spcAft>
                <a:spcPts val="400"/>
              </a:spcAft>
              <a:buSzPct val="100000"/>
              <a:buChar char="•"/>
            </a:pPr>
            <a:r>
              <a:rPr lang="en-US" sz="1150" dirty="0">
                <a:solidFill>
                  <a:schemeClr val="bg1"/>
                </a:solidFill>
              </a:rPr>
              <a:t>Seulement sur une règle stable et coûteuse à rater</a:t>
            </a:r>
            <a:endParaRPr lang="en-US" sz="1150" dirty="0"/>
          </a:p>
        </p:txBody>
      </p:sp>
      <p:sp>
        <p:nvSpPr>
          <p:cNvPr id="19" name="Text 17"/>
          <p:cNvSpPr txBox="1"/>
          <p:nvPr/>
        </p:nvSpPr>
        <p:spPr>
          <a:xfrm>
            <a:off x="548640" y="4114800"/>
            <a:ext cx="7315200" cy="292608"/>
          </a:xfrm>
          <a:prstGeom prst="rect">
            <a:avLst/>
          </a:prstGeom>
          <a:noFill/>
          <a:ln/>
        </p:spPr>
        <p:txBody>
          <a:bodyPr wrap="square" lIns="0" tIns="0" rIns="0" bIns="0" rtlCol="0" anchor="t"/>
          <a:lstStyle/>
          <a:p>
            <a:pPr indent="0" marL="0">
              <a:buNone/>
            </a:pPr>
            <a:r>
              <a:rPr lang="en-US" sz="1300" b="1" dirty="0">
                <a:solidFill>
                  <a:schemeClr val="tx2"/>
                </a:solidFill>
              </a:rPr>
              <a:t>Une régression introduite dans un sprint est vue…</a:t>
            </a:r>
            <a:endParaRPr lang="en-US" sz="1300" dirty="0"/>
          </a:p>
        </p:txBody>
      </p:sp>
      <p:sp>
        <p:nvSpPr>
          <p:cNvPr id="20" name="frise"/>
          <p:cNvSpPr/>
          <p:nvPr/>
        </p:nvSpPr>
        <p:spPr>
          <a:xfrm>
            <a:off x="914400" y="4572000"/>
            <a:ext cx="10332720" cy="0"/>
          </a:xfrm>
          <a:prstGeom prst="line">
            <a:avLst/>
          </a:prstGeom>
          <a:noFill/>
          <a:ln w="19050">
            <a:solidFill>
              <a:srgbClr val="5F6B7A"/>
            </a:solidFill>
            <a:prstDash val="solid"/>
            <a:tailEnd type="triangle"/>
          </a:ln>
        </p:spPr>
      </p:sp>
      <p:sp>
        <p:nvSpPr>
          <p:cNvPr id="21" name="jalon"/>
          <p:cNvSpPr/>
          <p:nvPr/>
        </p:nvSpPr>
        <p:spPr>
          <a:xfrm>
            <a:off x="786384" y="4443984"/>
            <a:ext cx="256032" cy="256032"/>
          </a:xfrm>
          <a:prstGeom prst="ellipse">
            <a:avLst/>
          </a:prstGeom>
          <a:solidFill>
            <a:srgbClr val="2E7D4F"/>
          </a:solidFill>
          <a:ln/>
        </p:spPr>
      </p:sp>
      <p:sp>
        <p:nvSpPr>
          <p:cNvPr id="22" name="Text 20"/>
          <p:cNvSpPr txBox="1"/>
          <p:nvPr/>
        </p:nvSpPr>
        <p:spPr>
          <a:xfrm>
            <a:off x="786384" y="4727448"/>
            <a:ext cx="3108960" cy="457200"/>
          </a:xfrm>
          <a:prstGeom prst="rect">
            <a:avLst/>
          </a:prstGeom>
          <a:noFill/>
          <a:ln/>
        </p:spPr>
        <p:txBody>
          <a:bodyPr wrap="square" lIns="0" tIns="0" rIns="0" bIns="0" rtlCol="0" anchor="t"/>
          <a:lstStyle/>
          <a:p>
            <a:pPr indent="0" marL="0">
              <a:buNone/>
            </a:pPr>
            <a:r>
              <a:rPr lang="en-US" sz="1200" b="1" dirty="0">
                <a:solidFill>
                  <a:srgbClr val="2E7D4F"/>
                </a:solidFill>
              </a:rPr>
              <a:t>le lendemain</a:t>
            </a:r>
            <a:endParaRPr lang="en-US" sz="1200" dirty="0"/>
          </a:p>
          <a:p>
            <a:pPr indent="0" marL="0">
              <a:buNone/>
            </a:pPr>
            <a:r>
              <a:rPr lang="en-US" sz="1200" dirty="0">
                <a:solidFill>
                  <a:srgbClr val="5F6B7A"/>
                </a:solidFill>
              </a:rPr>
              <a:t>suite automatisée</a:t>
            </a:r>
            <a:endParaRPr lang="en-US" sz="1200" dirty="0"/>
          </a:p>
        </p:txBody>
      </p:sp>
      <p:sp>
        <p:nvSpPr>
          <p:cNvPr id="23" name="jalon"/>
          <p:cNvSpPr/>
          <p:nvPr/>
        </p:nvSpPr>
        <p:spPr>
          <a:xfrm>
            <a:off x="4443984" y="4443984"/>
            <a:ext cx="256032" cy="256032"/>
          </a:xfrm>
          <a:prstGeom prst="ellipse">
            <a:avLst/>
          </a:prstGeom>
          <a:solidFill>
            <a:srgbClr val="B7791F"/>
          </a:solidFill>
          <a:ln/>
        </p:spPr>
      </p:sp>
      <p:sp>
        <p:nvSpPr>
          <p:cNvPr id="24" name="Text 22"/>
          <p:cNvSpPr txBox="1"/>
          <p:nvPr/>
        </p:nvSpPr>
        <p:spPr>
          <a:xfrm>
            <a:off x="4443984" y="4727448"/>
            <a:ext cx="3108960" cy="457200"/>
          </a:xfrm>
          <a:prstGeom prst="rect">
            <a:avLst/>
          </a:prstGeom>
          <a:noFill/>
          <a:ln/>
        </p:spPr>
        <p:txBody>
          <a:bodyPr wrap="square" lIns="0" tIns="0" rIns="0" bIns="0" rtlCol="0" anchor="t"/>
          <a:lstStyle/>
          <a:p>
            <a:pPr indent="0" marL="0">
              <a:buNone/>
            </a:pPr>
            <a:r>
              <a:rPr lang="en-US" sz="1200" b="1" dirty="0">
                <a:solidFill>
                  <a:srgbClr val="B7791F"/>
                </a:solidFill>
              </a:rPr>
              <a:t>en fin de sprint</a:t>
            </a:r>
            <a:endParaRPr lang="en-US" sz="1200" dirty="0"/>
          </a:p>
          <a:p>
            <a:pPr indent="0" marL="0">
              <a:buNone/>
            </a:pPr>
            <a:r>
              <a:rPr lang="en-US" sz="1200" dirty="0">
                <a:solidFill>
                  <a:srgbClr val="5F6B7A"/>
                </a:solidFill>
              </a:rPr>
              <a:t>campagne manuelle</a:t>
            </a:r>
            <a:endParaRPr lang="en-US" sz="1200" dirty="0"/>
          </a:p>
        </p:txBody>
      </p:sp>
      <p:sp>
        <p:nvSpPr>
          <p:cNvPr id="25" name="jalon"/>
          <p:cNvSpPr/>
          <p:nvPr/>
        </p:nvSpPr>
        <p:spPr>
          <a:xfrm>
            <a:off x="8101584" y="4443984"/>
            <a:ext cx="256032" cy="256032"/>
          </a:xfrm>
          <a:prstGeom prst="ellipse">
            <a:avLst/>
          </a:prstGeom>
          <a:solidFill>
            <a:srgbClr val="B23B3B"/>
          </a:solidFill>
          <a:ln/>
        </p:spPr>
      </p:sp>
      <p:sp>
        <p:nvSpPr>
          <p:cNvPr id="26" name="Text 24"/>
          <p:cNvSpPr txBox="1"/>
          <p:nvPr/>
        </p:nvSpPr>
        <p:spPr>
          <a:xfrm>
            <a:off x="8101584" y="4727448"/>
            <a:ext cx="3108960" cy="457200"/>
          </a:xfrm>
          <a:prstGeom prst="rect">
            <a:avLst/>
          </a:prstGeom>
          <a:noFill/>
          <a:ln/>
        </p:spPr>
        <p:txBody>
          <a:bodyPr wrap="square" lIns="0" tIns="0" rIns="0" bIns="0" rtlCol="0" anchor="t"/>
          <a:lstStyle/>
          <a:p>
            <a:pPr indent="0" marL="0">
              <a:buNone/>
            </a:pPr>
            <a:r>
              <a:rPr lang="en-US" sz="1200" b="1" dirty="0">
                <a:solidFill>
                  <a:srgbClr val="B23B3B"/>
                </a:solidFill>
              </a:rPr>
              <a:t>en recette métier</a:t>
            </a:r>
            <a:endParaRPr lang="en-US" sz="1200" dirty="0"/>
          </a:p>
          <a:p>
            <a:pPr indent="0" marL="0">
              <a:buNone/>
            </a:pPr>
            <a:r>
              <a:rPr lang="en-US" sz="1200" dirty="0">
                <a:solidFill>
                  <a:srgbClr val="5F6B7A"/>
                </a:solidFill>
              </a:rPr>
              <a:t>test métiers, S6 à S11</a:t>
            </a:r>
            <a:endParaRPr lang="en-US" sz="1200" dirty="0"/>
          </a:p>
        </p:txBody>
      </p:sp>
      <p:sp>
        <p:nvSpPr>
          <p:cNvPr id="27" name="Text 25"/>
          <p:cNvSpPr txBox="1"/>
          <p:nvPr/>
        </p:nvSpPr>
        <p:spPr>
          <a:xfrm>
            <a:off x="786384" y="5193792"/>
            <a:ext cx="10424160" cy="274320"/>
          </a:xfrm>
          <a:prstGeom prst="rect">
            <a:avLst/>
          </a:prstGeom>
          <a:noFill/>
          <a:ln/>
        </p:spPr>
        <p:txBody>
          <a:bodyPr wrap="square" lIns="0" tIns="0" rIns="0" bIns="0" rtlCol="0" anchor="t"/>
          <a:lstStyle/>
          <a:p>
            <a:pPr indent="0" marL="0">
              <a:buNone/>
            </a:pPr>
            <a:r>
              <a:rPr lang="en-US" sz="1150" i="1" dirty="0">
                <a:solidFill>
                  <a:schemeClr val="accent4"/>
                </a:solidFill>
              </a:rPr>
              <a:t>Plus elle est vue tard, plus elle coûte : contexte perdu, correctifs empilés, recette bloquée.</a:t>
            </a:r>
            <a:endParaRPr lang="en-US" sz="1150" dirty="0"/>
          </a:p>
        </p:txBody>
      </p:sp>
      <p:sp>
        <p:nvSpPr>
          <p:cNvPr id="28" name="box"/>
          <p:cNvSpPr/>
          <p:nvPr/>
        </p:nvSpPr>
        <p:spPr>
          <a:xfrm>
            <a:off x="548640" y="5559552"/>
            <a:ext cx="11064240" cy="502920"/>
          </a:xfrm>
          <a:prstGeom prst="roundRect">
            <a:avLst>
              <a:gd name="adj" fmla="val 10909"/>
            </a:avLst>
          </a:prstGeom>
          <a:solidFill>
            <a:schemeClr val="accent5"/>
          </a:solidFill>
          <a:ln/>
        </p:spPr>
      </p:sp>
      <p:sp>
        <p:nvSpPr>
          <p:cNvPr id="29" name="Text 27"/>
          <p:cNvSpPr txBox="1"/>
          <p:nvPr/>
        </p:nvSpPr>
        <p:spPr>
          <a:xfrm>
            <a:off x="731520" y="5559552"/>
            <a:ext cx="10698480" cy="502920"/>
          </a:xfrm>
          <a:prstGeom prst="rect">
            <a:avLst/>
          </a:prstGeom>
          <a:noFill/>
          <a:ln/>
        </p:spPr>
        <p:txBody>
          <a:bodyPr wrap="square" lIns="0" tIns="0" rIns="0" bIns="0" rtlCol="0" anchor="ctr"/>
          <a:lstStyle/>
          <a:p>
            <a:pPr indent="0" marL="0">
              <a:buNone/>
            </a:pPr>
            <a:r>
              <a:rPr lang="en-US" sz="1350" b="1" dirty="0">
                <a:solidFill>
                  <a:srgbClr val="00338D"/>
                </a:solidFill>
              </a:rPr>
              <a:t>Décision : </a:t>
            </a:r>
            <a:pPr indent="0" marL="0">
              <a:buNone/>
            </a:pPr>
            <a:r>
              <a:rPr lang="en-US" sz="1350" dirty="0">
                <a:solidFill>
                  <a:schemeClr val="tx1"/>
                </a:solidFill>
              </a:rPr>
              <a:t>peu de scénarios, uniquement sur des règles stables. Un pilote mesure les vrais coûts avant d'aller plus loin.</a:t>
            </a:r>
            <a:endParaRPr lang="en-US" sz="13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Une suite de 5 à 10 scénarios, choisis par le risque</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Ordre de grandeur, ajusté selon le POC, les risques et ce qu'un propriétaire peut maintenir après le 31/12.</a:t>
            </a:r>
            <a:endParaRPr lang="en-US" sz="1600" dirty="0"/>
          </a:p>
        </p:txBody>
      </p:sp>
      <p:sp>
        <p:nvSpPr>
          <p:cNvPr id="4" name="card"/>
          <p:cNvSpPr/>
          <p:nvPr/>
        </p:nvSpPr>
        <p:spPr>
          <a:xfrm>
            <a:off x="548640" y="1645920"/>
            <a:ext cx="5257800" cy="3246120"/>
          </a:xfrm>
          <a:prstGeom prst="roundRect">
            <a:avLst>
              <a:gd name="adj" fmla="val 2817"/>
            </a:avLst>
          </a:prstGeom>
          <a:solidFill>
            <a:schemeClr val="tx2"/>
          </a:solidFill>
          <a:ln/>
        </p:spPr>
      </p:sp>
      <p:sp>
        <p:nvSpPr>
          <p:cNvPr id="5" name="Text 3"/>
          <p:cNvSpPr txBox="1"/>
          <p:nvPr/>
        </p:nvSpPr>
        <p:spPr>
          <a:xfrm>
            <a:off x="777240" y="1755648"/>
            <a:ext cx="4846320" cy="329184"/>
          </a:xfrm>
          <a:prstGeom prst="rect">
            <a:avLst/>
          </a:prstGeom>
          <a:noFill/>
          <a:ln/>
        </p:spPr>
        <p:txBody>
          <a:bodyPr wrap="square" lIns="0" tIns="0" rIns="0" bIns="0" rtlCol="0" anchor="t"/>
          <a:lstStyle/>
          <a:p>
            <a:pPr indent="0" marL="0">
              <a:buNone/>
            </a:pPr>
            <a:r>
              <a:rPr lang="en-US" sz="1500" b="1" dirty="0">
                <a:solidFill>
                  <a:schemeClr val="bg1"/>
                </a:solidFill>
              </a:rPr>
              <a:t>Où chercher : le périmètre de la stratégie</a:t>
            </a:r>
            <a:endParaRPr lang="en-US" sz="1500" dirty="0"/>
          </a:p>
        </p:txBody>
      </p:sp>
      <p:sp>
        <p:nvSpPr>
          <p:cNvPr id="6" name="box"/>
          <p:cNvSpPr/>
          <p:nvPr/>
        </p:nvSpPr>
        <p:spPr>
          <a:xfrm>
            <a:off x="777240" y="2240280"/>
            <a:ext cx="2249424" cy="329184"/>
          </a:xfrm>
          <a:prstGeom prst="roundRect">
            <a:avLst>
              <a:gd name="adj" fmla="val 16667"/>
            </a:avLst>
          </a:prstGeom>
          <a:solidFill>
            <a:schemeClr val="bg1"/>
          </a:solidFill>
          <a:ln/>
        </p:spPr>
      </p:sp>
      <p:sp>
        <p:nvSpPr>
          <p:cNvPr id="7" name="Text 5"/>
          <p:cNvSpPr txBox="1"/>
          <p:nvPr/>
        </p:nvSpPr>
        <p:spPr>
          <a:xfrm>
            <a:off x="777240" y="2240280"/>
            <a:ext cx="2249424" cy="329184"/>
          </a:xfrm>
          <a:prstGeom prst="rect">
            <a:avLst/>
          </a:prstGeom>
          <a:noFill/>
          <a:ln/>
        </p:spPr>
        <p:txBody>
          <a:bodyPr wrap="square" lIns="0" tIns="0" rIns="0" bIns="0" rtlCol="0" anchor="ctr"/>
          <a:lstStyle/>
          <a:p>
            <a:pPr algn="ctr" indent="0" marL="0">
              <a:buNone/>
            </a:pPr>
            <a:r>
              <a:rPr lang="en-US" sz="1150" b="1" dirty="0">
                <a:solidFill>
                  <a:schemeClr val="tx2"/>
                </a:solidFill>
              </a:rPr>
              <a:t>Formulaires par type de mandat</a:t>
            </a:r>
            <a:endParaRPr lang="en-US" sz="1150" dirty="0"/>
          </a:p>
        </p:txBody>
      </p:sp>
      <p:sp>
        <p:nvSpPr>
          <p:cNvPr id="8" name="box"/>
          <p:cNvSpPr/>
          <p:nvPr/>
        </p:nvSpPr>
        <p:spPr>
          <a:xfrm>
            <a:off x="3163824" y="2240280"/>
            <a:ext cx="1854403" cy="329184"/>
          </a:xfrm>
          <a:prstGeom prst="roundRect">
            <a:avLst>
              <a:gd name="adj" fmla="val 16667"/>
            </a:avLst>
          </a:prstGeom>
          <a:solidFill>
            <a:schemeClr val="bg1"/>
          </a:solidFill>
          <a:ln/>
        </p:spPr>
      </p:sp>
      <p:sp>
        <p:nvSpPr>
          <p:cNvPr id="9" name="Text 7"/>
          <p:cNvSpPr txBox="1"/>
          <p:nvPr/>
        </p:nvSpPr>
        <p:spPr>
          <a:xfrm>
            <a:off x="3163824" y="2240280"/>
            <a:ext cx="1854403" cy="329184"/>
          </a:xfrm>
          <a:prstGeom prst="rect">
            <a:avLst/>
          </a:prstGeom>
          <a:noFill/>
          <a:ln/>
        </p:spPr>
        <p:txBody>
          <a:bodyPr wrap="square" lIns="0" tIns="0" rIns="0" bIns="0" rtlCol="0" anchor="ctr"/>
          <a:lstStyle/>
          <a:p>
            <a:pPr algn="ctr" indent="0" marL="0">
              <a:buNone/>
            </a:pPr>
            <a:r>
              <a:rPr lang="en-US" sz="1150" b="1" dirty="0">
                <a:solidFill>
                  <a:schemeClr val="tx2"/>
                </a:solidFill>
              </a:rPr>
              <a:t>Enchaînement des statuts</a:t>
            </a:r>
            <a:endParaRPr lang="en-US" sz="1150" dirty="0"/>
          </a:p>
        </p:txBody>
      </p:sp>
      <p:sp>
        <p:nvSpPr>
          <p:cNvPr id="10" name="box"/>
          <p:cNvSpPr/>
          <p:nvPr/>
        </p:nvSpPr>
        <p:spPr>
          <a:xfrm>
            <a:off x="777240" y="2697480"/>
            <a:ext cx="1261872" cy="329184"/>
          </a:xfrm>
          <a:prstGeom prst="roundRect">
            <a:avLst>
              <a:gd name="adj" fmla="val 16667"/>
            </a:avLst>
          </a:prstGeom>
          <a:solidFill>
            <a:schemeClr val="bg1"/>
          </a:solidFill>
          <a:ln/>
        </p:spPr>
      </p:sp>
      <p:sp>
        <p:nvSpPr>
          <p:cNvPr id="11" name="Text 9"/>
          <p:cNvSpPr txBox="1"/>
          <p:nvPr/>
        </p:nvSpPr>
        <p:spPr>
          <a:xfrm>
            <a:off x="777240" y="2697480"/>
            <a:ext cx="1261872" cy="329184"/>
          </a:xfrm>
          <a:prstGeom prst="rect">
            <a:avLst/>
          </a:prstGeom>
          <a:noFill/>
          <a:ln/>
        </p:spPr>
        <p:txBody>
          <a:bodyPr wrap="square" lIns="0" tIns="0" rIns="0" bIns="0" rtlCol="0" anchor="ctr"/>
          <a:lstStyle/>
          <a:p>
            <a:pPr algn="ctr" indent="0" marL="0">
              <a:buNone/>
            </a:pPr>
            <a:r>
              <a:rPr lang="en-US" sz="1150" b="1" dirty="0">
                <a:solidFill>
                  <a:schemeClr val="tx2"/>
                </a:solidFill>
              </a:rPr>
              <a:t>Droits par rôle</a:t>
            </a:r>
            <a:endParaRPr lang="en-US" sz="1150" dirty="0"/>
          </a:p>
        </p:txBody>
      </p:sp>
      <p:sp>
        <p:nvSpPr>
          <p:cNvPr id="12" name="box"/>
          <p:cNvSpPr/>
          <p:nvPr/>
        </p:nvSpPr>
        <p:spPr>
          <a:xfrm>
            <a:off x="2176272" y="2697480"/>
            <a:ext cx="1327709" cy="329184"/>
          </a:xfrm>
          <a:prstGeom prst="roundRect">
            <a:avLst>
              <a:gd name="adj" fmla="val 16667"/>
            </a:avLst>
          </a:prstGeom>
          <a:solidFill>
            <a:schemeClr val="bg1"/>
          </a:solidFill>
          <a:ln/>
        </p:spPr>
      </p:sp>
      <p:sp>
        <p:nvSpPr>
          <p:cNvPr id="13" name="Text 11"/>
          <p:cNvSpPr txBox="1"/>
          <p:nvPr/>
        </p:nvSpPr>
        <p:spPr>
          <a:xfrm>
            <a:off x="2176272" y="2697480"/>
            <a:ext cx="1327709" cy="329184"/>
          </a:xfrm>
          <a:prstGeom prst="rect">
            <a:avLst/>
          </a:prstGeom>
          <a:noFill/>
          <a:ln/>
        </p:spPr>
        <p:txBody>
          <a:bodyPr wrap="square" lIns="0" tIns="0" rIns="0" bIns="0" rtlCol="0" anchor="ctr"/>
          <a:lstStyle/>
          <a:p>
            <a:pPr algn="ctr" indent="0" marL="0">
              <a:buNone/>
            </a:pPr>
            <a:r>
              <a:rPr lang="en-US" sz="1150" b="1" dirty="0">
                <a:solidFill>
                  <a:schemeClr val="tx2"/>
                </a:solidFill>
              </a:rPr>
              <a:t>Import et export</a:t>
            </a:r>
            <a:endParaRPr lang="en-US" sz="1150" dirty="0"/>
          </a:p>
        </p:txBody>
      </p:sp>
      <p:sp>
        <p:nvSpPr>
          <p:cNvPr id="14" name="box"/>
          <p:cNvSpPr/>
          <p:nvPr/>
        </p:nvSpPr>
        <p:spPr>
          <a:xfrm>
            <a:off x="777240" y="3154680"/>
            <a:ext cx="1327709" cy="329184"/>
          </a:xfrm>
          <a:prstGeom prst="roundRect">
            <a:avLst>
              <a:gd name="adj" fmla="val 16667"/>
            </a:avLst>
          </a:prstGeom>
          <a:solidFill>
            <a:schemeClr val="bg1"/>
          </a:solidFill>
          <a:ln/>
        </p:spPr>
      </p:sp>
      <p:sp>
        <p:nvSpPr>
          <p:cNvPr id="15" name="Text 13"/>
          <p:cNvSpPr txBox="1"/>
          <p:nvPr/>
        </p:nvSpPr>
        <p:spPr>
          <a:xfrm>
            <a:off x="777240" y="3154680"/>
            <a:ext cx="1327709" cy="329184"/>
          </a:xfrm>
          <a:prstGeom prst="rect">
            <a:avLst/>
          </a:prstGeom>
          <a:noFill/>
          <a:ln/>
        </p:spPr>
        <p:txBody>
          <a:bodyPr wrap="square" lIns="0" tIns="0" rIns="0" bIns="0" rtlCol="0" anchor="ctr"/>
          <a:lstStyle/>
          <a:p>
            <a:pPr algn="ctr" indent="0" marL="0">
              <a:buNone/>
            </a:pPr>
            <a:r>
              <a:rPr lang="en-US" sz="1150" b="1" dirty="0">
                <a:solidFill>
                  <a:schemeClr val="tx2"/>
                </a:solidFill>
              </a:rPr>
              <a:t>Tableaux de bord</a:t>
            </a:r>
            <a:endParaRPr lang="en-US" sz="1150" dirty="0"/>
          </a:p>
        </p:txBody>
      </p:sp>
      <p:sp>
        <p:nvSpPr>
          <p:cNvPr id="16" name="box"/>
          <p:cNvSpPr/>
          <p:nvPr/>
        </p:nvSpPr>
        <p:spPr>
          <a:xfrm>
            <a:off x="2242109" y="3154680"/>
            <a:ext cx="866851" cy="329184"/>
          </a:xfrm>
          <a:prstGeom prst="roundRect">
            <a:avLst>
              <a:gd name="adj" fmla="val 16667"/>
            </a:avLst>
          </a:prstGeom>
          <a:solidFill>
            <a:schemeClr val="bg1"/>
          </a:solidFill>
          <a:ln/>
        </p:spPr>
      </p:sp>
      <p:sp>
        <p:nvSpPr>
          <p:cNvPr id="17" name="Text 15"/>
          <p:cNvSpPr txBox="1"/>
          <p:nvPr/>
        </p:nvSpPr>
        <p:spPr>
          <a:xfrm>
            <a:off x="2242109" y="3154680"/>
            <a:ext cx="866851" cy="329184"/>
          </a:xfrm>
          <a:prstGeom prst="rect">
            <a:avLst/>
          </a:prstGeom>
          <a:noFill/>
          <a:ln/>
        </p:spPr>
        <p:txBody>
          <a:bodyPr wrap="square" lIns="0" tIns="0" rIns="0" bIns="0" rtlCol="0" anchor="ctr"/>
          <a:lstStyle/>
          <a:p>
            <a:pPr algn="ctr" indent="0" marL="0">
              <a:buNone/>
            </a:pPr>
            <a:r>
              <a:rPr lang="en-US" sz="1150" b="1" dirty="0">
                <a:solidFill>
                  <a:schemeClr val="tx2"/>
                </a:solidFill>
              </a:rPr>
              <a:t>Documents</a:t>
            </a:r>
            <a:endParaRPr lang="en-US" sz="1150" dirty="0"/>
          </a:p>
        </p:txBody>
      </p:sp>
      <p:sp>
        <p:nvSpPr>
          <p:cNvPr id="18" name="Text 16"/>
          <p:cNvSpPr txBox="1"/>
          <p:nvPr/>
        </p:nvSpPr>
        <p:spPr>
          <a:xfrm>
            <a:off x="777240" y="3657600"/>
            <a:ext cx="4846320" cy="594360"/>
          </a:xfrm>
          <a:prstGeom prst="rect">
            <a:avLst/>
          </a:prstGeom>
          <a:noFill/>
          <a:ln/>
        </p:spPr>
        <p:txBody>
          <a:bodyPr wrap="square" lIns="0" tIns="0" rIns="0" bIns="0" rtlCol="0" anchor="t"/>
          <a:lstStyle/>
          <a:p>
            <a:pPr indent="0" marL="0">
              <a:buNone/>
            </a:pPr>
            <a:r>
              <a:rPr lang="en-US" sz="1250" dirty="0">
                <a:solidFill>
                  <a:schemeClr val="bg1"/>
                </a:solidFill>
              </a:rPr>
              <a:t>Toutes à évaluer, aucune retenue d'avance. Il manque encore, US par US : la règle écrite, sa stabilité, les données.</a:t>
            </a:r>
            <a:endParaRPr lang="en-US" sz="1250" dirty="0"/>
          </a:p>
        </p:txBody>
      </p:sp>
      <p:sp>
        <p:nvSpPr>
          <p:cNvPr id="19" name="Text 17"/>
          <p:cNvSpPr txBox="1"/>
          <p:nvPr/>
        </p:nvSpPr>
        <p:spPr>
          <a:xfrm>
            <a:off x="777240" y="4297680"/>
            <a:ext cx="4846320" cy="457200"/>
          </a:xfrm>
          <a:prstGeom prst="rect">
            <a:avLst/>
          </a:prstGeom>
          <a:noFill/>
          <a:ln/>
        </p:spPr>
        <p:txBody>
          <a:bodyPr wrap="square" lIns="0" tIns="0" rIns="0" bIns="0" rtlCol="0" anchor="t"/>
          <a:lstStyle/>
          <a:p>
            <a:pPr indent="0" marL="0">
              <a:buNone/>
            </a:pPr>
            <a:r>
              <a:rPr lang="en-US" sz="1250" i="1" dirty="0">
                <a:solidFill>
                  <a:schemeClr val="accent3"/>
                </a:solidFill>
              </a:rPr>
              <a:t>Hors suite Playwright : migration et flux (décision de cadrage).</a:t>
            </a:r>
            <a:endParaRPr lang="en-US" sz="1250" dirty="0"/>
          </a:p>
        </p:txBody>
      </p:sp>
      <p:sp>
        <p:nvSpPr>
          <p:cNvPr id="20" name="card"/>
          <p:cNvSpPr/>
          <p:nvPr/>
        </p:nvSpPr>
        <p:spPr>
          <a:xfrm>
            <a:off x="548640" y="5029200"/>
            <a:ext cx="5257800" cy="822960"/>
          </a:xfrm>
          <a:prstGeom prst="roundRect">
            <a:avLst>
              <a:gd name="adj" fmla="val 11111"/>
            </a:avLst>
          </a:prstGeom>
          <a:solidFill>
            <a:schemeClr val="accent5"/>
          </a:solidFill>
          <a:ln/>
        </p:spPr>
      </p:sp>
      <p:sp>
        <p:nvSpPr>
          <p:cNvPr id="21" name="Text 19"/>
          <p:cNvSpPr txBox="1"/>
          <p:nvPr/>
        </p:nvSpPr>
        <p:spPr>
          <a:xfrm>
            <a:off x="777240" y="5029200"/>
            <a:ext cx="4846320" cy="822960"/>
          </a:xfrm>
          <a:prstGeom prst="rect">
            <a:avLst/>
          </a:prstGeom>
          <a:noFill/>
          <a:ln/>
        </p:spPr>
        <p:txBody>
          <a:bodyPr wrap="square" lIns="0" tIns="0" rIns="0" bIns="0" rtlCol="0" anchor="ctr"/>
          <a:lstStyle/>
          <a:p>
            <a:pPr indent="0" marL="0">
              <a:buNone/>
            </a:pPr>
            <a:r>
              <a:rPr lang="en-US" sz="1250" b="1" dirty="0">
                <a:solidFill>
                  <a:srgbClr val="00338D"/>
                </a:solidFill>
              </a:rPr>
              <a:t>Reste en manuel : </a:t>
            </a:r>
            <a:pPr indent="0" marL="0">
              <a:buNone/>
            </a:pPr>
            <a:r>
              <a:rPr lang="en-US" sz="1250" dirty="0">
                <a:solidFill>
                  <a:schemeClr val="tx1"/>
                </a:solidFill>
              </a:rPr>
              <a:t>libellés, ergonomie, règles encore mouvantes, tout critère sans résultat attendu fiable. Réévalué si le contexte change.</a:t>
            </a:r>
            <a:endParaRPr lang="en-US" sz="1250" dirty="0"/>
          </a:p>
        </p:txBody>
      </p:sp>
      <p:sp>
        <p:nvSpPr>
          <p:cNvPr id="22" name="Text 20"/>
          <p:cNvSpPr txBox="1"/>
          <p:nvPr/>
        </p:nvSpPr>
        <p:spPr>
          <a:xfrm>
            <a:off x="6035040" y="1645920"/>
            <a:ext cx="5577840" cy="365760"/>
          </a:xfrm>
          <a:prstGeom prst="rect">
            <a:avLst/>
          </a:prstGeom>
          <a:noFill/>
          <a:ln/>
        </p:spPr>
        <p:txBody>
          <a:bodyPr wrap="square" lIns="0" tIns="0" rIns="0" bIns="0" rtlCol="0" anchor="t"/>
          <a:lstStyle/>
          <a:p>
            <a:pPr indent="0" marL="0">
              <a:buNone/>
            </a:pPr>
            <a:r>
              <a:rPr lang="en-US" sz="1700" b="1" dirty="0">
                <a:solidFill>
                  <a:schemeClr val="tx2"/>
                </a:solidFill>
              </a:rPr>
              <a:t>Critères d'entrée proposés, à valider ensemble</a:t>
            </a:r>
            <a:endParaRPr lang="en-US" sz="1700" dirty="0"/>
          </a:p>
        </p:txBody>
      </p:sp>
      <p:sp>
        <p:nvSpPr>
          <p:cNvPr id="23" name="num"/>
          <p:cNvSpPr/>
          <p:nvPr/>
        </p:nvSpPr>
        <p:spPr>
          <a:xfrm>
            <a:off x="6035040" y="2148840"/>
            <a:ext cx="420624" cy="420624"/>
          </a:xfrm>
          <a:prstGeom prst="ellipse">
            <a:avLst/>
          </a:prstGeom>
          <a:solidFill>
            <a:schemeClr val="accent1"/>
          </a:solidFill>
          <a:ln/>
        </p:spPr>
      </p:sp>
      <p:sp>
        <p:nvSpPr>
          <p:cNvPr id="24" name="Text 22"/>
          <p:cNvSpPr txBox="1"/>
          <p:nvPr/>
        </p:nvSpPr>
        <p:spPr>
          <a:xfrm>
            <a:off x="6035040" y="21488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5" name="Text 23"/>
          <p:cNvSpPr txBox="1"/>
          <p:nvPr/>
        </p:nvSpPr>
        <p:spPr>
          <a:xfrm>
            <a:off x="6629400" y="2148840"/>
            <a:ext cx="4983480" cy="420624"/>
          </a:xfrm>
          <a:prstGeom prst="rect">
            <a:avLst/>
          </a:prstGeom>
          <a:noFill/>
          <a:ln/>
        </p:spPr>
        <p:txBody>
          <a:bodyPr wrap="square" lIns="0" tIns="0" rIns="0" bIns="0" rtlCol="0" anchor="ctr"/>
          <a:lstStyle/>
          <a:p>
            <a:pPr indent="0" marL="0">
              <a:buNone/>
            </a:pPr>
            <a:r>
              <a:rPr lang="en-US" sz="1400" dirty="0">
                <a:solidFill>
                  <a:schemeClr val="tx1"/>
                </a:solidFill>
              </a:rPr>
              <a:t>La fonctionnalité est P1 dans la stratégie validée</a:t>
            </a:r>
            <a:endParaRPr lang="en-US" sz="1400" dirty="0"/>
          </a:p>
        </p:txBody>
      </p:sp>
      <p:sp>
        <p:nvSpPr>
          <p:cNvPr id="26" name="num"/>
          <p:cNvSpPr/>
          <p:nvPr/>
        </p:nvSpPr>
        <p:spPr>
          <a:xfrm>
            <a:off x="6035040" y="2715768"/>
            <a:ext cx="420624" cy="420624"/>
          </a:xfrm>
          <a:prstGeom prst="ellipse">
            <a:avLst/>
          </a:prstGeom>
          <a:solidFill>
            <a:schemeClr val="accent1"/>
          </a:solidFill>
          <a:ln/>
        </p:spPr>
      </p:sp>
      <p:sp>
        <p:nvSpPr>
          <p:cNvPr id="27" name="Text 25"/>
          <p:cNvSpPr txBox="1"/>
          <p:nvPr/>
        </p:nvSpPr>
        <p:spPr>
          <a:xfrm>
            <a:off x="6035040" y="271576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8" name="Text 26"/>
          <p:cNvSpPr txBox="1"/>
          <p:nvPr/>
        </p:nvSpPr>
        <p:spPr>
          <a:xfrm>
            <a:off x="6629400" y="2715768"/>
            <a:ext cx="4983480" cy="420624"/>
          </a:xfrm>
          <a:prstGeom prst="rect">
            <a:avLst/>
          </a:prstGeom>
          <a:noFill/>
          <a:ln/>
        </p:spPr>
        <p:txBody>
          <a:bodyPr wrap="square" lIns="0" tIns="0" rIns="0" bIns="0" rtlCol="0" anchor="ctr"/>
          <a:lstStyle/>
          <a:p>
            <a:pPr indent="0" marL="0">
              <a:buNone/>
            </a:pPr>
            <a:r>
              <a:rPr lang="en-US" sz="1400" dirty="0">
                <a:solidFill>
                  <a:schemeClr val="tx1"/>
                </a:solidFill>
              </a:rPr>
              <a:t>La règle est écrite, avec un résultat attendu tranché par le PO</a:t>
            </a:r>
            <a:endParaRPr lang="en-US" sz="1400" dirty="0"/>
          </a:p>
        </p:txBody>
      </p:sp>
      <p:sp>
        <p:nvSpPr>
          <p:cNvPr id="29" name="num"/>
          <p:cNvSpPr/>
          <p:nvPr/>
        </p:nvSpPr>
        <p:spPr>
          <a:xfrm>
            <a:off x="6035040" y="3282696"/>
            <a:ext cx="420624" cy="420624"/>
          </a:xfrm>
          <a:prstGeom prst="ellipse">
            <a:avLst/>
          </a:prstGeom>
          <a:solidFill>
            <a:schemeClr val="accent1"/>
          </a:solidFill>
          <a:ln/>
        </p:spPr>
      </p:sp>
      <p:sp>
        <p:nvSpPr>
          <p:cNvPr id="30" name="Text 28"/>
          <p:cNvSpPr txBox="1"/>
          <p:nvPr/>
        </p:nvSpPr>
        <p:spPr>
          <a:xfrm>
            <a:off x="6035040" y="328269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1" name="Text 29"/>
          <p:cNvSpPr txBox="1"/>
          <p:nvPr/>
        </p:nvSpPr>
        <p:spPr>
          <a:xfrm>
            <a:off x="6629400" y="3282696"/>
            <a:ext cx="4983480" cy="420624"/>
          </a:xfrm>
          <a:prstGeom prst="rect">
            <a:avLst/>
          </a:prstGeom>
          <a:noFill/>
          <a:ln/>
        </p:spPr>
        <p:txBody>
          <a:bodyPr wrap="square" lIns="0" tIns="0" rIns="0" bIns="0" rtlCol="0" anchor="ctr"/>
          <a:lstStyle/>
          <a:p>
            <a:pPr indent="0" marL="0">
              <a:buNone/>
            </a:pPr>
            <a:r>
              <a:rPr lang="en-US" sz="1400" dirty="0">
                <a:solidFill>
                  <a:schemeClr val="tx1"/>
                </a:solidFill>
              </a:rPr>
              <a:t>L'US est stable : la règle ne bouge plus</a:t>
            </a:r>
            <a:endParaRPr lang="en-US" sz="1400" dirty="0"/>
          </a:p>
        </p:txBody>
      </p:sp>
      <p:sp>
        <p:nvSpPr>
          <p:cNvPr id="32" name="num"/>
          <p:cNvSpPr/>
          <p:nvPr/>
        </p:nvSpPr>
        <p:spPr>
          <a:xfrm>
            <a:off x="6035040" y="3849624"/>
            <a:ext cx="420624" cy="420624"/>
          </a:xfrm>
          <a:prstGeom prst="ellipse">
            <a:avLst/>
          </a:prstGeom>
          <a:solidFill>
            <a:schemeClr val="accent1"/>
          </a:solidFill>
          <a:ln/>
        </p:spPr>
      </p:sp>
      <p:sp>
        <p:nvSpPr>
          <p:cNvPr id="33" name="Text 31"/>
          <p:cNvSpPr txBox="1"/>
          <p:nvPr/>
        </p:nvSpPr>
        <p:spPr>
          <a:xfrm>
            <a:off x="6035040" y="384962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4" name="Text 32"/>
          <p:cNvSpPr txBox="1"/>
          <p:nvPr/>
        </p:nvSpPr>
        <p:spPr>
          <a:xfrm>
            <a:off x="6629400" y="3849624"/>
            <a:ext cx="4983480" cy="420624"/>
          </a:xfrm>
          <a:prstGeom prst="rect">
            <a:avLst/>
          </a:prstGeom>
          <a:noFill/>
          <a:ln/>
        </p:spPr>
        <p:txBody>
          <a:bodyPr wrap="square" lIns="0" tIns="0" rIns="0" bIns="0" rtlCol="0" anchor="ctr"/>
          <a:lstStyle/>
          <a:p>
            <a:pPr indent="0" marL="0">
              <a:buNone/>
            </a:pPr>
            <a:r>
              <a:rPr lang="en-US" sz="1400" dirty="0">
                <a:solidFill>
                  <a:schemeClr val="tx1"/>
                </a:solidFill>
              </a:rPr>
              <a:t>Il est rejoué à chaque déploiement, pas seulement en campagne</a:t>
            </a:r>
            <a:endParaRPr lang="en-US" sz="1400" dirty="0"/>
          </a:p>
        </p:txBody>
      </p:sp>
      <p:sp>
        <p:nvSpPr>
          <p:cNvPr id="35" name="num"/>
          <p:cNvSpPr/>
          <p:nvPr/>
        </p:nvSpPr>
        <p:spPr>
          <a:xfrm>
            <a:off x="6035040" y="4416552"/>
            <a:ext cx="420624" cy="420624"/>
          </a:xfrm>
          <a:prstGeom prst="ellipse">
            <a:avLst/>
          </a:prstGeom>
          <a:solidFill>
            <a:schemeClr val="accent1"/>
          </a:solidFill>
          <a:ln/>
        </p:spPr>
      </p:sp>
      <p:sp>
        <p:nvSpPr>
          <p:cNvPr id="36" name="Text 34"/>
          <p:cNvSpPr txBox="1"/>
          <p:nvPr/>
        </p:nvSpPr>
        <p:spPr>
          <a:xfrm>
            <a:off x="6035040" y="441655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7" name="Text 35"/>
          <p:cNvSpPr txBox="1"/>
          <p:nvPr/>
        </p:nvSpPr>
        <p:spPr>
          <a:xfrm>
            <a:off x="6629400" y="4416552"/>
            <a:ext cx="4983480" cy="420624"/>
          </a:xfrm>
          <a:prstGeom prst="rect">
            <a:avLst/>
          </a:prstGeom>
          <a:noFill/>
          <a:ln/>
        </p:spPr>
        <p:txBody>
          <a:bodyPr wrap="square" lIns="0" tIns="0" rIns="0" bIns="0" rtlCol="0" anchor="ctr"/>
          <a:lstStyle/>
          <a:p>
            <a:pPr indent="0" marL="0">
              <a:buNone/>
            </a:pPr>
            <a:r>
              <a:rPr lang="en-US" sz="1400" dirty="0">
                <a:solidFill>
                  <a:schemeClr val="tx1"/>
                </a:solidFill>
              </a:rPr>
              <a:t>La couche est claire : l'API si la règle y vit, l'écran sinon</a:t>
            </a:r>
            <a:endParaRPr lang="en-US" sz="1400" dirty="0"/>
          </a:p>
        </p:txBody>
      </p:sp>
      <p:sp>
        <p:nvSpPr>
          <p:cNvPr id="38" name="box"/>
          <p:cNvSpPr/>
          <p:nvPr/>
        </p:nvSpPr>
        <p:spPr>
          <a:xfrm>
            <a:off x="6035040" y="5029200"/>
            <a:ext cx="5577840" cy="822960"/>
          </a:xfrm>
          <a:prstGeom prst="roundRect">
            <a:avLst>
              <a:gd name="adj" fmla="val 6667"/>
            </a:avLst>
          </a:prstGeom>
          <a:solidFill>
            <a:srgbClr val="E6E9ED"/>
          </a:solidFill>
          <a:ln/>
        </p:spPr>
      </p:sp>
      <p:sp>
        <p:nvSpPr>
          <p:cNvPr id="39" name="Text 37"/>
          <p:cNvSpPr txBox="1"/>
          <p:nvPr/>
        </p:nvSpPr>
        <p:spPr>
          <a:xfrm>
            <a:off x="6217920" y="5029200"/>
            <a:ext cx="5257800" cy="822960"/>
          </a:xfrm>
          <a:prstGeom prst="rect">
            <a:avLst/>
          </a:prstGeom>
          <a:noFill/>
          <a:ln/>
        </p:spPr>
        <p:txBody>
          <a:bodyPr wrap="square" lIns="0" tIns="0" rIns="0" bIns="0" rtlCol="0" anchor="ctr"/>
          <a:lstStyle/>
          <a:p>
            <a:pPr indent="0" marL="0">
              <a:buNone/>
            </a:pPr>
            <a:r>
              <a:rPr lang="en-US" sz="1250" dirty="0">
                <a:solidFill>
                  <a:schemeClr val="tx1"/>
                </a:solidFill>
              </a:rPr>
              <a:t>Chaque candidat passe la revue risque, stabilité, oracle, fréquence et coût. Un test accepté est lié à son cas Test Plans et a un propriétaire.</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Un seul outil, deux couches : Playwright API et UI</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Une pyramide assumée : les règles sous l'écran, l'UI réservée à ce que seul l'écran peut prouver.</a:t>
            </a:r>
            <a:endParaRPr lang="en-US" sz="1600" dirty="0"/>
          </a:p>
        </p:txBody>
      </p:sp>
      <p:sp>
        <p:nvSpPr>
          <p:cNvPr id="4" name="nuage"/>
          <p:cNvSpPr/>
          <p:nvPr/>
        </p:nvSpPr>
        <p:spPr>
          <a:xfrm>
            <a:off x="1234440" y="1572768"/>
            <a:ext cx="2286000" cy="777240"/>
          </a:xfrm>
          <a:prstGeom prst="cloud">
            <a:avLst/>
          </a:prstGeom>
          <a:solidFill>
            <a:srgbClr val="E6E9ED"/>
          </a:solidFill>
          <a:ln/>
        </p:spPr>
      </p:sp>
      <p:sp>
        <p:nvSpPr>
          <p:cNvPr id="5" name="Text 3"/>
          <p:cNvSpPr txBox="1"/>
          <p:nvPr/>
        </p:nvSpPr>
        <p:spPr>
          <a:xfrm>
            <a:off x="1234440" y="1572768"/>
            <a:ext cx="2286000" cy="777240"/>
          </a:xfrm>
          <a:prstGeom prst="rect">
            <a:avLst/>
          </a:prstGeom>
          <a:noFill/>
          <a:ln/>
        </p:spPr>
        <p:txBody>
          <a:bodyPr wrap="square" lIns="0" tIns="0" rIns="0" bIns="0" rtlCol="0" anchor="ctr"/>
          <a:lstStyle/>
          <a:p>
            <a:pPr algn="ctr" indent="0" marL="0">
              <a:buNone/>
            </a:pPr>
            <a:r>
              <a:rPr lang="en-US" sz="1100" b="1" dirty="0">
                <a:solidFill>
                  <a:schemeClr val="accent4"/>
                </a:solidFill>
              </a:rPr>
              <a:t>Manuel, exploratoire</a:t>
            </a:r>
            <a:endParaRPr lang="en-US" sz="1100" dirty="0"/>
          </a:p>
        </p:txBody>
      </p:sp>
      <p:sp>
        <p:nvSpPr>
          <p:cNvPr id="6" name="box"/>
          <p:cNvSpPr/>
          <p:nvPr/>
        </p:nvSpPr>
        <p:spPr>
          <a:xfrm>
            <a:off x="1554480" y="2487168"/>
            <a:ext cx="1737360" cy="777240"/>
          </a:xfrm>
          <a:prstGeom prst="roundRect">
            <a:avLst>
              <a:gd name="adj" fmla="val 7059"/>
            </a:avLst>
          </a:prstGeom>
          <a:solidFill>
            <a:schemeClr val="tx2"/>
          </a:solidFill>
          <a:ln/>
        </p:spPr>
      </p:sp>
      <p:sp>
        <p:nvSpPr>
          <p:cNvPr id="7" name="Text 5"/>
          <p:cNvSpPr txBox="1"/>
          <p:nvPr/>
        </p:nvSpPr>
        <p:spPr>
          <a:xfrm>
            <a:off x="548640" y="2487168"/>
            <a:ext cx="3749040" cy="777240"/>
          </a:xfrm>
          <a:prstGeom prst="rect">
            <a:avLst/>
          </a:prstGeom>
          <a:noFill/>
          <a:ln/>
        </p:spPr>
        <p:txBody>
          <a:bodyPr wrap="square" lIns="0" tIns="0" rIns="0" bIns="0" rtlCol="0" anchor="ctr"/>
          <a:lstStyle/>
          <a:p>
            <a:pPr algn="ctr" indent="0" marL="0">
              <a:buNone/>
            </a:pPr>
            <a:r>
              <a:rPr lang="en-US" sz="1300" b="1" dirty="0">
                <a:solidFill>
                  <a:srgbClr val="FFFFFF"/>
                </a:solidFill>
              </a:rPr>
              <a:t>UI · ciblée</a:t>
            </a:r>
            <a:endParaRPr lang="en-US" sz="1300" dirty="0"/>
          </a:p>
        </p:txBody>
      </p:sp>
      <p:sp>
        <p:nvSpPr>
          <p:cNvPr id="8" name="box"/>
          <p:cNvSpPr/>
          <p:nvPr/>
        </p:nvSpPr>
        <p:spPr>
          <a:xfrm>
            <a:off x="1005840" y="3355848"/>
            <a:ext cx="2834640" cy="777240"/>
          </a:xfrm>
          <a:prstGeom prst="roundRect">
            <a:avLst>
              <a:gd name="adj" fmla="val 7059"/>
            </a:avLst>
          </a:prstGeom>
          <a:solidFill>
            <a:schemeClr val="accent1"/>
          </a:solidFill>
          <a:ln/>
        </p:spPr>
      </p:sp>
      <p:sp>
        <p:nvSpPr>
          <p:cNvPr id="9" name="Text 7"/>
          <p:cNvSpPr txBox="1"/>
          <p:nvPr/>
        </p:nvSpPr>
        <p:spPr>
          <a:xfrm>
            <a:off x="548640" y="3355848"/>
            <a:ext cx="3749040" cy="777240"/>
          </a:xfrm>
          <a:prstGeom prst="rect">
            <a:avLst/>
          </a:prstGeom>
          <a:noFill/>
          <a:ln/>
        </p:spPr>
        <p:txBody>
          <a:bodyPr wrap="square" lIns="0" tIns="0" rIns="0" bIns="0" rtlCol="0" anchor="ctr"/>
          <a:lstStyle/>
          <a:p>
            <a:pPr algn="ctr" indent="0" marL="0">
              <a:buNone/>
            </a:pPr>
            <a:r>
              <a:rPr lang="en-US" sz="1300" b="1" dirty="0">
                <a:solidFill>
                  <a:srgbClr val="FFFFFF"/>
                </a:solidFill>
              </a:rPr>
              <a:t>API · règles, droits, statuts</a:t>
            </a:r>
            <a:endParaRPr lang="en-US" sz="1300" dirty="0"/>
          </a:p>
        </p:txBody>
      </p:sp>
      <p:sp>
        <p:nvSpPr>
          <p:cNvPr id="10" name="box"/>
          <p:cNvSpPr/>
          <p:nvPr/>
        </p:nvSpPr>
        <p:spPr>
          <a:xfrm>
            <a:off x="548640" y="4224528"/>
            <a:ext cx="3749040" cy="777240"/>
          </a:xfrm>
          <a:prstGeom prst="roundRect">
            <a:avLst>
              <a:gd name="adj" fmla="val 7059"/>
            </a:avLst>
          </a:prstGeom>
          <a:solidFill>
            <a:schemeClr val="accent5"/>
          </a:solidFill>
          <a:ln/>
        </p:spPr>
      </p:sp>
      <p:sp>
        <p:nvSpPr>
          <p:cNvPr id="11" name="Text 9"/>
          <p:cNvSpPr txBox="1"/>
          <p:nvPr/>
        </p:nvSpPr>
        <p:spPr>
          <a:xfrm>
            <a:off x="548640" y="4224528"/>
            <a:ext cx="3749040" cy="777240"/>
          </a:xfrm>
          <a:prstGeom prst="rect">
            <a:avLst/>
          </a:prstGeom>
          <a:noFill/>
          <a:ln/>
        </p:spPr>
        <p:txBody>
          <a:bodyPr wrap="square" lIns="0" tIns="0" rIns="0" bIns="0" rtlCol="0" anchor="ctr"/>
          <a:lstStyle/>
          <a:p>
            <a:pPr algn="ctr" indent="0" marL="0">
              <a:buNone/>
            </a:pPr>
            <a:r>
              <a:rPr lang="en-US" sz="1300" b="1" dirty="0">
                <a:solidFill>
                  <a:srgbClr val="00338D"/>
                </a:solidFill>
              </a:rPr>
              <a:t>Unitaires · développeurs</a:t>
            </a:r>
            <a:endParaRPr lang="en-US" sz="1300" dirty="0"/>
          </a:p>
        </p:txBody>
      </p:sp>
      <p:sp>
        <p:nvSpPr>
          <p:cNvPr id="12" name="Text 10"/>
          <p:cNvSpPr txBox="1"/>
          <p:nvPr/>
        </p:nvSpPr>
        <p:spPr>
          <a:xfrm>
            <a:off x="548640" y="5120640"/>
            <a:ext cx="3749040" cy="777240"/>
          </a:xfrm>
          <a:prstGeom prst="rect">
            <a:avLst/>
          </a:prstGeom>
          <a:noFill/>
          <a:ln/>
        </p:spPr>
        <p:txBody>
          <a:bodyPr wrap="square" lIns="0" tIns="0" rIns="0" bIns="0" rtlCol="0" anchor="t"/>
          <a:lstStyle/>
          <a:p>
            <a:pPr indent="0" marL="0">
              <a:buNone/>
            </a:pPr>
            <a:r>
              <a:rPr lang="en-US" sz="1100" b="1" dirty="0">
                <a:solidFill>
                  <a:srgbClr val="00338D"/>
                </a:solidFill>
              </a:rPr>
              <a:t>Forme visée : la pyramide. </a:t>
            </a:r>
            <a:pPr indent="0" marL="0">
              <a:buNone/>
            </a:pPr>
            <a:r>
              <a:rPr lang="en-US" sz="1100" dirty="0">
                <a:solidFill>
                  <a:schemeClr val="tx1"/>
                </a:solidFill>
              </a:rPr>
              <a:t>Le piège : le cornet de glace, où tout passe par l'écran, lent et fragile. La base est aux développeurs ; la QA vérifie en revue que les règles critiques y sont.</a:t>
            </a:r>
            <a:endParaRPr lang="en-US" sz="1100" dirty="0"/>
          </a:p>
        </p:txBody>
      </p:sp>
      <p:graphicFrame>
        <p:nvGraphicFramePr>
          <p:cNvPr id="7" name="table-couches"/>
          <p:cNvGraphicFramePr>
            <a:graphicFrameLocks noGrp="1"/>
          </p:cNvGraphicFramePr>
          <p:nvPr>
            <p:extLst>
              <p:ext uri="{D42A27DB-BD31-4B8C-83A1-F6EECF244321}">
                <p14:modId xmlns:p14="http://schemas.microsoft.com/office/powerpoint/2010/main" val="1579011935"/>
              </p:ext>
            </p:extLst>
          </p:nvPr>
        </p:nvGraphicFramePr>
        <p:xfrm>
          <a:off x="4572000" y="1600200"/>
          <a:ext cx="7040880" cy="914400"/>
        </p:xfrm>
        <a:graphic>
          <a:graphicData uri="http://schemas.openxmlformats.org/drawingml/2006/table">
            <a:tbl>
              <a:tblPr/>
              <a:tblGrid>
                <a:gridCol w="1005840"/>
                <a:gridCol w="2011680"/>
                <a:gridCol w="2011680"/>
                <a:gridCol w="2011680"/>
              </a:tblGrid>
              <a:tr h="384048">
                <a:tc>
                  <a:txBody>
                    <a:bodyPr/>
                    <a:lstStyle/>
                    <a:p>
                      <a:pPr indent="0" marL="0">
                        <a:buNone/>
                      </a:pPr>
                      <a:endParaRPr lang="en-US" sz="1200" dirty="0"/>
                    </a:p>
                  </a:txBody>
                  <a:tcPr marL="73152" marR="73152" marT="45720" marB="4572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rPr>
                        <a:t>API · Playwright request</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100" b="1" dirty="0">
                          <a:solidFill>
                            <a:srgbClr val="FFFFFF"/>
                          </a:solidFill>
                        </a:rPr>
                        <a:t>UI · Playwright</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rgbClr val="FFFFFF"/>
                          </a:solidFill>
                        </a:rPr>
                        <a:t>Manuel et exploratoire</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4"/>
                    </a:solidFill>
                  </a:tcPr>
                </a:tc>
              </a:tr>
              <a:tr h="1051560">
                <a:tc>
                  <a:txBody>
                    <a:bodyPr/>
                    <a:lstStyle/>
                    <a:p>
                      <a:pPr indent="0" marL="0">
                        <a:buNone/>
                      </a:pPr>
                      <a:r>
                        <a:rPr lang="en-US" sz="1100" b="1" dirty="0">
                          <a:solidFill>
                            <a:srgbClr val="00338D"/>
                          </a:solidFill>
                        </a:rPr>
                        <a:t>Quoi</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9E4F2"/>
                    </a:solidFill>
                  </a:tcPr>
                </a:tc>
                <a:tc>
                  <a:txBody>
                    <a:bodyPr/>
                    <a:lstStyle/>
                    <a:p>
                      <a:pPr indent="0" marL="0">
                        <a:buNone/>
                      </a:pPr>
                      <a:r>
                        <a:rPr lang="en-US" sz="1100" dirty="0">
                          <a:solidFill>
                            <a:srgbClr val="1A1A2E"/>
                          </a:solidFill>
                        </a:rPr>
                        <a:t>Les règles, droits et statuts portés par l'API, pour les cas qui passent les critères</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Un parcours de bout en bout, si l'écran est stable</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Ce qui demande un jugement humain, ergonomie, recette métier</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r>
              <a:tr h="914400">
                <a:tc>
                  <a:txBody>
                    <a:bodyPr/>
                    <a:lstStyle/>
                    <a:p>
                      <a:pPr indent="0" marL="0">
                        <a:buNone/>
                      </a:pPr>
                      <a:r>
                        <a:rPr lang="en-US" sz="1100" b="1" dirty="0">
                          <a:solidFill>
                            <a:srgbClr val="00338D"/>
                          </a:solidFill>
                        </a:rPr>
                        <a:t>Pourquoi là</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9E4F2"/>
                    </a:solidFill>
                  </a:tcPr>
                </a:tc>
                <a:tc>
                  <a:txBody>
                    <a:bodyPr/>
                    <a:lstStyle/>
                    <a:p>
                      <a:pPr indent="0" marL="0">
                        <a:buNone/>
                      </a:pPr>
                      <a:r>
                        <a:rPr lang="en-US" sz="1100" dirty="0">
                          <a:solidFill>
                            <a:srgbClr val="1A1A2E"/>
                          </a:solidFill>
                        </a:rPr>
                        <a:t>Rapide, stable, indépendant de l'écran ; la même API crée les données de test</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Seul l'écran prouve que le parcours tient pour l'utilisateur</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Jugement humain, ou fréquence trop faible pour automatiser</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0338D"/>
                          </a:solidFill>
                        </a:rPr>
                        <a:t>Où</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9E4F2"/>
                    </a:solidFill>
                  </a:tcPr>
                </a:tc>
                <a:tc>
                  <a:txBody>
                    <a:bodyPr/>
                    <a:lstStyle/>
                    <a:p>
                      <a:pPr indent="0" marL="0">
                        <a:buNone/>
                      </a:pPr>
                      <a:r>
                        <a:rPr lang="en-US" sz="1100" dirty="0">
                          <a:solidFill>
                            <a:srgbClr val="1A1A2E"/>
                          </a:solidFill>
                        </a:rPr>
                        <a:t>ITG</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ITG ; smoke en lecture seule en PREPROD et PROD</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ITG et PREPROD</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r>
              <a:tr h="502920">
                <a:tc>
                  <a:txBody>
                    <a:bodyPr/>
                    <a:lstStyle/>
                    <a:p>
                      <a:pPr indent="0" marL="0">
                        <a:buNone/>
                      </a:pPr>
                      <a:r>
                        <a:rPr lang="en-US" sz="1100" b="1" dirty="0">
                          <a:solidFill>
                            <a:srgbClr val="00338D"/>
                          </a:solidFill>
                        </a:rPr>
                        <a:t>Bloque si</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9E4F2"/>
                    </a:solidFill>
                  </a:tcPr>
                </a:tc>
                <a:tc>
                  <a:txBody>
                    <a:bodyPr/>
                    <a:lstStyle/>
                    <a:p>
                      <a:pPr indent="0" marL="0">
                        <a:buNone/>
                      </a:pPr>
                      <a:r>
                        <a:rPr lang="en-US" sz="1100" dirty="0">
                          <a:solidFill>
                            <a:srgbClr val="1A1A2E"/>
                          </a:solidFill>
                        </a:rPr>
                        <a:t>Un scénario échoue sur un vrai écart</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Un scénario ou le smoke échoue sur un vrai écart</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Anomalie bloquante ouverte</a:t>
                      </a:r>
                      <a:endParaRPr lang="en-US" sz="1100" dirty="0"/>
                    </a:p>
                  </a:txBody>
                  <a:tcPr marL="73152" marR="73152"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r>
            </a:tbl>
          </a:graphicData>
        </a:graphic>
      </p:graphicFrame>
      <p:sp>
        <p:nvSpPr>
          <p:cNvPr id="14" name="box"/>
          <p:cNvSpPr/>
          <p:nvPr/>
        </p:nvSpPr>
        <p:spPr>
          <a:xfrm>
            <a:off x="4572000" y="5120640"/>
            <a:ext cx="7040880" cy="749808"/>
          </a:xfrm>
          <a:prstGeom prst="roundRect">
            <a:avLst>
              <a:gd name="adj" fmla="val 7317"/>
            </a:avLst>
          </a:prstGeom>
          <a:solidFill>
            <a:srgbClr val="E6E9ED"/>
          </a:solidFill>
          <a:ln/>
        </p:spPr>
      </p:sp>
      <p:sp>
        <p:nvSpPr>
          <p:cNvPr id="15" name="Text 12"/>
          <p:cNvSpPr txBox="1"/>
          <p:nvPr/>
        </p:nvSpPr>
        <p:spPr>
          <a:xfrm>
            <a:off x="4754880" y="5120640"/>
            <a:ext cx="6766560" cy="749808"/>
          </a:xfrm>
          <a:prstGeom prst="rect">
            <a:avLst/>
          </a:prstGeom>
          <a:noFill/>
          <a:ln/>
        </p:spPr>
        <p:txBody>
          <a:bodyPr wrap="square" lIns="0" tIns="0" rIns="0" bIns="0" rtlCol="0" anchor="ctr"/>
          <a:lstStyle/>
          <a:p>
            <a:pPr indent="0" marL="0">
              <a:buNone/>
            </a:pPr>
            <a:r>
              <a:rPr lang="en-US" sz="1200" b="1" dirty="0">
                <a:solidFill>
                  <a:srgbClr val="00338D"/>
                </a:solidFill>
              </a:rPr>
              <a:t>Règle de placement : </a:t>
            </a:r>
            <a:pPr indent="0" marL="0">
              <a:buNone/>
            </a:pPr>
            <a:r>
              <a:rPr lang="en-US" sz="1200" dirty="0">
                <a:solidFill>
                  <a:schemeClr val="tx1"/>
                </a:solidFill>
              </a:rPr>
              <a:t>une règle portée par l'API se teste par l'API ; un test UI ne revérifie jamais un droit ou une règle déjà prouvés par l'API.</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Un framework Playwright TypeScript pensé pour InfoCAC</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Un dépôt, deux couches, une session par rôle, des conventions écrites que les humains et les agents suivent.</a:t>
            </a:r>
            <a:endParaRPr lang="en-US" sz="1600" dirty="0"/>
          </a:p>
        </p:txBody>
      </p:sp>
      <p:sp>
        <p:nvSpPr>
          <p:cNvPr id="4" name="card"/>
          <p:cNvSpPr/>
          <p:nvPr/>
        </p:nvSpPr>
        <p:spPr>
          <a:xfrm>
            <a:off x="548640" y="1645920"/>
            <a:ext cx="5120640" cy="2011680"/>
          </a:xfrm>
          <a:prstGeom prst="roundRect">
            <a:avLst>
              <a:gd name="adj" fmla="val 4545"/>
            </a:avLst>
          </a:prstGeom>
          <a:solidFill>
            <a:schemeClr val="accent6"/>
          </a:solidFill>
          <a:ln/>
        </p:spPr>
      </p:sp>
      <p:sp>
        <p:nvSpPr>
          <p:cNvPr id="5" name="Text 3"/>
          <p:cNvSpPr txBox="1"/>
          <p:nvPr/>
        </p:nvSpPr>
        <p:spPr>
          <a:xfrm>
            <a:off x="777240" y="1737360"/>
            <a:ext cx="4800600" cy="182880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infocac-tests/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tests/api/      règles, droits, statuts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tests/ui/       parcours de bout en bout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api/            client typé depuis l'OpenAPI</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pages/          actions Vue, sans assertion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fixtures/       session par rôle, données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config/env.ts   dev, itg, preprod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conventions/    règles, humains et agents</a:t>
            </a:r>
            <a:endParaRPr lang="en-US" sz="1300" dirty="0"/>
          </a:p>
        </p:txBody>
      </p:sp>
      <p:sp>
        <p:nvSpPr>
          <p:cNvPr id="6" name="card"/>
          <p:cNvSpPr/>
          <p:nvPr/>
        </p:nvSpPr>
        <p:spPr>
          <a:xfrm>
            <a:off x="548640" y="3822192"/>
            <a:ext cx="5120640" cy="1993392"/>
          </a:xfrm>
          <a:prstGeom prst="roundRect">
            <a:avLst>
              <a:gd name="adj" fmla="val 4587"/>
            </a:avLst>
          </a:prstGeom>
          <a:solidFill>
            <a:schemeClr val="tx2"/>
          </a:solidFill>
          <a:ln/>
        </p:spPr>
      </p:sp>
      <p:sp>
        <p:nvSpPr>
          <p:cNvPr id="7" name="Text 5"/>
          <p:cNvSpPr txBox="1"/>
          <p:nvPr/>
        </p:nvSpPr>
        <p:spPr>
          <a:xfrm>
            <a:off x="685800" y="3895344"/>
            <a:ext cx="4937760" cy="1847088"/>
          </a:xfrm>
          <a:prstGeom prst="rect">
            <a:avLst/>
          </a:prstGeom>
          <a:noFill/>
          <a:ln/>
        </p:spPr>
        <p:txBody>
          <a:bodyPr wrap="square" lIns="0" tIns="0" rIns="0" bIns="0" rtlCol="0" anchor="ctr"/>
          <a:lstStyle/>
          <a:p>
            <a:pPr indent="0" marL="0">
              <a:buNone/>
            </a:pPr>
            <a:r>
              <a:rPr lang="en-US" sz="1000" dirty="0">
                <a:solidFill>
                  <a:schemeClr val="bg1"/>
                </a:solidFill>
                <a:latin typeface="Courier New" pitchFamily="34" charset="0"/>
                <a:ea typeface="Courier New" pitchFamily="34" charset="-122"/>
                <a:cs typeface="Courier New" pitchFamily="34" charset="-120"/>
              </a:rPr>
              <a:t>// Exemple fictif : la règle réelle vient de l'US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test.use({ storageState: '.auth/admin.json' });</a:t>
            </a:r>
            <a:endParaRPr lang="en-US" sz="1000" dirty="0"/>
          </a:p>
          <a:p>
            <a:pPr indent="0" marL="0">
              <a:buNone/>
            </a:pP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test('un Admin valide un mandat qualifié', async ({ api }) =&gt;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const mandat = await api.creerMandat(MANDAT_QA); // fixture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const reponse = await api.valider(mandat.id);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expect(reponse.status()).toBe(200);</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await expect.poll(() =&gt; api.statut(mandat.id)).toBe('Validé');</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8" name="card"/>
          <p:cNvSpPr/>
          <p:nvPr/>
        </p:nvSpPr>
        <p:spPr>
          <a:xfrm>
            <a:off x="5989320" y="1645920"/>
            <a:ext cx="5623560" cy="960120"/>
          </a:xfrm>
          <a:prstGeom prst="roundRect">
            <a:avLst>
              <a:gd name="adj" fmla="val 9524"/>
            </a:avLst>
          </a:prstGeom>
          <a:solidFill>
            <a:schemeClr val="bg2"/>
          </a:solidFill>
          <a:ln/>
        </p:spPr>
      </p:sp>
      <p:sp>
        <p:nvSpPr>
          <p:cNvPr id="9" name="Text 7"/>
          <p:cNvSpPr txBox="1"/>
          <p:nvPr/>
        </p:nvSpPr>
        <p:spPr>
          <a:xfrm>
            <a:off x="6217920" y="1737360"/>
            <a:ext cx="5212080" cy="292608"/>
          </a:xfrm>
          <a:prstGeom prst="rect">
            <a:avLst/>
          </a:prstGeom>
          <a:noFill/>
          <a:ln/>
        </p:spPr>
        <p:txBody>
          <a:bodyPr wrap="square" lIns="0" tIns="0" rIns="0" bIns="0" rtlCol="0" anchor="t"/>
          <a:lstStyle/>
          <a:p>
            <a:pPr indent="0" marL="0">
              <a:buNone/>
            </a:pPr>
            <a:r>
              <a:rPr lang="en-US" sz="1500" b="1" dirty="0">
                <a:solidFill>
                  <a:schemeClr val="tx2"/>
                </a:solidFill>
              </a:rPr>
              <a:t>Fiabilité</a:t>
            </a:r>
            <a:endParaRPr lang="en-US" sz="1500" dirty="0"/>
          </a:p>
        </p:txBody>
      </p:sp>
      <p:sp>
        <p:nvSpPr>
          <p:cNvPr id="10" name="Text 8"/>
          <p:cNvSpPr txBox="1"/>
          <p:nvPr/>
        </p:nvSpPr>
        <p:spPr>
          <a:xfrm>
            <a:off x="6217920" y="2048256"/>
            <a:ext cx="5257800" cy="530352"/>
          </a:xfrm>
          <a:prstGeom prst="rect">
            <a:avLst/>
          </a:prstGeom>
          <a:noFill/>
          <a:ln/>
        </p:spPr>
        <p:txBody>
          <a:bodyPr wrap="square" lIns="0" tIns="0" rIns="0" bIns="0" rtlCol="0" anchor="t"/>
          <a:lstStyle/>
          <a:p>
            <a:pPr indent="0" marL="0">
              <a:buNone/>
            </a:pPr>
            <a:r>
              <a:rPr lang="en-US" sz="1200" dirty="0">
                <a:solidFill>
                  <a:schemeClr val="tx1"/>
                </a:solidFill>
              </a:rPr>
              <a:t>Aucune attente fixe : on attend une réponse réseau ou un état. Locators par rôle et libellé, data-testid sur les écrans critiques.</a:t>
            </a:r>
            <a:endParaRPr lang="en-US" sz="1200" dirty="0"/>
          </a:p>
        </p:txBody>
      </p:sp>
      <p:sp>
        <p:nvSpPr>
          <p:cNvPr id="11" name="card"/>
          <p:cNvSpPr/>
          <p:nvPr/>
        </p:nvSpPr>
        <p:spPr>
          <a:xfrm>
            <a:off x="5989320" y="2715768"/>
            <a:ext cx="5623560" cy="960120"/>
          </a:xfrm>
          <a:prstGeom prst="roundRect">
            <a:avLst>
              <a:gd name="adj" fmla="val 9524"/>
            </a:avLst>
          </a:prstGeom>
          <a:solidFill>
            <a:schemeClr val="bg2"/>
          </a:solidFill>
          <a:ln/>
        </p:spPr>
      </p:sp>
      <p:sp>
        <p:nvSpPr>
          <p:cNvPr id="12" name="Text 10"/>
          <p:cNvSpPr txBox="1"/>
          <p:nvPr/>
        </p:nvSpPr>
        <p:spPr>
          <a:xfrm>
            <a:off x="6217920" y="2807208"/>
            <a:ext cx="5212080" cy="292608"/>
          </a:xfrm>
          <a:prstGeom prst="rect">
            <a:avLst/>
          </a:prstGeom>
          <a:noFill/>
          <a:ln/>
        </p:spPr>
        <p:txBody>
          <a:bodyPr wrap="square" lIns="0" tIns="0" rIns="0" bIns="0" rtlCol="0" anchor="t"/>
          <a:lstStyle/>
          <a:p>
            <a:pPr indent="0" marL="0">
              <a:buNone/>
            </a:pPr>
            <a:r>
              <a:rPr lang="en-US" sz="1500" b="1" dirty="0">
                <a:solidFill>
                  <a:schemeClr val="tx2"/>
                </a:solidFill>
              </a:rPr>
              <a:t>Données</a:t>
            </a:r>
            <a:endParaRPr lang="en-US" sz="1500" dirty="0"/>
          </a:p>
        </p:txBody>
      </p:sp>
      <p:sp>
        <p:nvSpPr>
          <p:cNvPr id="13" name="Text 11"/>
          <p:cNvSpPr txBox="1"/>
          <p:nvPr/>
        </p:nvSpPr>
        <p:spPr>
          <a:xfrm>
            <a:off x="6217920" y="3118104"/>
            <a:ext cx="5257800" cy="530352"/>
          </a:xfrm>
          <a:prstGeom prst="rect">
            <a:avLst/>
          </a:prstGeom>
          <a:noFill/>
          <a:ln/>
        </p:spPr>
        <p:txBody>
          <a:bodyPr wrap="square" lIns="0" tIns="0" rIns="0" bIns="0" rtlCol="0" anchor="t"/>
          <a:lstStyle/>
          <a:p>
            <a:pPr indent="0" marL="0">
              <a:buNone/>
            </a:pPr>
            <a:r>
              <a:rPr lang="en-US" sz="1200" dirty="0">
                <a:solidFill>
                  <a:schemeClr val="tx1"/>
                </a:solidFill>
              </a:rPr>
              <a:t>Créées par API, préfixées QA, isolées par test, nettoyées quand l'API le permet. Aucun test ne dépend d'un autre.</a:t>
            </a:r>
            <a:endParaRPr lang="en-US" sz="1200" dirty="0"/>
          </a:p>
        </p:txBody>
      </p:sp>
      <p:sp>
        <p:nvSpPr>
          <p:cNvPr id="14" name="card"/>
          <p:cNvSpPr/>
          <p:nvPr/>
        </p:nvSpPr>
        <p:spPr>
          <a:xfrm>
            <a:off x="5989320" y="3785616"/>
            <a:ext cx="5623560" cy="960120"/>
          </a:xfrm>
          <a:prstGeom prst="roundRect">
            <a:avLst>
              <a:gd name="adj" fmla="val 9524"/>
            </a:avLst>
          </a:prstGeom>
          <a:solidFill>
            <a:schemeClr val="bg2"/>
          </a:solidFill>
          <a:ln/>
        </p:spPr>
      </p:sp>
      <p:sp>
        <p:nvSpPr>
          <p:cNvPr id="15" name="Text 13"/>
          <p:cNvSpPr txBox="1"/>
          <p:nvPr/>
        </p:nvSpPr>
        <p:spPr>
          <a:xfrm>
            <a:off x="6217920" y="3877056"/>
            <a:ext cx="5212080" cy="292608"/>
          </a:xfrm>
          <a:prstGeom prst="rect">
            <a:avLst/>
          </a:prstGeom>
          <a:noFill/>
          <a:ln/>
        </p:spPr>
        <p:txBody>
          <a:bodyPr wrap="square" lIns="0" tIns="0" rIns="0" bIns="0" rtlCol="0" anchor="t"/>
          <a:lstStyle/>
          <a:p>
            <a:pPr indent="0" marL="0">
              <a:buNone/>
            </a:pPr>
            <a:r>
              <a:rPr lang="en-US" sz="1500" b="1" dirty="0">
                <a:solidFill>
                  <a:schemeClr val="tx2"/>
                </a:solidFill>
              </a:rPr>
              <a:t>Rôles</a:t>
            </a:r>
            <a:endParaRPr lang="en-US" sz="1500" dirty="0"/>
          </a:p>
        </p:txBody>
      </p:sp>
      <p:sp>
        <p:nvSpPr>
          <p:cNvPr id="16" name="Text 14"/>
          <p:cNvSpPr txBox="1"/>
          <p:nvPr/>
        </p:nvSpPr>
        <p:spPr>
          <a:xfrm>
            <a:off x="6217920" y="4187952"/>
            <a:ext cx="5257800" cy="530352"/>
          </a:xfrm>
          <a:prstGeom prst="rect">
            <a:avLst/>
          </a:prstGeom>
          <a:noFill/>
          <a:ln/>
        </p:spPr>
        <p:txBody>
          <a:bodyPr wrap="square" lIns="0" tIns="0" rIns="0" bIns="0" rtlCol="0" anchor="t"/>
          <a:lstStyle/>
          <a:p>
            <a:pPr indent="0" marL="0">
              <a:buNone/>
            </a:pPr>
            <a:r>
              <a:rPr lang="en-US" sz="1200" dirty="0">
                <a:solidFill>
                  <a:schemeClr val="tx1"/>
                </a:solidFill>
              </a:rPr>
              <a:t>Connexion par identifiant et mot de passe une fois par rôle (User, Admin, Super Admin), session réutilisée. Secrets lus depuis Key Vault.</a:t>
            </a:r>
            <a:endParaRPr lang="en-US" sz="1200" dirty="0"/>
          </a:p>
        </p:txBody>
      </p:sp>
      <p:sp>
        <p:nvSpPr>
          <p:cNvPr id="17" name="card"/>
          <p:cNvSpPr/>
          <p:nvPr/>
        </p:nvSpPr>
        <p:spPr>
          <a:xfrm>
            <a:off x="5989320" y="4855464"/>
            <a:ext cx="5623560" cy="960120"/>
          </a:xfrm>
          <a:prstGeom prst="roundRect">
            <a:avLst>
              <a:gd name="adj" fmla="val 9524"/>
            </a:avLst>
          </a:prstGeom>
          <a:solidFill>
            <a:schemeClr val="bg2"/>
          </a:solidFill>
          <a:ln/>
        </p:spPr>
      </p:sp>
      <p:sp>
        <p:nvSpPr>
          <p:cNvPr id="18" name="Text 16"/>
          <p:cNvSpPr txBox="1"/>
          <p:nvPr/>
        </p:nvSpPr>
        <p:spPr>
          <a:xfrm>
            <a:off x="6217920" y="4946904"/>
            <a:ext cx="5212080" cy="292608"/>
          </a:xfrm>
          <a:prstGeom prst="rect">
            <a:avLst/>
          </a:prstGeom>
          <a:noFill/>
          <a:ln/>
        </p:spPr>
        <p:txBody>
          <a:bodyPr wrap="square" lIns="0" tIns="0" rIns="0" bIns="0" rtlCol="0" anchor="t"/>
          <a:lstStyle/>
          <a:p>
            <a:pPr indent="0" marL="0">
              <a:buNone/>
            </a:pPr>
            <a:r>
              <a:rPr lang="en-US" sz="1500" b="1" dirty="0">
                <a:solidFill>
                  <a:schemeClr val="tx2"/>
                </a:solidFill>
              </a:rPr>
              <a:t>Diagnostic</a:t>
            </a:r>
            <a:endParaRPr lang="en-US" sz="1500" dirty="0"/>
          </a:p>
        </p:txBody>
      </p:sp>
      <p:sp>
        <p:nvSpPr>
          <p:cNvPr id="19" name="Text 17"/>
          <p:cNvSpPr txBox="1"/>
          <p:nvPr/>
        </p:nvSpPr>
        <p:spPr>
          <a:xfrm>
            <a:off x="6217920" y="5257800"/>
            <a:ext cx="5257800" cy="530352"/>
          </a:xfrm>
          <a:prstGeom prst="rect">
            <a:avLst/>
          </a:prstGeom>
          <a:noFill/>
          <a:ln/>
        </p:spPr>
        <p:txBody>
          <a:bodyPr wrap="square" lIns="0" tIns="0" rIns="0" bIns="0" rtlCol="0" anchor="t"/>
          <a:lstStyle/>
          <a:p>
            <a:pPr indent="0" marL="0">
              <a:buNone/>
            </a:pPr>
            <a:r>
              <a:rPr lang="en-US" sz="1200" dirty="0">
                <a:solidFill>
                  <a:schemeClr val="tx1"/>
                </a:solidFill>
              </a:rPr>
              <a:t>Une relance en CI, tracée. Trace conservée à chaque échec, avec l'identifiant d'opération App Insights.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Portes de qualité et tests instables</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Code sur GitHub, exécution dans Azure Pipelines ; un test qui n'inspire pas confiance ne protège rien.</a:t>
            </a:r>
            <a:endParaRPr lang="en-US" sz="1600" dirty="0"/>
          </a:p>
        </p:txBody>
      </p:sp>
      <p:graphicFrame>
        <p:nvGraphicFramePr>
          <p:cNvPr id="9" name="table-gates"/>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828800"/>
                <a:gridCol w="2743200"/>
                <a:gridCol w="3429000"/>
                <a:gridCol w="3063240"/>
              </a:tblGrid>
              <a:tr h="329184">
                <a:tc>
                  <a:txBody>
                    <a:bodyPr/>
                    <a:lstStyle/>
                    <a:p>
                      <a:pPr indent="0" marL="0">
                        <a:buNone/>
                      </a:pPr>
                      <a:r>
                        <a:rPr lang="en-US" sz="1200" b="1" dirty="0">
                          <a:solidFill>
                            <a:srgbClr val="FFFFFF"/>
                          </a:solidFill>
                        </a:rPr>
                        <a:t>Événement</a:t>
                      </a:r>
                      <a:endParaRPr lang="en-US" sz="12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Ce qui tourne</a:t>
                      </a:r>
                      <a:endParaRPr lang="en-US" sz="12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Bloque</a:t>
                      </a:r>
                      <a:endParaRPr lang="en-US" sz="12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23B3B"/>
                    </a:solidFill>
                  </a:tcPr>
                </a:tc>
                <a:tc>
                  <a:txBody>
                    <a:bodyPr/>
                    <a:lstStyle/>
                    <a:p>
                      <a:pPr indent="0" marL="0">
                        <a:buNone/>
                      </a:pPr>
                      <a:r>
                        <a:rPr lang="en-US" sz="1200" b="1" dirty="0">
                          <a:solidFill>
                            <a:srgbClr val="FFFFFF"/>
                          </a:solidFill>
                        </a:rPr>
                        <a:t>Ne bloque pas</a:t>
                      </a:r>
                      <a:endParaRPr lang="en-US" sz="12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D4F"/>
                    </a:solidFill>
                  </a:tcPr>
                </a:tc>
              </a:tr>
              <a:tr h="457200">
                <a:tc>
                  <a:txBody>
                    <a:bodyPr/>
                    <a:lstStyle/>
                    <a:p>
                      <a:pPr indent="0" marL="0">
                        <a:buNone/>
                      </a:pPr>
                      <a:r>
                        <a:rPr lang="en-US" sz="1100" b="1" dirty="0">
                          <a:solidFill>
                            <a:srgbClr val="1A1A2E"/>
                          </a:solidFill>
                        </a:rPr>
                        <a:t>Pull request GitHub</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Lint, typage, tests modifiés sur ITG</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Le merge : erreur, test modifié en échec, test.only oublié</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DADA"/>
                    </a:solidFill>
                  </a:tcPr>
                </a:tc>
                <a:tc>
                  <a:txBody>
                    <a:bodyPr/>
                    <a:lstStyle/>
                    <a:p>
                      <a:pPr indent="0" marL="0">
                        <a:buNone/>
                      </a:pPr>
                      <a:r>
                        <a:rPr lang="en-US" sz="1100" dirty="0">
                          <a:solidFill>
                            <a:srgbClr val="1A1A2E"/>
                          </a:solidFill>
                        </a:rPr>
                        <a:t>Test passé au second essai : signalé dans la PR</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CEFE2"/>
                    </a:solidFill>
                  </a:tcPr>
                </a:tc>
              </a:tr>
              <a:tr h="457200">
                <a:tc>
                  <a:txBody>
                    <a:bodyPr/>
                    <a:lstStyle/>
                    <a:p>
                      <a:pPr indent="0" marL="0">
                        <a:buNone/>
                      </a:pPr>
                      <a:r>
                        <a:rPr lang="en-US" sz="1100" b="1" dirty="0">
                          <a:solidFill>
                            <a:srgbClr val="1A1A2E"/>
                          </a:solidFill>
                        </a:rPr>
                        <a:t>Chaque déploiement</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Smoke API et UI ; lecture seule en PREPROD et PROD</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La promotion vers l'environnement suivant</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DADA"/>
                    </a:solidFill>
                  </a:tcPr>
                </a:tc>
                <a:tc>
                  <a:txBody>
                    <a:bodyPr/>
                    <a:lstStyle/>
                    <a:p>
                      <a:pPr indent="0" marL="0">
                        <a:buNone/>
                      </a:pPr>
                      <a:r>
                        <a:rPr lang="en-US" sz="1100" dirty="0">
                          <a:solidFill>
                            <a:srgbClr val="1A1A2E"/>
                          </a:solidFill>
                        </a:rPr>
                        <a:t>Environnement indisponible : relance, pas d'anomalie</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CEFE2"/>
                    </a:solidFill>
                  </a:tcPr>
                </a:tc>
              </a:tr>
              <a:tr h="457200">
                <a:tc>
                  <a:txBody>
                    <a:bodyPr/>
                    <a:lstStyle/>
                    <a:p>
                      <a:pPr indent="0" marL="0">
                        <a:buNone/>
                      </a:pPr>
                      <a:r>
                        <a:rPr lang="en-US" sz="1100" b="1" dirty="0">
                          <a:solidFill>
                            <a:srgbClr val="1A1A2E"/>
                          </a:solidFill>
                        </a:rPr>
                        <a:t>Chaque nuit sur ITG</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Les 5 à 10 scénarios</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F3FA"/>
                    </a:solidFill>
                  </a:tcPr>
                </a:tc>
                <a:tc>
                  <a:txBody>
                    <a:bodyPr/>
                    <a:lstStyle/>
                    <a:p>
                      <a:pPr indent="0" marL="0">
                        <a:buNone/>
                      </a:pPr>
                      <a:r>
                        <a:rPr lang="en-US" sz="1100" dirty="0">
                          <a:solidFill>
                            <a:srgbClr val="1A1A2E"/>
                          </a:solidFill>
                        </a:rPr>
                        <a:t>La promotion vers PREPROD si un vrai écart apparaît</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DADA"/>
                    </a:solidFill>
                  </a:tcPr>
                </a:tc>
                <a:tc>
                  <a:txBody>
                    <a:bodyPr/>
                    <a:lstStyle/>
                    <a:p>
                      <a:pPr indent="0" marL="0">
                        <a:buNone/>
                      </a:pPr>
                      <a:r>
                        <a:rPr lang="en-US" sz="1100" dirty="0">
                          <a:solidFill>
                            <a:srgbClr val="1A1A2E"/>
                          </a:solidFill>
                        </a:rPr>
                        <a:t>Test en quarantaine : exécuté et affiché, sans blocage</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CEFE2"/>
                    </a:solidFill>
                  </a:tcPr>
                </a:tc>
              </a:tr>
              <a:tr h="457200">
                <a:tc>
                  <a:txBody>
                    <a:bodyPr/>
                    <a:lstStyle/>
                    <a:p>
                      <a:pPr indent="0" marL="0">
                        <a:buNone/>
                      </a:pPr>
                      <a:r>
                        <a:rPr lang="en-US" sz="1100" b="1" dirty="0">
                          <a:solidFill>
                            <a:srgbClr val="1A1A2E"/>
                          </a:solidFill>
                        </a:rPr>
                        <a:t>Avant la recette métier</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Smoke, puis campagne manuelle dans Test Plans</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rPr>
                        <a:t>L'ouverture de la recette si un critère de sortie manque</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DADA"/>
                    </a:solidFill>
                  </a:tcPr>
                </a:tc>
                <a:tc>
                  <a:txBody>
                    <a:bodyPr/>
                    <a:lstStyle/>
                    <a:p>
                      <a:pPr indent="0" marL="0">
                        <a:buNone/>
                      </a:pPr>
                      <a:r>
                        <a:rPr lang="en-US" sz="1100" dirty="0">
                          <a:solidFill>
                            <a:srgbClr val="1A1A2E"/>
                          </a:solidFill>
                        </a:rPr>
                        <a:t>Anomalie mineure acceptée par écrit</a:t>
                      </a:r>
                      <a:endParaRPr lang="en-US" sz="1100" dirty="0"/>
                    </a:p>
                  </a:txBody>
                  <a:tcPr marL="73152" marR="73152"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CEFE2"/>
                    </a:solidFill>
                  </a:tcPr>
                </a:tc>
              </a:tr>
            </a:tbl>
          </a:graphicData>
        </a:graphic>
      </p:graphicFrame>
      <p:sp>
        <p:nvSpPr>
          <p:cNvPr id="5" name="card"/>
          <p:cNvSpPr/>
          <p:nvPr/>
        </p:nvSpPr>
        <p:spPr>
          <a:xfrm>
            <a:off x="548640" y="3931920"/>
            <a:ext cx="3520440" cy="1298448"/>
          </a:xfrm>
          <a:prstGeom prst="roundRect">
            <a:avLst>
              <a:gd name="adj" fmla="val 7042"/>
            </a:avLst>
          </a:prstGeom>
          <a:solidFill>
            <a:schemeClr val="bg2"/>
          </a:solidFill>
          <a:ln/>
        </p:spPr>
      </p:sp>
      <p:sp>
        <p:nvSpPr>
          <p:cNvPr id="6" name="Text 3"/>
          <p:cNvSpPr txBox="1"/>
          <p:nvPr/>
        </p:nvSpPr>
        <p:spPr>
          <a:xfrm>
            <a:off x="731520" y="3986784"/>
            <a:ext cx="3200400" cy="310896"/>
          </a:xfrm>
          <a:prstGeom prst="rect">
            <a:avLst/>
          </a:prstGeom>
          <a:noFill/>
          <a:ln/>
        </p:spPr>
        <p:txBody>
          <a:bodyPr wrap="square" lIns="0" tIns="0" rIns="0" bIns="0" rtlCol="0" anchor="t"/>
          <a:lstStyle/>
          <a:p>
            <a:pPr indent="0" marL="0">
              <a:buNone/>
            </a:pPr>
            <a:r>
              <a:rPr lang="en-US" sz="1500" b="1" dirty="0">
                <a:solidFill>
                  <a:schemeClr val="tx2"/>
                </a:solidFill>
              </a:rPr>
              <a:t>1. Prévenir</a:t>
            </a:r>
            <a:endParaRPr lang="en-US" sz="1500" dirty="0"/>
          </a:p>
        </p:txBody>
      </p:sp>
      <p:sp>
        <p:nvSpPr>
          <p:cNvPr id="7" name="Text 4"/>
          <p:cNvSpPr txBox="1"/>
          <p:nvPr/>
        </p:nvSpPr>
        <p:spPr>
          <a:xfrm>
            <a:off x="731520" y="4297680"/>
            <a:ext cx="3200400" cy="914400"/>
          </a:xfrm>
          <a:prstGeom prst="rect">
            <a:avLst/>
          </a:prstGeom>
          <a:noFill/>
          <a:ln/>
        </p:spPr>
        <p:txBody>
          <a:bodyPr wrap="square" lIns="0" tIns="0" rIns="0" bIns="0" rtlCol="0" anchor="t"/>
          <a:lstStyle/>
          <a:p>
            <a:pPr indent="0" marL="0">
              <a:buNone/>
            </a:pPr>
            <a:r>
              <a:rPr lang="en-US" sz="1100" dirty="0">
                <a:solidFill>
                  <a:schemeClr val="tx1"/>
                </a:solidFill>
              </a:rPr>
              <a:t>Aucune attente fixe : attendre une réponse réseau ou un état. Données créées et isolées par test. Locators par rôle et libellé, audités avant d'écrire le test.</a:t>
            </a:r>
            <a:endParaRPr lang="en-US" sz="1100" dirty="0"/>
          </a:p>
        </p:txBody>
      </p:sp>
      <p:sp>
        <p:nvSpPr>
          <p:cNvPr id="8" name="card"/>
          <p:cNvSpPr/>
          <p:nvPr/>
        </p:nvSpPr>
        <p:spPr>
          <a:xfrm>
            <a:off x="4297680" y="3931920"/>
            <a:ext cx="3520440" cy="1298448"/>
          </a:xfrm>
          <a:prstGeom prst="roundRect">
            <a:avLst>
              <a:gd name="adj" fmla="val 7042"/>
            </a:avLst>
          </a:prstGeom>
          <a:solidFill>
            <a:schemeClr val="bg2"/>
          </a:solidFill>
          <a:ln/>
        </p:spPr>
      </p:sp>
      <p:sp>
        <p:nvSpPr>
          <p:cNvPr id="9" name="Text 6"/>
          <p:cNvSpPr txBox="1"/>
          <p:nvPr/>
        </p:nvSpPr>
        <p:spPr>
          <a:xfrm>
            <a:off x="4480560" y="3986784"/>
            <a:ext cx="3200400" cy="310896"/>
          </a:xfrm>
          <a:prstGeom prst="rect">
            <a:avLst/>
          </a:prstGeom>
          <a:noFill/>
          <a:ln/>
        </p:spPr>
        <p:txBody>
          <a:bodyPr wrap="square" lIns="0" tIns="0" rIns="0" bIns="0" rtlCol="0" anchor="t"/>
          <a:lstStyle/>
          <a:p>
            <a:pPr indent="0" marL="0">
              <a:buNone/>
            </a:pPr>
            <a:r>
              <a:rPr lang="en-US" sz="1500" b="1" dirty="0">
                <a:solidFill>
                  <a:schemeClr val="tx2"/>
                </a:solidFill>
              </a:rPr>
              <a:t>2. Détecter</a:t>
            </a:r>
            <a:endParaRPr lang="en-US" sz="1500" dirty="0"/>
          </a:p>
        </p:txBody>
      </p:sp>
      <p:sp>
        <p:nvSpPr>
          <p:cNvPr id="10" name="Text 7"/>
          <p:cNvSpPr txBox="1"/>
          <p:nvPr/>
        </p:nvSpPr>
        <p:spPr>
          <a:xfrm>
            <a:off x="4480560" y="4297680"/>
            <a:ext cx="3200400" cy="914400"/>
          </a:xfrm>
          <a:prstGeom prst="rect">
            <a:avLst/>
          </a:prstGeom>
          <a:noFill/>
          <a:ln/>
        </p:spPr>
        <p:txBody>
          <a:bodyPr wrap="square" lIns="0" tIns="0" rIns="0" bIns="0" rtlCol="0" anchor="t"/>
          <a:lstStyle/>
          <a:p>
            <a:pPr indent="0" marL="0">
              <a:buNone/>
            </a:pPr>
            <a:r>
              <a:rPr lang="en-US" sz="1100" dirty="0">
                <a:solidFill>
                  <a:schemeClr val="tx1"/>
                </a:solidFill>
              </a:rPr>
              <a:t>Une seule relance en CI. Un test qui ne passe qu'au second essai est marqué instable par Playwright, et le taux est suivi sur les dix dernières nuits.</a:t>
            </a:r>
            <a:endParaRPr lang="en-US" sz="1100" dirty="0"/>
          </a:p>
        </p:txBody>
      </p:sp>
      <p:sp>
        <p:nvSpPr>
          <p:cNvPr id="11" name="card"/>
          <p:cNvSpPr/>
          <p:nvPr/>
        </p:nvSpPr>
        <p:spPr>
          <a:xfrm>
            <a:off x="8046720" y="3931920"/>
            <a:ext cx="3520440" cy="1298448"/>
          </a:xfrm>
          <a:prstGeom prst="roundRect">
            <a:avLst>
              <a:gd name="adj" fmla="val 7042"/>
            </a:avLst>
          </a:prstGeom>
          <a:solidFill>
            <a:schemeClr val="tx2"/>
          </a:solidFill>
          <a:ln/>
        </p:spPr>
      </p:sp>
      <p:sp>
        <p:nvSpPr>
          <p:cNvPr id="12" name="Text 9"/>
          <p:cNvSpPr txBox="1"/>
          <p:nvPr/>
        </p:nvSpPr>
        <p:spPr>
          <a:xfrm>
            <a:off x="8229600" y="3986784"/>
            <a:ext cx="3200400" cy="310896"/>
          </a:xfrm>
          <a:prstGeom prst="rect">
            <a:avLst/>
          </a:prstGeom>
          <a:noFill/>
          <a:ln/>
        </p:spPr>
        <p:txBody>
          <a:bodyPr wrap="square" lIns="0" tIns="0" rIns="0" bIns="0" rtlCol="0" anchor="t"/>
          <a:lstStyle/>
          <a:p>
            <a:pPr indent="0" marL="0">
              <a:buNone/>
            </a:pPr>
            <a:r>
              <a:rPr lang="en-US" sz="1500" b="1" dirty="0">
                <a:solidFill>
                  <a:schemeClr val="bg1"/>
                </a:solidFill>
              </a:rPr>
              <a:t>3. Traiter</a:t>
            </a:r>
            <a:endParaRPr lang="en-US" sz="1500" dirty="0"/>
          </a:p>
        </p:txBody>
      </p:sp>
      <p:sp>
        <p:nvSpPr>
          <p:cNvPr id="13" name="Text 10"/>
          <p:cNvSpPr txBox="1"/>
          <p:nvPr/>
        </p:nvSpPr>
        <p:spPr>
          <a:xfrm>
            <a:off x="8229600" y="4297680"/>
            <a:ext cx="3200400" cy="914400"/>
          </a:xfrm>
          <a:prstGeom prst="rect">
            <a:avLst/>
          </a:prstGeom>
          <a:noFill/>
          <a:ln/>
        </p:spPr>
        <p:txBody>
          <a:bodyPr wrap="square" lIns="0" tIns="0" rIns="0" bIns="0" rtlCol="0" anchor="t"/>
          <a:lstStyle/>
          <a:p>
            <a:pPr indent="0" marL="0">
              <a:buNone/>
            </a:pPr>
            <a:r>
              <a:rPr lang="en-US" sz="1100" dirty="0">
                <a:solidFill>
                  <a:schemeClr val="bg1"/>
                </a:solidFill>
              </a:rPr>
              <a:t>Instable deux nuits de suite : quarantaine avec ticket et date de sortie, contrôle repris en manuel. Retour dans la suite après dix nuits vertes.</a:t>
            </a:r>
            <a:endParaRPr lang="en-US" sz="1100" dirty="0"/>
          </a:p>
        </p:txBody>
      </p:sp>
      <p:sp>
        <p:nvSpPr>
          <p:cNvPr id="14" name="box"/>
          <p:cNvSpPr/>
          <p:nvPr/>
        </p:nvSpPr>
        <p:spPr>
          <a:xfrm>
            <a:off x="548640" y="5321808"/>
            <a:ext cx="11064240" cy="365760"/>
          </a:xfrm>
          <a:prstGeom prst="roundRect">
            <a:avLst>
              <a:gd name="adj" fmla="val 15000"/>
            </a:avLst>
          </a:prstGeom>
          <a:solidFill>
            <a:srgbClr val="F6DADA"/>
          </a:solidFill>
          <a:ln/>
        </p:spPr>
      </p:sp>
      <p:sp>
        <p:nvSpPr>
          <p:cNvPr id="15" name="Text 12"/>
          <p:cNvSpPr txBox="1"/>
          <p:nvPr/>
        </p:nvSpPr>
        <p:spPr>
          <a:xfrm>
            <a:off x="731520" y="5321808"/>
            <a:ext cx="10789920" cy="365760"/>
          </a:xfrm>
          <a:prstGeom prst="rect">
            <a:avLst/>
          </a:prstGeom>
          <a:noFill/>
          <a:ln/>
        </p:spPr>
        <p:txBody>
          <a:bodyPr wrap="square" lIns="0" tIns="0" rIns="0" bIns="0" rtlCol="0" anchor="ctr"/>
          <a:lstStyle/>
          <a:p>
            <a:pPr indent="0" marL="0">
              <a:buNone/>
            </a:pPr>
            <a:r>
              <a:rPr lang="en-US" sz="1200" b="1" dirty="0">
                <a:solidFill>
                  <a:srgbClr val="B23B3B"/>
                </a:solidFill>
              </a:rPr>
              <a:t>Interdit : </a:t>
            </a:r>
            <a:pPr indent="0" marL="0">
              <a:buNone/>
            </a:pPr>
            <a:r>
              <a:rPr lang="en-US" sz="1200" dirty="0">
                <a:solidFill>
                  <a:schemeClr val="tx1"/>
                </a:solidFill>
              </a:rPr>
              <a:t>relances en boucle, attente fixe ajoutée pour « faire passer », healer qui réécrit un test dans le pipeline.</a:t>
            </a:r>
            <a:endParaRPr lang="en-US" sz="1200" dirty="0"/>
          </a:p>
        </p:txBody>
      </p:sp>
      <p:sp>
        <p:nvSpPr>
          <p:cNvPr id="16" name="box"/>
          <p:cNvSpPr/>
          <p:nvPr/>
        </p:nvSpPr>
        <p:spPr>
          <a:xfrm>
            <a:off x="548640" y="5760720"/>
            <a:ext cx="11064240" cy="365760"/>
          </a:xfrm>
          <a:prstGeom prst="roundRect">
            <a:avLst>
              <a:gd name="adj" fmla="val 15000"/>
            </a:avLst>
          </a:prstGeom>
          <a:solidFill>
            <a:schemeClr val="accent5"/>
          </a:solidFill>
          <a:ln/>
        </p:spPr>
      </p:sp>
      <p:sp>
        <p:nvSpPr>
          <p:cNvPr id="17" name="Text 14"/>
          <p:cNvSpPr txBox="1"/>
          <p:nvPr/>
        </p:nvSpPr>
        <p:spPr>
          <a:xfrm>
            <a:off x="731520" y="5760720"/>
            <a:ext cx="10789920" cy="365760"/>
          </a:xfrm>
          <a:prstGeom prst="rect">
            <a:avLst/>
          </a:prstGeom>
          <a:noFill/>
          <a:ln/>
        </p:spPr>
        <p:txBody>
          <a:bodyPr wrap="square" lIns="0" tIns="0" rIns="0" bIns="0" rtlCol="0" anchor="ctr"/>
          <a:lstStyle/>
          <a:p>
            <a:pPr indent="0" marL="0">
              <a:buNone/>
            </a:pPr>
            <a:r>
              <a:rPr lang="en-US" sz="1200" b="1" dirty="0">
                <a:solidFill>
                  <a:srgbClr val="00338D"/>
                </a:solidFill>
              </a:rPr>
              <a:t>Décision de release : </a:t>
            </a:r>
            <a:pPr indent="0" marL="0">
              <a:buNone/>
            </a:pPr>
            <a:r>
              <a:rPr lang="en-US" sz="1200" dirty="0">
                <a:solidFill>
                  <a:schemeClr val="tx1"/>
                </a:solidFill>
              </a:rPr>
              <a:t>la suite et la QC fournissent les faits ; le GO / NO GO reste aux responsables habilités, selon le processus de validation existant.</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POC Playwright : prouver la valeur avant d'étendre</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Sur InfoCAC en ITG : tests API d'abord, UI ciblée, sans aucune dépendance aux agents IA.</a:t>
            </a:r>
            <a:endParaRPr lang="en-US" sz="1600" dirty="0"/>
          </a:p>
        </p:txBody>
      </p:sp>
      <p:sp>
        <p:nvSpPr>
          <p:cNvPr id="4" name="box"/>
          <p:cNvSpPr/>
          <p:nvPr/>
        </p:nvSpPr>
        <p:spPr>
          <a:xfrm>
            <a:off x="548640" y="1645920"/>
            <a:ext cx="3474720" cy="502920"/>
          </a:xfrm>
          <a:prstGeom prst="roundRect">
            <a:avLst>
              <a:gd name="adj" fmla="val 10909"/>
            </a:avLst>
          </a:prstGeom>
          <a:solidFill>
            <a:schemeClr val="tx2"/>
          </a:solidFill>
          <a:ln/>
        </p:spPr>
      </p:sp>
      <p:sp>
        <p:nvSpPr>
          <p:cNvPr id="5" name="Text 3"/>
          <p:cNvSpPr txBox="1"/>
          <p:nvPr/>
        </p:nvSpPr>
        <p:spPr>
          <a:xfrm>
            <a:off x="731520" y="1645920"/>
            <a:ext cx="3108960" cy="502920"/>
          </a:xfrm>
          <a:prstGeom prst="rect">
            <a:avLst/>
          </a:prstGeom>
          <a:noFill/>
          <a:ln/>
        </p:spPr>
        <p:txBody>
          <a:bodyPr wrap="square" lIns="0" tIns="0" rIns="0" bIns="0" rtlCol="0" anchor="ctr"/>
          <a:lstStyle/>
          <a:p>
            <a:pPr indent="0" marL="0">
              <a:buNone/>
            </a:pPr>
            <a:r>
              <a:rPr lang="en-US" sz="1500" b="1" dirty="0">
                <a:solidFill>
                  <a:schemeClr val="bg1"/>
                </a:solidFill>
              </a:rPr>
              <a:t>1. Préconditions</a:t>
            </a:r>
            <a:endParaRPr lang="en-US" sz="1500" dirty="0"/>
          </a:p>
        </p:txBody>
      </p:sp>
      <p:sp>
        <p:nvSpPr>
          <p:cNvPr id="6" name="card"/>
          <p:cNvSpPr/>
          <p:nvPr/>
        </p:nvSpPr>
        <p:spPr>
          <a:xfrm>
            <a:off x="548640" y="2240280"/>
            <a:ext cx="3474720" cy="2148840"/>
          </a:xfrm>
          <a:prstGeom prst="roundRect">
            <a:avLst>
              <a:gd name="adj" fmla="val 4255"/>
            </a:avLst>
          </a:prstGeom>
          <a:solidFill>
            <a:schemeClr val="bg2"/>
          </a:solidFill>
          <a:ln/>
        </p:spPr>
      </p:sp>
      <p:sp>
        <p:nvSpPr>
          <p:cNvPr id="7" name="Text 5"/>
          <p:cNvSpPr txBox="1"/>
          <p:nvPr/>
        </p:nvSpPr>
        <p:spPr>
          <a:xfrm>
            <a:off x="731520" y="2377440"/>
            <a:ext cx="315468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ITG joignable depuis le runner Azure Pipelines</a:t>
            </a:r>
            <a:endParaRPr lang="en-US" sz="1300" dirty="0"/>
          </a:p>
          <a:p>
            <a:pPr marL="342900" indent="-342900">
              <a:spcAft>
                <a:spcPts val="800"/>
              </a:spcAft>
              <a:buSzPct val="100000"/>
              <a:buChar char="•"/>
            </a:pPr>
            <a:r>
              <a:rPr lang="en-US" sz="1300" dirty="0">
                <a:solidFill>
                  <a:schemeClr val="tx1"/>
                </a:solidFill>
              </a:rPr>
              <a:t>Contrat OpenAPI accessible et versionné</a:t>
            </a:r>
            <a:endParaRPr lang="en-US" sz="1300" dirty="0"/>
          </a:p>
          <a:p>
            <a:pPr marL="342900" indent="-342900">
              <a:spcAft>
                <a:spcPts val="800"/>
              </a:spcAft>
              <a:buSzPct val="100000"/>
              <a:buChar char="•"/>
            </a:pPr>
            <a:r>
              <a:rPr lang="en-US" sz="1300" dirty="0">
                <a:solidFill>
                  <a:schemeClr val="tx1"/>
                </a:solidFill>
              </a:rPr>
              <a:t>Un compte de test par rôle : User, Admin, Super Admin</a:t>
            </a:r>
            <a:endParaRPr lang="en-US" sz="1300" dirty="0"/>
          </a:p>
          <a:p>
            <a:pPr marL="342900" indent="-342900">
              <a:spcAft>
                <a:spcPts val="800"/>
              </a:spcAft>
              <a:buSzPct val="100000"/>
              <a:buChar char="•"/>
            </a:pPr>
            <a:r>
              <a:rPr lang="en-US" sz="1300" dirty="0">
                <a:solidFill>
                  <a:schemeClr val="tx1"/>
                </a:solidFill>
              </a:rPr>
              <a:t>Données maîtrisées, oracle validé par le PO</a:t>
            </a:r>
            <a:endParaRPr lang="en-US" sz="1300" dirty="0"/>
          </a:p>
        </p:txBody>
      </p:sp>
      <p:pic>
        <p:nvPicPr>
          <p:cNvPr id="8" name="arrow" descr="preencoded.png">    </p:cNvPr>
          <p:cNvPicPr>
            <a:picLocks noChangeAspect="1"/>
          </p:cNvPicPr>
          <p:nvPr/>
        </p:nvPicPr>
        <p:blipFill>
          <a:blip r:embed="rId1"/>
          <a:stretch>
            <a:fillRect/>
          </a:stretch>
        </p:blipFill>
        <p:spPr>
          <a:xfrm>
            <a:off x="4050792" y="3154680"/>
            <a:ext cx="274320" cy="274320"/>
          </a:xfrm>
          <a:prstGeom prst="rect">
            <a:avLst/>
          </a:prstGeom>
        </p:spPr>
      </p:pic>
      <p:sp>
        <p:nvSpPr>
          <p:cNvPr id="9" name="box"/>
          <p:cNvSpPr/>
          <p:nvPr/>
        </p:nvSpPr>
        <p:spPr>
          <a:xfrm>
            <a:off x="4343400" y="1645920"/>
            <a:ext cx="3474720" cy="502920"/>
          </a:xfrm>
          <a:prstGeom prst="roundRect">
            <a:avLst>
              <a:gd name="adj" fmla="val 10909"/>
            </a:avLst>
          </a:prstGeom>
          <a:solidFill>
            <a:schemeClr val="accent1"/>
          </a:solidFill>
          <a:ln/>
        </p:spPr>
      </p:sp>
      <p:sp>
        <p:nvSpPr>
          <p:cNvPr id="10" name="Text 7"/>
          <p:cNvSpPr txBox="1"/>
          <p:nvPr/>
        </p:nvSpPr>
        <p:spPr>
          <a:xfrm>
            <a:off x="4526280" y="1645920"/>
            <a:ext cx="3108960" cy="502920"/>
          </a:xfrm>
          <a:prstGeom prst="rect">
            <a:avLst/>
          </a:prstGeom>
          <a:noFill/>
          <a:ln/>
        </p:spPr>
        <p:txBody>
          <a:bodyPr wrap="square" lIns="0" tIns="0" rIns="0" bIns="0" rtlCol="0" anchor="ctr"/>
          <a:lstStyle/>
          <a:p>
            <a:pPr indent="0" marL="0">
              <a:buNone/>
            </a:pPr>
            <a:r>
              <a:rPr lang="en-US" sz="1500" b="1" dirty="0">
                <a:solidFill>
                  <a:schemeClr val="bg1"/>
                </a:solidFill>
              </a:rPr>
              <a:t>2. 3 à 4 cas pilotes</a:t>
            </a:r>
            <a:endParaRPr lang="en-US" sz="1500" dirty="0"/>
          </a:p>
        </p:txBody>
      </p:sp>
      <p:sp>
        <p:nvSpPr>
          <p:cNvPr id="11" name="card"/>
          <p:cNvSpPr/>
          <p:nvPr/>
        </p:nvSpPr>
        <p:spPr>
          <a:xfrm>
            <a:off x="4343400" y="2240280"/>
            <a:ext cx="3474720" cy="2148840"/>
          </a:xfrm>
          <a:prstGeom prst="roundRect">
            <a:avLst>
              <a:gd name="adj" fmla="val 4255"/>
            </a:avLst>
          </a:prstGeom>
          <a:solidFill>
            <a:schemeClr val="bg2"/>
          </a:solidFill>
          <a:ln/>
        </p:spPr>
      </p:sp>
      <p:sp>
        <p:nvSpPr>
          <p:cNvPr id="12" name="Text 9"/>
          <p:cNvSpPr txBox="1"/>
          <p:nvPr/>
        </p:nvSpPr>
        <p:spPr>
          <a:xfrm>
            <a:off x="4526280" y="2377440"/>
            <a:ext cx="315468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Un smoke API critique</a:t>
            </a:r>
            <a:endParaRPr lang="en-US" sz="1300" dirty="0"/>
          </a:p>
          <a:p>
            <a:pPr marL="342900" indent="-342900">
              <a:spcAft>
                <a:spcPts val="800"/>
              </a:spcAft>
              <a:buSzPct val="100000"/>
              <a:buChar char="•"/>
            </a:pPr>
            <a:r>
              <a:rPr lang="en-US" sz="1300" dirty="0">
                <a:solidFill>
                  <a:schemeClr val="tx1"/>
                </a:solidFill>
              </a:rPr>
              <a:t>Une matrice de droits : autorisé et refusé</a:t>
            </a:r>
            <a:endParaRPr lang="en-US" sz="1300" dirty="0"/>
          </a:p>
          <a:p>
            <a:pPr marL="342900" indent="-342900">
              <a:spcAft>
                <a:spcPts val="800"/>
              </a:spcAft>
              <a:buSzPct val="100000"/>
              <a:buChar char="•"/>
            </a:pPr>
            <a:r>
              <a:rPr lang="en-US" sz="1300" dirty="0">
                <a:solidFill>
                  <a:schemeClr val="tx1"/>
                </a:solidFill>
              </a:rPr>
              <a:t>Une transition de statut, positive et négative</a:t>
            </a:r>
            <a:endParaRPr lang="en-US" sz="1300" dirty="0"/>
          </a:p>
          <a:p>
            <a:pPr marL="342900" indent="-342900">
              <a:spcAft>
                <a:spcPts val="800"/>
              </a:spcAft>
              <a:buSzPct val="100000"/>
              <a:buChar char="•"/>
            </a:pPr>
            <a:r>
              <a:rPr lang="en-US" sz="1300" dirty="0">
                <a:solidFill>
                  <a:schemeClr val="tx1"/>
                </a:solidFill>
              </a:rPr>
              <a:t>Un parcours UI, seulement si l'écran est stable</a:t>
            </a:r>
            <a:endParaRPr lang="en-US" sz="1300" dirty="0"/>
          </a:p>
        </p:txBody>
      </p:sp>
      <p:pic>
        <p:nvPicPr>
          <p:cNvPr id="13" name="arrow" descr="preencoded.png">    </p:cNvPr>
          <p:cNvPicPr>
            <a:picLocks noChangeAspect="1"/>
          </p:cNvPicPr>
          <p:nvPr/>
        </p:nvPicPr>
        <p:blipFill>
          <a:blip r:embed="rId2"/>
          <a:stretch>
            <a:fillRect/>
          </a:stretch>
        </p:blipFill>
        <p:spPr>
          <a:xfrm>
            <a:off x="7845552" y="3154680"/>
            <a:ext cx="274320" cy="274320"/>
          </a:xfrm>
          <a:prstGeom prst="rect">
            <a:avLst/>
          </a:prstGeom>
        </p:spPr>
      </p:pic>
      <p:sp>
        <p:nvSpPr>
          <p:cNvPr id="14" name="box"/>
          <p:cNvSpPr/>
          <p:nvPr/>
        </p:nvSpPr>
        <p:spPr>
          <a:xfrm>
            <a:off x="8138160" y="1645920"/>
            <a:ext cx="3474720" cy="502920"/>
          </a:xfrm>
          <a:prstGeom prst="roundRect">
            <a:avLst>
              <a:gd name="adj" fmla="val 10909"/>
            </a:avLst>
          </a:prstGeom>
          <a:solidFill>
            <a:schemeClr val="accent4"/>
          </a:solidFill>
          <a:ln/>
        </p:spPr>
      </p:sp>
      <p:sp>
        <p:nvSpPr>
          <p:cNvPr id="15" name="Text 11"/>
          <p:cNvSpPr txBox="1"/>
          <p:nvPr/>
        </p:nvSpPr>
        <p:spPr>
          <a:xfrm>
            <a:off x="8321040" y="1645920"/>
            <a:ext cx="3108960" cy="502920"/>
          </a:xfrm>
          <a:prstGeom prst="rect">
            <a:avLst/>
          </a:prstGeom>
          <a:noFill/>
          <a:ln/>
        </p:spPr>
        <p:txBody>
          <a:bodyPr wrap="square" lIns="0" tIns="0" rIns="0" bIns="0" rtlCol="0" anchor="ctr"/>
          <a:lstStyle/>
          <a:p>
            <a:pPr indent="0" marL="0">
              <a:buNone/>
            </a:pPr>
            <a:r>
              <a:rPr lang="en-US" sz="1500" b="1" dirty="0">
                <a:solidFill>
                  <a:schemeClr val="bg1"/>
                </a:solidFill>
              </a:rPr>
              <a:t>3. Livrables</a:t>
            </a:r>
            <a:endParaRPr lang="en-US" sz="1500" dirty="0"/>
          </a:p>
        </p:txBody>
      </p:sp>
      <p:sp>
        <p:nvSpPr>
          <p:cNvPr id="16" name="card"/>
          <p:cNvSpPr/>
          <p:nvPr/>
        </p:nvSpPr>
        <p:spPr>
          <a:xfrm>
            <a:off x="8138160" y="2240280"/>
            <a:ext cx="3474720" cy="2148840"/>
          </a:xfrm>
          <a:prstGeom prst="roundRect">
            <a:avLst>
              <a:gd name="adj" fmla="val 4255"/>
            </a:avLst>
          </a:prstGeom>
          <a:solidFill>
            <a:schemeClr val="bg2"/>
          </a:solidFill>
          <a:ln/>
        </p:spPr>
      </p:sp>
      <p:sp>
        <p:nvSpPr>
          <p:cNvPr id="17" name="Text 13"/>
          <p:cNvSpPr txBox="1"/>
          <p:nvPr/>
        </p:nvSpPr>
        <p:spPr>
          <a:xfrm>
            <a:off x="8321040" y="2377440"/>
            <a:ext cx="315468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Tests Playwright TypeScript et fixtures</a:t>
            </a:r>
            <a:endParaRPr lang="en-US" sz="1300" dirty="0"/>
          </a:p>
          <a:p>
            <a:pPr marL="342900" indent="-342900">
              <a:spcAft>
                <a:spcPts val="800"/>
              </a:spcAft>
              <a:buSzPct val="100000"/>
              <a:buChar char="•"/>
            </a:pPr>
            <a:r>
              <a:rPr lang="en-US" sz="1300" dirty="0">
                <a:solidFill>
                  <a:schemeClr val="tx1"/>
                </a:solidFill>
              </a:rPr>
              <a:t>Pipeline Azure, traces conservées</a:t>
            </a:r>
            <a:endParaRPr lang="en-US" sz="1300" dirty="0"/>
          </a:p>
          <a:p>
            <a:pPr marL="342900" indent="-342900">
              <a:spcAft>
                <a:spcPts val="800"/>
              </a:spcAft>
              <a:buSzPct val="100000"/>
              <a:buChar char="•"/>
            </a:pPr>
            <a:r>
              <a:rPr lang="en-US" sz="1300" dirty="0">
                <a:solidFill>
                  <a:schemeClr val="tx1"/>
                </a:solidFill>
              </a:rPr>
              <a:t>Lien US, cas Test Plans et exécution</a:t>
            </a:r>
            <a:endParaRPr lang="en-US" sz="1300" dirty="0"/>
          </a:p>
          <a:p>
            <a:pPr marL="342900" indent="-342900">
              <a:spcAft>
                <a:spcPts val="800"/>
              </a:spcAft>
              <a:buSzPct val="100000"/>
              <a:buChar char="•"/>
            </a:pPr>
            <a:r>
              <a:rPr lang="en-US" sz="1300" dirty="0">
                <a:solidFill>
                  <a:schemeClr val="tx1"/>
                </a:solidFill>
              </a:rPr>
              <a:t>README, passation, bilan chiffré</a:t>
            </a:r>
            <a:endParaRPr lang="en-US" sz="1300" dirty="0"/>
          </a:p>
        </p:txBody>
      </p:sp>
      <p:sp>
        <p:nvSpPr>
          <p:cNvPr id="18" name="card"/>
          <p:cNvSpPr/>
          <p:nvPr/>
        </p:nvSpPr>
        <p:spPr>
          <a:xfrm>
            <a:off x="548640" y="4553712"/>
            <a:ext cx="11064240" cy="658368"/>
          </a:xfrm>
          <a:prstGeom prst="roundRect">
            <a:avLst>
              <a:gd name="adj" fmla="val 13889"/>
            </a:avLst>
          </a:prstGeom>
          <a:solidFill>
            <a:schemeClr val="tx2"/>
          </a:solidFill>
          <a:ln/>
        </p:spPr>
      </p:sp>
      <p:sp>
        <p:nvSpPr>
          <p:cNvPr id="19" name="Text 15"/>
          <p:cNvSpPr txBox="1"/>
          <p:nvPr/>
        </p:nvSpPr>
        <p:spPr>
          <a:xfrm>
            <a:off x="777240" y="4553712"/>
            <a:ext cx="10607040" cy="658368"/>
          </a:xfrm>
          <a:prstGeom prst="rect">
            <a:avLst/>
          </a:prstGeom>
          <a:noFill/>
          <a:ln/>
        </p:spPr>
        <p:txBody>
          <a:bodyPr wrap="square" lIns="0" tIns="0" rIns="0" bIns="0" rtlCol="0" anchor="ctr"/>
          <a:lstStyle/>
          <a:p>
            <a:pPr indent="0" marL="0">
              <a:buNone/>
            </a:pPr>
            <a:r>
              <a:rPr lang="en-US" sz="1400" b="1" dirty="0">
                <a:solidFill>
                  <a:schemeClr val="bg1"/>
                </a:solidFill>
              </a:rPr>
              <a:t>Durée proposée : </a:t>
            </a:r>
            <a:pPr indent="0" marL="0">
              <a:buNone/>
            </a:pPr>
            <a:r>
              <a:rPr lang="en-US" sz="1400" dirty="0">
                <a:solidFill>
                  <a:schemeClr val="bg1"/>
                </a:solidFill>
              </a:rPr>
              <a:t>2 sprints dès que les préconditions sont réunies. À la fin, une décision : GO, ADAPTER ou STOP.</a:t>
            </a:r>
            <a:endParaRPr lang="en-US" sz="1400" dirty="0"/>
          </a:p>
        </p:txBody>
      </p:sp>
      <p:sp>
        <p:nvSpPr>
          <p:cNvPr id="20" name="box"/>
          <p:cNvSpPr/>
          <p:nvPr/>
        </p:nvSpPr>
        <p:spPr>
          <a:xfrm>
            <a:off x="548640" y="5321808"/>
            <a:ext cx="11064240" cy="566928"/>
          </a:xfrm>
          <a:prstGeom prst="roundRect">
            <a:avLst>
              <a:gd name="adj" fmla="val 9677"/>
            </a:avLst>
          </a:prstGeom>
          <a:solidFill>
            <a:schemeClr val="accent5"/>
          </a:solidFill>
          <a:ln/>
        </p:spPr>
      </p:sp>
      <p:sp>
        <p:nvSpPr>
          <p:cNvPr id="21" name="Text 17"/>
          <p:cNvSpPr txBox="1"/>
          <p:nvPr/>
        </p:nvSpPr>
        <p:spPr>
          <a:xfrm>
            <a:off x="731520" y="5321808"/>
            <a:ext cx="10744200" cy="566928"/>
          </a:xfrm>
          <a:prstGeom prst="rect">
            <a:avLst/>
          </a:prstGeom>
          <a:noFill/>
          <a:ln/>
        </p:spPr>
        <p:txBody>
          <a:bodyPr wrap="square" lIns="0" tIns="0" rIns="0" bIns="0" rtlCol="0" anchor="ctr"/>
          <a:lstStyle/>
          <a:p>
            <a:pPr indent="0" marL="0">
              <a:buNone/>
            </a:pPr>
            <a:r>
              <a:rPr lang="en-US" sz="1250" b="1" dirty="0">
                <a:solidFill>
                  <a:srgbClr val="00338D"/>
                </a:solidFill>
              </a:rPr>
              <a:t>Critères de sortie : </a:t>
            </a:r>
            <a:pPr indent="0" marL="0">
              <a:buNone/>
            </a:pPr>
            <a:r>
              <a:rPr lang="en-US" sz="1250" dirty="0">
                <a:solidFill>
                  <a:schemeClr val="tx1"/>
                </a:solidFill>
              </a:rPr>
              <a:t>exécutions reproductibles · défauts détectés sur un oracle contrôlé · diagnostic exploitable · temps d'écriture et de maintenance mesurés · propriétaire de la suite désigné</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Objectifs et indicateurs : compter la confiance, pas les tests</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Aucune cible en nombre de tests ni en pourcentage automatisé : on mesure ce que la suite protège et ce qu'elle coûte, calibré pendant le POC.</a:t>
            </a:r>
            <a:endParaRPr lang="en-US" sz="1600" dirty="0"/>
          </a:p>
        </p:txBody>
      </p:sp>
      <p:sp>
        <p:nvSpPr>
          <p:cNvPr id="4" name="card"/>
          <p:cNvSpPr/>
          <p:nvPr/>
        </p:nvSpPr>
        <p:spPr>
          <a:xfrm>
            <a:off x="548640" y="1645920"/>
            <a:ext cx="3291840" cy="4206240"/>
          </a:xfrm>
          <a:prstGeom prst="roundRect">
            <a:avLst>
              <a:gd name="adj" fmla="val 2778"/>
            </a:avLst>
          </a:prstGeom>
          <a:solidFill>
            <a:schemeClr val="tx2"/>
          </a:solidFill>
          <a:ln/>
        </p:spPr>
      </p:sp>
      <p:sp>
        <p:nvSpPr>
          <p:cNvPr id="5" name="Text 3"/>
          <p:cNvSpPr txBox="1"/>
          <p:nvPr/>
        </p:nvSpPr>
        <p:spPr>
          <a:xfrm>
            <a:off x="777240" y="1783080"/>
            <a:ext cx="2834640" cy="365760"/>
          </a:xfrm>
          <a:prstGeom prst="rect">
            <a:avLst/>
          </a:prstGeom>
          <a:noFill/>
          <a:ln/>
        </p:spPr>
        <p:txBody>
          <a:bodyPr wrap="square" lIns="0" tIns="0" rIns="0" bIns="0" rtlCol="0" anchor="t"/>
          <a:lstStyle/>
          <a:p>
            <a:pPr indent="0" marL="0">
              <a:buNone/>
            </a:pPr>
            <a:r>
              <a:rPr lang="en-US" sz="1600" b="1" dirty="0">
                <a:solidFill>
                  <a:schemeClr val="bg1"/>
                </a:solidFill>
              </a:rPr>
              <a:t>L'objectif</a:t>
            </a:r>
            <a:endParaRPr lang="en-US" sz="1600" dirty="0"/>
          </a:p>
        </p:txBody>
      </p:sp>
      <p:sp>
        <p:nvSpPr>
          <p:cNvPr id="6" name="Text 4"/>
          <p:cNvSpPr txBox="1"/>
          <p:nvPr/>
        </p:nvSpPr>
        <p:spPr>
          <a:xfrm>
            <a:off x="777240" y="2240280"/>
            <a:ext cx="2880360" cy="1737360"/>
          </a:xfrm>
          <a:prstGeom prst="rect">
            <a:avLst/>
          </a:prstGeom>
          <a:noFill/>
          <a:ln/>
        </p:spPr>
        <p:txBody>
          <a:bodyPr wrap="square" lIns="0" tIns="0" rIns="0" bIns="0" rtlCol="0" anchor="t"/>
          <a:lstStyle/>
          <a:p>
            <a:pPr indent="0" marL="0">
              <a:buNone/>
            </a:pPr>
            <a:r>
              <a:rPr lang="en-US" sz="1600" dirty="0">
                <a:solidFill>
                  <a:schemeClr val="bg1"/>
                </a:solidFill>
              </a:rPr>
              <a:t>Une régression sur les droits, les statuts ou les formulaires est vue le lendemain de la livraison, pas en recette métier.</a:t>
            </a:r>
            <a:endParaRPr lang="en-US" sz="1600" dirty="0"/>
          </a:p>
        </p:txBody>
      </p:sp>
      <p:sp>
        <p:nvSpPr>
          <p:cNvPr id="7" name="separateur"/>
          <p:cNvSpPr/>
          <p:nvPr/>
        </p:nvSpPr>
        <p:spPr>
          <a:xfrm>
            <a:off x="777240" y="4114800"/>
            <a:ext cx="2834640" cy="0"/>
          </a:xfrm>
          <a:prstGeom prst="line">
            <a:avLst/>
          </a:prstGeom>
          <a:noFill/>
          <a:ln w="9525">
            <a:solidFill>
              <a:srgbClr val="B8D4F0"/>
            </a:solidFill>
            <a:prstDash val="solid"/>
          </a:ln>
        </p:spPr>
      </p:sp>
      <p:sp>
        <p:nvSpPr>
          <p:cNvPr id="8" name="Text 6"/>
          <p:cNvSpPr txBox="1"/>
          <p:nvPr/>
        </p:nvSpPr>
        <p:spPr>
          <a:xfrm>
            <a:off x="777240" y="4297680"/>
            <a:ext cx="2880360" cy="1280160"/>
          </a:xfrm>
          <a:prstGeom prst="rect">
            <a:avLst/>
          </a:prstGeom>
          <a:noFill/>
          <a:ln/>
        </p:spPr>
        <p:txBody>
          <a:bodyPr wrap="square" lIns="0" tIns="0" rIns="0" bIns="0" rtlCol="0" anchor="t"/>
          <a:lstStyle/>
          <a:p>
            <a:pPr indent="0" marL="0">
              <a:buNone/>
            </a:pPr>
            <a:r>
              <a:rPr lang="en-US" sz="1350" dirty="0">
                <a:solidFill>
                  <a:schemeClr val="accent3"/>
                </a:solidFill>
              </a:rPr>
              <a:t>Pour un coût de maintenance mesuré, et une suite qu'un propriétaire nommé peut reprendre après le 31/12.</a:t>
            </a:r>
            <a:endParaRPr lang="en-US" sz="1350" dirty="0"/>
          </a:p>
        </p:txBody>
      </p:sp>
      <p:graphicFrame>
        <p:nvGraphicFramePr>
          <p:cNvPr id="11" name="table-indicateurs"/>
          <p:cNvGraphicFramePr>
            <a:graphicFrameLocks noGrp="1"/>
          </p:cNvGraphicFramePr>
          <p:nvPr>
            <p:extLst>
              <p:ext uri="{D42A27DB-BD31-4B8C-83A1-F6EECF244321}">
                <p14:modId xmlns:p14="http://schemas.microsoft.com/office/powerpoint/2010/main" val="1579011935"/>
              </p:ext>
            </p:extLst>
          </p:nvPr>
        </p:nvGraphicFramePr>
        <p:xfrm>
          <a:off x="4069080" y="1645920"/>
          <a:ext cx="7543800" cy="914400"/>
        </p:xfrm>
        <a:graphic>
          <a:graphicData uri="http://schemas.openxmlformats.org/drawingml/2006/table">
            <a:tbl>
              <a:tblPr/>
              <a:tblGrid>
                <a:gridCol w="2148840"/>
                <a:gridCol w="3931920"/>
                <a:gridCol w="1463040"/>
              </a:tblGrid>
              <a:tr h="475488">
                <a:tc>
                  <a:txBody>
                    <a:bodyPr/>
                    <a:lstStyle/>
                    <a:p>
                      <a:pPr indent="0" marL="0">
                        <a:buNone/>
                      </a:pPr>
                      <a:r>
                        <a:rPr lang="en-US" sz="1200" b="1" dirty="0">
                          <a:solidFill>
                            <a:srgbClr val="FFFFFF"/>
                          </a:solidFill>
                        </a:rPr>
                        <a:t>Indicateur</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Cible proposée</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Où on le lit</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r>
              <a:tr h="475488">
                <a:tc>
                  <a:txBody>
                    <a:bodyPr/>
                    <a:lstStyle/>
                    <a:p>
                      <a:pPr indent="0" marL="0">
                        <a:buNone/>
                      </a:pPr>
                      <a:r>
                        <a:rPr lang="en-US" sz="1150" b="1" dirty="0">
                          <a:solidFill>
                            <a:srgbClr val="1A1A2E"/>
                          </a:solidFill>
                        </a:rPr>
                        <a:t>Smoke à chaque déploiement</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Sur 100 % des déploiements ITG et PREPROD, en quelques minutes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5F6B7A"/>
                          </a:solidFill>
                        </a:rPr>
                        <a:t>Azure Pipelines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475488">
                <a:tc>
                  <a:txBody>
                    <a:bodyPr/>
                    <a:lstStyle/>
                    <a:p>
                      <a:pPr indent="0" marL="0">
                        <a:buNone/>
                      </a:pPr>
                      <a:r>
                        <a:rPr lang="en-US" sz="1150" b="1" dirty="0">
                          <a:solidFill>
                            <a:srgbClr val="1A1A2E"/>
                          </a:solidFill>
                        </a:rPr>
                        <a:t>Tests instables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Sous 2 % des exécutions sur les 10 dernières nuits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5F6B7A"/>
                          </a:solidFill>
                        </a:rPr>
                        <a:t>Rapport Playwright</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A1A2E"/>
                          </a:solidFill>
                        </a:rPr>
                        <a:t>Défauts trouvés par la suite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Suivis par sprint ; rien sur plusieurs sprints : on réoriente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5F6B7A"/>
                          </a:solidFill>
                        </a:rPr>
                        <a:t>Bugs Azure DevOps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475488">
                <a:tc>
                  <a:txBody>
                    <a:bodyPr/>
                    <a:lstStyle/>
                    <a:p>
                      <a:pPr indent="0" marL="0">
                        <a:buNone/>
                      </a:pPr>
                      <a:r>
                        <a:rPr lang="en-US" sz="1150" b="1" dirty="0">
                          <a:solidFill>
                            <a:srgbClr val="1A1A2E"/>
                          </a:solidFill>
                        </a:rPr>
                        <a:t>Défauts échappés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Aucun en recette métier sur une règle couverte par la suite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5F6B7A"/>
                          </a:solidFill>
                        </a:rPr>
                        <a:t>Bugs Azure DevOps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A1A2E"/>
                          </a:solidFill>
                        </a:rPr>
                        <a:t>Temps de diagnostic d'un échec</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Mesuré au pilote ; trace et identifiant App Insights joints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5F6B7A"/>
                          </a:solidFill>
                        </a:rPr>
                        <a:t>Pilote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475488">
                <a:tc>
                  <a:txBody>
                    <a:bodyPr/>
                    <a:lstStyle/>
                    <a:p>
                      <a:pPr indent="0" marL="0">
                        <a:buNone/>
                      </a:pPr>
                      <a:r>
                        <a:rPr lang="en-US" sz="1150" b="1" dirty="0">
                          <a:solidFill>
                            <a:srgbClr val="1A1A2E"/>
                          </a:solidFill>
                        </a:rPr>
                        <a:t>Maintenance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Heures par sprint, comparées à l'estimation du ROI</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5F6B7A"/>
                          </a:solidFill>
                        </a:rPr>
                        <a:t>Pilote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A1A2E"/>
                          </a:solidFill>
                        </a:rPr>
                        <a:t>Traçabilité</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100 % des cas automatisés marqués et liés dans Test Plans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5F6B7A"/>
                          </a:solidFill>
                        </a:rPr>
                        <a:t>Test Plans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bl>
          </a:graphicData>
        </a:graphic>
      </p:graphicFrame>
      <p:sp>
        <p:nvSpPr>
          <p:cNvPr id="10" name="box"/>
          <p:cNvSpPr/>
          <p:nvPr/>
        </p:nvSpPr>
        <p:spPr>
          <a:xfrm>
            <a:off x="4069080" y="5486400"/>
            <a:ext cx="7543800" cy="365760"/>
          </a:xfrm>
          <a:prstGeom prst="roundRect">
            <a:avLst>
              <a:gd name="adj" fmla="val 15000"/>
            </a:avLst>
          </a:prstGeom>
          <a:solidFill>
            <a:srgbClr val="E6E9ED"/>
          </a:solidFill>
          <a:ln/>
        </p:spPr>
      </p:sp>
      <p:sp>
        <p:nvSpPr>
          <p:cNvPr id="11" name="Text 8"/>
          <p:cNvSpPr txBox="1"/>
          <p:nvPr/>
        </p:nvSpPr>
        <p:spPr>
          <a:xfrm>
            <a:off x="4206240" y="5486400"/>
            <a:ext cx="7315200" cy="365760"/>
          </a:xfrm>
          <a:prstGeom prst="rect">
            <a:avLst/>
          </a:prstGeom>
          <a:noFill/>
          <a:ln/>
        </p:spPr>
        <p:txBody>
          <a:bodyPr wrap="square" lIns="0" tIns="0" rIns="0" bIns="0" rtlCol="0" anchor="ctr"/>
          <a:lstStyle/>
          <a:p>
            <a:pPr indent="0" marL="0">
              <a:buNone/>
            </a:pPr>
            <a:r>
              <a:rPr lang="en-US" sz="1150" i="1" dirty="0">
                <a:solidFill>
                  <a:schemeClr val="accent4"/>
                </a:solidFill>
              </a:rPr>
              <a:t>Cibles proposées, à valider ensemble ; les seuils définitifs se fixent avec les mesures du pilote.</a:t>
            </a:r>
            <a:endParaRPr lang="en-US" sz="11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Suivre les livraisons, transmettre avant fin 2026</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Chaque fonctionnalité s'évalue au plus tôt un sprint après sa livraison, quand elle ne bouge plus.</a:t>
            </a:r>
            <a:endParaRPr lang="en-US" sz="1600" dirty="0"/>
          </a:p>
        </p:txBody>
      </p:sp>
      <p:sp>
        <p:nvSpPr>
          <p:cNvPr id="4" name="Text 2"/>
          <p:cNvSpPr txBox="1"/>
          <p:nvPr/>
        </p:nvSpPr>
        <p:spPr>
          <a:xfrm>
            <a:off x="2743200"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S4</a:t>
            </a:r>
            <a:endParaRPr lang="en-US" sz="1100" dirty="0"/>
          </a:p>
          <a:p>
            <a:pPr algn="ctr" indent="0" marL="0">
              <a:buNone/>
            </a:pPr>
            <a:r>
              <a:rPr lang="en-US" sz="900" dirty="0">
                <a:solidFill>
                  <a:schemeClr val="accent4"/>
                </a:solidFill>
              </a:rPr>
              <a:t>19/10</a:t>
            </a:r>
            <a:endParaRPr lang="en-US" sz="1100" dirty="0"/>
          </a:p>
        </p:txBody>
      </p:sp>
      <p:sp>
        <p:nvSpPr>
          <p:cNvPr id="5" name="grille"/>
          <p:cNvSpPr/>
          <p:nvPr/>
        </p:nvSpPr>
        <p:spPr>
          <a:xfrm>
            <a:off x="2743200" y="1965960"/>
            <a:ext cx="0" cy="2560320"/>
          </a:xfrm>
          <a:prstGeom prst="line">
            <a:avLst/>
          </a:prstGeom>
          <a:noFill/>
          <a:ln w="9525">
            <a:solidFill>
              <a:srgbClr val="D9E4F2"/>
            </a:solidFill>
            <a:prstDash val="solid"/>
          </a:ln>
        </p:spPr>
      </p:sp>
      <p:sp>
        <p:nvSpPr>
          <p:cNvPr id="6" name="Text 4"/>
          <p:cNvSpPr txBox="1"/>
          <p:nvPr/>
        </p:nvSpPr>
        <p:spPr>
          <a:xfrm>
            <a:off x="3730752"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S5</a:t>
            </a:r>
            <a:endParaRPr lang="en-US" sz="1100" dirty="0"/>
          </a:p>
          <a:p>
            <a:pPr algn="ctr" indent="0" marL="0">
              <a:buNone/>
            </a:pPr>
            <a:r>
              <a:rPr lang="en-US" sz="900" dirty="0">
                <a:solidFill>
                  <a:schemeClr val="accent4"/>
                </a:solidFill>
              </a:rPr>
              <a:t>02/11</a:t>
            </a:r>
            <a:endParaRPr lang="en-US" sz="1100" dirty="0"/>
          </a:p>
        </p:txBody>
      </p:sp>
      <p:sp>
        <p:nvSpPr>
          <p:cNvPr id="7" name="grille"/>
          <p:cNvSpPr/>
          <p:nvPr/>
        </p:nvSpPr>
        <p:spPr>
          <a:xfrm>
            <a:off x="3730752" y="1965960"/>
            <a:ext cx="0" cy="2560320"/>
          </a:xfrm>
          <a:prstGeom prst="line">
            <a:avLst/>
          </a:prstGeom>
          <a:noFill/>
          <a:ln w="9525">
            <a:solidFill>
              <a:srgbClr val="D9E4F2"/>
            </a:solidFill>
            <a:prstDash val="solid"/>
          </a:ln>
        </p:spPr>
      </p:sp>
      <p:sp>
        <p:nvSpPr>
          <p:cNvPr id="8" name="Text 6"/>
          <p:cNvSpPr txBox="1"/>
          <p:nvPr/>
        </p:nvSpPr>
        <p:spPr>
          <a:xfrm>
            <a:off x="4718304"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S6</a:t>
            </a:r>
            <a:endParaRPr lang="en-US" sz="1100" dirty="0"/>
          </a:p>
          <a:p>
            <a:pPr algn="ctr" indent="0" marL="0">
              <a:buNone/>
            </a:pPr>
            <a:r>
              <a:rPr lang="en-US" sz="900" dirty="0">
                <a:solidFill>
                  <a:schemeClr val="accent4"/>
                </a:solidFill>
              </a:rPr>
              <a:t>16/11</a:t>
            </a:r>
            <a:endParaRPr lang="en-US" sz="1100" dirty="0"/>
          </a:p>
        </p:txBody>
      </p:sp>
      <p:sp>
        <p:nvSpPr>
          <p:cNvPr id="9" name="grille"/>
          <p:cNvSpPr/>
          <p:nvPr/>
        </p:nvSpPr>
        <p:spPr>
          <a:xfrm>
            <a:off x="4718304" y="1965960"/>
            <a:ext cx="0" cy="2560320"/>
          </a:xfrm>
          <a:prstGeom prst="line">
            <a:avLst/>
          </a:prstGeom>
          <a:noFill/>
          <a:ln w="9525">
            <a:solidFill>
              <a:srgbClr val="D9E4F2"/>
            </a:solidFill>
            <a:prstDash val="solid"/>
          </a:ln>
        </p:spPr>
      </p:sp>
      <p:sp>
        <p:nvSpPr>
          <p:cNvPr id="10" name="Text 8"/>
          <p:cNvSpPr txBox="1"/>
          <p:nvPr/>
        </p:nvSpPr>
        <p:spPr>
          <a:xfrm>
            <a:off x="5705856"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S7</a:t>
            </a:r>
            <a:endParaRPr lang="en-US" sz="1100" dirty="0"/>
          </a:p>
          <a:p>
            <a:pPr algn="ctr" indent="0" marL="0">
              <a:buNone/>
            </a:pPr>
            <a:r>
              <a:rPr lang="en-US" sz="900" dirty="0">
                <a:solidFill>
                  <a:schemeClr val="accent4"/>
                </a:solidFill>
              </a:rPr>
              <a:t>30/11</a:t>
            </a:r>
            <a:endParaRPr lang="en-US" sz="1100" dirty="0"/>
          </a:p>
        </p:txBody>
      </p:sp>
      <p:sp>
        <p:nvSpPr>
          <p:cNvPr id="11" name="grille"/>
          <p:cNvSpPr/>
          <p:nvPr/>
        </p:nvSpPr>
        <p:spPr>
          <a:xfrm>
            <a:off x="5705856" y="1965960"/>
            <a:ext cx="0" cy="2560320"/>
          </a:xfrm>
          <a:prstGeom prst="line">
            <a:avLst/>
          </a:prstGeom>
          <a:noFill/>
          <a:ln w="9525">
            <a:solidFill>
              <a:srgbClr val="D9E4F2"/>
            </a:solidFill>
            <a:prstDash val="solid"/>
          </a:ln>
        </p:spPr>
      </p:sp>
      <p:sp>
        <p:nvSpPr>
          <p:cNvPr id="12" name="Text 10"/>
          <p:cNvSpPr txBox="1"/>
          <p:nvPr/>
        </p:nvSpPr>
        <p:spPr>
          <a:xfrm>
            <a:off x="6693408"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S8</a:t>
            </a:r>
            <a:endParaRPr lang="en-US" sz="1100" dirty="0"/>
          </a:p>
          <a:p>
            <a:pPr algn="ctr" indent="0" marL="0">
              <a:buNone/>
            </a:pPr>
            <a:r>
              <a:rPr lang="en-US" sz="900" dirty="0">
                <a:solidFill>
                  <a:schemeClr val="accent4"/>
                </a:solidFill>
              </a:rPr>
              <a:t>14/12</a:t>
            </a:r>
            <a:endParaRPr lang="en-US" sz="1100" dirty="0"/>
          </a:p>
        </p:txBody>
      </p:sp>
      <p:sp>
        <p:nvSpPr>
          <p:cNvPr id="13" name="grille"/>
          <p:cNvSpPr/>
          <p:nvPr/>
        </p:nvSpPr>
        <p:spPr>
          <a:xfrm>
            <a:off x="6693408" y="1965960"/>
            <a:ext cx="0" cy="2560320"/>
          </a:xfrm>
          <a:prstGeom prst="line">
            <a:avLst/>
          </a:prstGeom>
          <a:noFill/>
          <a:ln w="9525">
            <a:solidFill>
              <a:srgbClr val="D9E4F2"/>
            </a:solidFill>
            <a:prstDash val="solid"/>
          </a:ln>
        </p:spPr>
      </p:sp>
      <p:sp>
        <p:nvSpPr>
          <p:cNvPr id="14" name="Text 12"/>
          <p:cNvSpPr txBox="1"/>
          <p:nvPr/>
        </p:nvSpPr>
        <p:spPr>
          <a:xfrm>
            <a:off x="7680960"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S9</a:t>
            </a:r>
            <a:endParaRPr lang="en-US" sz="1100" dirty="0"/>
          </a:p>
          <a:p>
            <a:pPr algn="ctr" indent="0" marL="0">
              <a:buNone/>
            </a:pPr>
            <a:r>
              <a:rPr lang="en-US" sz="900" dirty="0">
                <a:solidFill>
                  <a:schemeClr val="accent4"/>
                </a:solidFill>
              </a:rPr>
              <a:t>janv.</a:t>
            </a:r>
            <a:endParaRPr lang="en-US" sz="1100" dirty="0"/>
          </a:p>
        </p:txBody>
      </p:sp>
      <p:sp>
        <p:nvSpPr>
          <p:cNvPr id="15" name="grille"/>
          <p:cNvSpPr/>
          <p:nvPr/>
        </p:nvSpPr>
        <p:spPr>
          <a:xfrm>
            <a:off x="7680960" y="1965960"/>
            <a:ext cx="0" cy="2560320"/>
          </a:xfrm>
          <a:prstGeom prst="line">
            <a:avLst/>
          </a:prstGeom>
          <a:noFill/>
          <a:ln w="9525">
            <a:solidFill>
              <a:srgbClr val="D9E4F2"/>
            </a:solidFill>
            <a:prstDash val="solid"/>
          </a:ln>
        </p:spPr>
      </p:sp>
      <p:sp>
        <p:nvSpPr>
          <p:cNvPr id="16" name="Text 14"/>
          <p:cNvSpPr txBox="1"/>
          <p:nvPr/>
        </p:nvSpPr>
        <p:spPr>
          <a:xfrm>
            <a:off x="8668512"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S10</a:t>
            </a:r>
            <a:endParaRPr lang="en-US" sz="1100" dirty="0"/>
          </a:p>
          <a:p>
            <a:pPr algn="ctr" indent="0" marL="0">
              <a:buNone/>
            </a:pPr>
            <a:r>
              <a:rPr lang="en-US" sz="900" dirty="0">
                <a:solidFill>
                  <a:schemeClr val="accent4"/>
                </a:solidFill>
              </a:rPr>
              <a:t>11/01</a:t>
            </a:r>
            <a:endParaRPr lang="en-US" sz="1100" dirty="0"/>
          </a:p>
        </p:txBody>
      </p:sp>
      <p:sp>
        <p:nvSpPr>
          <p:cNvPr id="17" name="grille"/>
          <p:cNvSpPr/>
          <p:nvPr/>
        </p:nvSpPr>
        <p:spPr>
          <a:xfrm>
            <a:off x="8668512" y="1965960"/>
            <a:ext cx="0" cy="2560320"/>
          </a:xfrm>
          <a:prstGeom prst="line">
            <a:avLst/>
          </a:prstGeom>
          <a:noFill/>
          <a:ln w="9525">
            <a:solidFill>
              <a:srgbClr val="D9E4F2"/>
            </a:solidFill>
            <a:prstDash val="solid"/>
          </a:ln>
        </p:spPr>
      </p:sp>
      <p:sp>
        <p:nvSpPr>
          <p:cNvPr id="18" name="Text 16"/>
          <p:cNvSpPr txBox="1"/>
          <p:nvPr/>
        </p:nvSpPr>
        <p:spPr>
          <a:xfrm>
            <a:off x="9656064"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S11</a:t>
            </a:r>
            <a:endParaRPr lang="en-US" sz="1100" dirty="0"/>
          </a:p>
          <a:p>
            <a:pPr algn="ctr" indent="0" marL="0">
              <a:buNone/>
            </a:pPr>
            <a:r>
              <a:rPr lang="en-US" sz="900" dirty="0">
                <a:solidFill>
                  <a:schemeClr val="accent4"/>
                </a:solidFill>
              </a:rPr>
              <a:t>25/01</a:t>
            </a:r>
            <a:endParaRPr lang="en-US" sz="1100" dirty="0"/>
          </a:p>
        </p:txBody>
      </p:sp>
      <p:sp>
        <p:nvSpPr>
          <p:cNvPr id="19" name="grille"/>
          <p:cNvSpPr/>
          <p:nvPr/>
        </p:nvSpPr>
        <p:spPr>
          <a:xfrm>
            <a:off x="9656064" y="1965960"/>
            <a:ext cx="0" cy="2560320"/>
          </a:xfrm>
          <a:prstGeom prst="line">
            <a:avLst/>
          </a:prstGeom>
          <a:noFill/>
          <a:ln w="9525">
            <a:solidFill>
              <a:srgbClr val="D9E4F2"/>
            </a:solidFill>
            <a:prstDash val="solid"/>
          </a:ln>
        </p:spPr>
      </p:sp>
      <p:sp>
        <p:nvSpPr>
          <p:cNvPr id="20" name="Text 18"/>
          <p:cNvSpPr txBox="1"/>
          <p:nvPr/>
        </p:nvSpPr>
        <p:spPr>
          <a:xfrm>
            <a:off x="10643616" y="1536192"/>
            <a:ext cx="987552" cy="411480"/>
          </a:xfrm>
          <a:prstGeom prst="rect">
            <a:avLst/>
          </a:prstGeom>
          <a:noFill/>
          <a:ln/>
        </p:spPr>
        <p:txBody>
          <a:bodyPr wrap="square" lIns="0" tIns="0" rIns="0" bIns="0" rtlCol="0" anchor="t"/>
          <a:lstStyle/>
          <a:p>
            <a:pPr algn="ctr" indent="0" marL="0">
              <a:buNone/>
            </a:pPr>
            <a:r>
              <a:rPr lang="en-US" sz="1100" b="1" dirty="0">
                <a:solidFill>
                  <a:schemeClr val="accent4"/>
                </a:solidFill>
              </a:rPr>
              <a:t>Fév.</a:t>
            </a:r>
            <a:endParaRPr lang="en-US" sz="1100" dirty="0"/>
          </a:p>
          <a:p>
            <a:pPr algn="ctr" indent="0" marL="0">
              <a:buNone/>
            </a:pPr>
            <a:r>
              <a:rPr lang="en-US" sz="900" dirty="0">
                <a:solidFill>
                  <a:schemeClr val="accent4"/>
                </a:solidFill>
              </a:rPr>
              <a:t>mars</a:t>
            </a:r>
            <a:endParaRPr lang="en-US" sz="1100" dirty="0"/>
          </a:p>
        </p:txBody>
      </p:sp>
      <p:sp>
        <p:nvSpPr>
          <p:cNvPr id="21" name="grille"/>
          <p:cNvSpPr/>
          <p:nvPr/>
        </p:nvSpPr>
        <p:spPr>
          <a:xfrm>
            <a:off x="10643616" y="1965960"/>
            <a:ext cx="0" cy="2560320"/>
          </a:xfrm>
          <a:prstGeom prst="line">
            <a:avLst/>
          </a:prstGeom>
          <a:noFill/>
          <a:ln w="9525">
            <a:solidFill>
              <a:srgbClr val="D9E4F2"/>
            </a:solidFill>
            <a:prstDash val="solid"/>
          </a:ln>
        </p:spPr>
      </p:sp>
      <p:sp>
        <p:nvSpPr>
          <p:cNvPr id="22" name="grille"/>
          <p:cNvSpPr/>
          <p:nvPr/>
        </p:nvSpPr>
        <p:spPr>
          <a:xfrm>
            <a:off x="11631168" y="1965960"/>
            <a:ext cx="0" cy="2560320"/>
          </a:xfrm>
          <a:prstGeom prst="line">
            <a:avLst/>
          </a:prstGeom>
          <a:noFill/>
          <a:ln w="9525">
            <a:solidFill>
              <a:srgbClr val="D9E4F2"/>
            </a:solidFill>
            <a:prstDash val="solid"/>
          </a:ln>
        </p:spPr>
      </p:sp>
      <p:sp>
        <p:nvSpPr>
          <p:cNvPr id="23" name="Text 21"/>
          <p:cNvSpPr txBox="1"/>
          <p:nvPr/>
        </p:nvSpPr>
        <p:spPr>
          <a:xfrm>
            <a:off x="548640" y="1965960"/>
            <a:ext cx="2148840" cy="384048"/>
          </a:xfrm>
          <a:prstGeom prst="rect">
            <a:avLst/>
          </a:prstGeom>
          <a:noFill/>
          <a:ln/>
        </p:spPr>
        <p:txBody>
          <a:bodyPr wrap="square" lIns="0" tIns="0" rIns="0" bIns="0" rtlCol="0" anchor="ctr"/>
          <a:lstStyle/>
          <a:p>
            <a:pPr indent="0" marL="0">
              <a:buNone/>
            </a:pPr>
            <a:r>
              <a:rPr lang="en-US" sz="1200" b="1" i="1" dirty="0">
                <a:solidFill>
                  <a:schemeClr val="accent4"/>
                </a:solidFill>
              </a:rPr>
              <a:t>Projet : recette métier</a:t>
            </a:r>
            <a:endParaRPr lang="en-US" sz="1200" dirty="0"/>
          </a:p>
        </p:txBody>
      </p:sp>
      <p:sp>
        <p:nvSpPr>
          <p:cNvPr id="24" name="box"/>
          <p:cNvSpPr/>
          <p:nvPr/>
        </p:nvSpPr>
        <p:spPr>
          <a:xfrm>
            <a:off x="4745736" y="2020824"/>
            <a:ext cx="2907792" cy="274320"/>
          </a:xfrm>
          <a:prstGeom prst="roundRect">
            <a:avLst>
              <a:gd name="adj" fmla="val 20000"/>
            </a:avLst>
          </a:prstGeom>
          <a:solidFill>
            <a:srgbClr val="FBEFD5"/>
          </a:solidFill>
          <a:ln/>
        </p:spPr>
      </p:sp>
      <p:sp>
        <p:nvSpPr>
          <p:cNvPr id="25" name="Text 23"/>
          <p:cNvSpPr txBox="1"/>
          <p:nvPr/>
        </p:nvSpPr>
        <p:spPr>
          <a:xfrm>
            <a:off x="4718304" y="2020824"/>
            <a:ext cx="2962656" cy="274320"/>
          </a:xfrm>
          <a:prstGeom prst="rect">
            <a:avLst/>
          </a:prstGeom>
          <a:noFill/>
          <a:ln/>
        </p:spPr>
        <p:txBody>
          <a:bodyPr wrap="square" lIns="0" tIns="0" rIns="0" bIns="0" rtlCol="0" anchor="ctr"/>
          <a:lstStyle/>
          <a:p>
            <a:pPr algn="ctr" indent="0" marL="0">
              <a:buNone/>
            </a:pPr>
            <a:r>
              <a:rPr lang="en-US" sz="1000" b="1" dirty="0">
                <a:solidFill>
                  <a:srgbClr val="B7791F"/>
                </a:solidFill>
              </a:rPr>
              <a:t>Test métiers</a:t>
            </a:r>
            <a:endParaRPr lang="en-US" sz="1000" dirty="0"/>
          </a:p>
        </p:txBody>
      </p:sp>
      <p:sp>
        <p:nvSpPr>
          <p:cNvPr id="26" name="box"/>
          <p:cNvSpPr/>
          <p:nvPr/>
        </p:nvSpPr>
        <p:spPr>
          <a:xfrm>
            <a:off x="7708392" y="2020824"/>
            <a:ext cx="2907792" cy="274320"/>
          </a:xfrm>
          <a:prstGeom prst="roundRect">
            <a:avLst>
              <a:gd name="adj" fmla="val 20000"/>
            </a:avLst>
          </a:prstGeom>
          <a:solidFill>
            <a:srgbClr val="FBEFD5"/>
          </a:solidFill>
          <a:ln/>
        </p:spPr>
      </p:sp>
      <p:sp>
        <p:nvSpPr>
          <p:cNvPr id="27" name="Text 25"/>
          <p:cNvSpPr txBox="1"/>
          <p:nvPr/>
        </p:nvSpPr>
        <p:spPr>
          <a:xfrm>
            <a:off x="7680960" y="2020824"/>
            <a:ext cx="2962656" cy="274320"/>
          </a:xfrm>
          <a:prstGeom prst="rect">
            <a:avLst/>
          </a:prstGeom>
          <a:noFill/>
          <a:ln/>
        </p:spPr>
        <p:txBody>
          <a:bodyPr wrap="square" lIns="0" tIns="0" rIns="0" bIns="0" rtlCol="0" anchor="ctr"/>
          <a:lstStyle/>
          <a:p>
            <a:pPr algn="ctr" indent="0" marL="0">
              <a:buNone/>
            </a:pPr>
            <a:r>
              <a:rPr lang="en-US" sz="1000" b="1" dirty="0">
                <a:solidFill>
                  <a:srgbClr val="B7791F"/>
                </a:solidFill>
              </a:rPr>
              <a:t>Test métiers</a:t>
            </a:r>
            <a:endParaRPr lang="en-US" sz="1000" dirty="0"/>
          </a:p>
        </p:txBody>
      </p:sp>
      <p:sp>
        <p:nvSpPr>
          <p:cNvPr id="28" name="Text 26"/>
          <p:cNvSpPr txBox="1"/>
          <p:nvPr/>
        </p:nvSpPr>
        <p:spPr>
          <a:xfrm>
            <a:off x="548640" y="2386584"/>
            <a:ext cx="2148840" cy="384048"/>
          </a:xfrm>
          <a:prstGeom prst="rect">
            <a:avLst/>
          </a:prstGeom>
          <a:noFill/>
          <a:ln/>
        </p:spPr>
        <p:txBody>
          <a:bodyPr wrap="square" lIns="0" tIns="0" rIns="0" bIns="0" rtlCol="0" anchor="ctr"/>
          <a:lstStyle/>
          <a:p>
            <a:pPr indent="0" marL="0">
              <a:buNone/>
            </a:pPr>
            <a:r>
              <a:rPr lang="en-US" sz="1400" b="1" dirty="0">
                <a:solidFill>
                  <a:schemeClr val="tx2"/>
                </a:solidFill>
              </a:rPr>
              <a:t>1. Cadrage</a:t>
            </a:r>
            <a:endParaRPr lang="en-US" sz="1400" dirty="0"/>
          </a:p>
        </p:txBody>
      </p:sp>
      <p:sp>
        <p:nvSpPr>
          <p:cNvPr id="29" name="box"/>
          <p:cNvSpPr/>
          <p:nvPr/>
        </p:nvSpPr>
        <p:spPr>
          <a:xfrm>
            <a:off x="2743200" y="2414016"/>
            <a:ext cx="1975104" cy="347472"/>
          </a:xfrm>
          <a:prstGeom prst="roundRect">
            <a:avLst>
              <a:gd name="adj" fmla="val 15789"/>
            </a:avLst>
          </a:prstGeom>
          <a:solidFill>
            <a:schemeClr val="accent3"/>
          </a:solidFill>
          <a:ln/>
        </p:spPr>
      </p:sp>
      <p:sp>
        <p:nvSpPr>
          <p:cNvPr id="30" name="Text 28"/>
          <p:cNvSpPr txBox="1"/>
          <p:nvPr/>
        </p:nvSpPr>
        <p:spPr>
          <a:xfrm>
            <a:off x="2834640" y="2414016"/>
            <a:ext cx="4206240" cy="347472"/>
          </a:xfrm>
          <a:prstGeom prst="rect">
            <a:avLst/>
          </a:prstGeom>
          <a:noFill/>
          <a:ln/>
        </p:spPr>
        <p:txBody>
          <a:bodyPr wrap="square" lIns="0" tIns="0" rIns="0" bIns="0" rtlCol="0" anchor="ctr"/>
          <a:lstStyle/>
          <a:p>
            <a:pPr indent="0" marL="0">
              <a:buNone/>
            </a:pPr>
            <a:r>
              <a:rPr lang="en-US" sz="1150" b="1" dirty="0">
                <a:solidFill>
                  <a:schemeClr val="tx2"/>
                </a:solidFill>
              </a:rPr>
              <a:t>Critères validés, prérequis obtenus</a:t>
            </a:r>
            <a:endParaRPr lang="en-US" sz="1150" dirty="0"/>
          </a:p>
        </p:txBody>
      </p:sp>
      <p:sp>
        <p:nvSpPr>
          <p:cNvPr id="31" name="Text 29"/>
          <p:cNvSpPr txBox="1"/>
          <p:nvPr/>
        </p:nvSpPr>
        <p:spPr>
          <a:xfrm>
            <a:off x="548640" y="2807208"/>
            <a:ext cx="2148840" cy="384048"/>
          </a:xfrm>
          <a:prstGeom prst="rect">
            <a:avLst/>
          </a:prstGeom>
          <a:noFill/>
          <a:ln/>
        </p:spPr>
        <p:txBody>
          <a:bodyPr wrap="square" lIns="0" tIns="0" rIns="0" bIns="0" rtlCol="0" anchor="ctr"/>
          <a:lstStyle/>
          <a:p>
            <a:pPr indent="0" marL="0">
              <a:buNone/>
            </a:pPr>
            <a:r>
              <a:rPr lang="en-US" sz="1400" b="1" dirty="0">
                <a:solidFill>
                  <a:schemeClr val="tx2"/>
                </a:solidFill>
              </a:rPr>
              <a:t>2. POC, puis API</a:t>
            </a:r>
            <a:endParaRPr lang="en-US" sz="1400" dirty="0"/>
          </a:p>
        </p:txBody>
      </p:sp>
      <p:sp>
        <p:nvSpPr>
          <p:cNvPr id="32" name="box"/>
          <p:cNvSpPr/>
          <p:nvPr/>
        </p:nvSpPr>
        <p:spPr>
          <a:xfrm>
            <a:off x="7680960" y="2834640"/>
            <a:ext cx="2962656" cy="347472"/>
          </a:xfrm>
          <a:prstGeom prst="roundRect">
            <a:avLst>
              <a:gd name="adj" fmla="val 15789"/>
            </a:avLst>
          </a:prstGeom>
          <a:solidFill>
            <a:srgbClr val="E6E9ED"/>
          </a:solidFill>
          <a:ln/>
        </p:spPr>
      </p:sp>
      <p:sp>
        <p:nvSpPr>
          <p:cNvPr id="33" name="box"/>
          <p:cNvSpPr/>
          <p:nvPr/>
        </p:nvSpPr>
        <p:spPr>
          <a:xfrm>
            <a:off x="3730752" y="2834640"/>
            <a:ext cx="3950208" cy="347472"/>
          </a:xfrm>
          <a:prstGeom prst="roundRect">
            <a:avLst>
              <a:gd name="adj" fmla="val 15789"/>
            </a:avLst>
          </a:prstGeom>
          <a:solidFill>
            <a:schemeClr val="accent3"/>
          </a:solidFill>
          <a:ln/>
        </p:spPr>
      </p:sp>
      <p:sp>
        <p:nvSpPr>
          <p:cNvPr id="34" name="Text 32"/>
          <p:cNvSpPr txBox="1"/>
          <p:nvPr/>
        </p:nvSpPr>
        <p:spPr>
          <a:xfrm>
            <a:off x="3822192" y="2834640"/>
            <a:ext cx="6729984" cy="347472"/>
          </a:xfrm>
          <a:prstGeom prst="rect">
            <a:avLst/>
          </a:prstGeom>
          <a:noFill/>
          <a:ln/>
        </p:spPr>
        <p:txBody>
          <a:bodyPr wrap="square" lIns="0" tIns="0" rIns="0" bIns="0" rtlCol="0" anchor="ctr"/>
          <a:lstStyle/>
          <a:p>
            <a:pPr indent="0" marL="0">
              <a:buNone/>
            </a:pPr>
            <a:r>
              <a:rPr lang="en-US" sz="1150" b="1" dirty="0">
                <a:solidFill>
                  <a:schemeClr val="tx2"/>
                </a:solidFill>
              </a:rPr>
              <a:t>POC sur 2 sprints, puis tests API un sprint après chaque livraison stable</a:t>
            </a:r>
            <a:endParaRPr lang="en-US" sz="1150" dirty="0"/>
          </a:p>
        </p:txBody>
      </p:sp>
      <p:sp>
        <p:nvSpPr>
          <p:cNvPr id="35" name="Text 33"/>
          <p:cNvSpPr txBox="1"/>
          <p:nvPr/>
        </p:nvSpPr>
        <p:spPr>
          <a:xfrm>
            <a:off x="548640" y="3227832"/>
            <a:ext cx="2148840" cy="384048"/>
          </a:xfrm>
          <a:prstGeom prst="rect">
            <a:avLst/>
          </a:prstGeom>
          <a:noFill/>
          <a:ln/>
        </p:spPr>
        <p:txBody>
          <a:bodyPr wrap="square" lIns="0" tIns="0" rIns="0" bIns="0" rtlCol="0" anchor="ctr"/>
          <a:lstStyle/>
          <a:p>
            <a:pPr indent="0" marL="0">
              <a:buNone/>
            </a:pPr>
            <a:r>
              <a:rPr lang="en-US" sz="1400" b="1" dirty="0">
                <a:solidFill>
                  <a:schemeClr val="tx2"/>
                </a:solidFill>
              </a:rPr>
              <a:t>3. UI ciblée</a:t>
            </a:r>
            <a:endParaRPr lang="en-US" sz="1400" dirty="0"/>
          </a:p>
        </p:txBody>
      </p:sp>
      <p:sp>
        <p:nvSpPr>
          <p:cNvPr id="36" name="box"/>
          <p:cNvSpPr/>
          <p:nvPr/>
        </p:nvSpPr>
        <p:spPr>
          <a:xfrm>
            <a:off x="7680960" y="3255264"/>
            <a:ext cx="2962656" cy="347472"/>
          </a:xfrm>
          <a:prstGeom prst="roundRect">
            <a:avLst>
              <a:gd name="adj" fmla="val 15789"/>
            </a:avLst>
          </a:prstGeom>
          <a:solidFill>
            <a:srgbClr val="E6E9ED"/>
          </a:solidFill>
          <a:ln/>
        </p:spPr>
      </p:sp>
      <p:sp>
        <p:nvSpPr>
          <p:cNvPr id="37" name="Text 35"/>
          <p:cNvSpPr txBox="1"/>
          <p:nvPr/>
        </p:nvSpPr>
        <p:spPr>
          <a:xfrm>
            <a:off x="7772400" y="3255264"/>
            <a:ext cx="4206240" cy="347472"/>
          </a:xfrm>
          <a:prstGeom prst="rect">
            <a:avLst/>
          </a:prstGeom>
          <a:noFill/>
          <a:ln/>
        </p:spPr>
        <p:txBody>
          <a:bodyPr wrap="square" lIns="0" tIns="0" rIns="0" bIns="0" rtlCol="0" anchor="ctr"/>
          <a:lstStyle/>
          <a:p>
            <a:pPr indent="0" marL="0">
              <a:buNone/>
            </a:pPr>
            <a:r>
              <a:rPr lang="en-US" sz="1150" b="1" dirty="0">
                <a:solidFill>
                  <a:schemeClr val="tx2"/>
                </a:solidFill>
              </a:rPr>
              <a:t>Parcours de bout en bout, si l'écran est stable</a:t>
            </a:r>
            <a:endParaRPr lang="en-US" sz="1150" dirty="0"/>
          </a:p>
        </p:txBody>
      </p:sp>
      <p:sp>
        <p:nvSpPr>
          <p:cNvPr id="38" name="Text 36"/>
          <p:cNvSpPr txBox="1"/>
          <p:nvPr/>
        </p:nvSpPr>
        <p:spPr>
          <a:xfrm>
            <a:off x="548640" y="3648456"/>
            <a:ext cx="2148840" cy="384048"/>
          </a:xfrm>
          <a:prstGeom prst="rect">
            <a:avLst/>
          </a:prstGeom>
          <a:noFill/>
          <a:ln/>
        </p:spPr>
        <p:txBody>
          <a:bodyPr wrap="square" lIns="0" tIns="0" rIns="0" bIns="0" rtlCol="0" anchor="ctr"/>
          <a:lstStyle/>
          <a:p>
            <a:pPr indent="0" marL="0">
              <a:buNone/>
            </a:pPr>
            <a:r>
              <a:rPr lang="en-US" sz="1400" b="1" dirty="0">
                <a:solidFill>
                  <a:schemeClr val="tx2"/>
                </a:solidFill>
              </a:rPr>
              <a:t>4. CI et portes</a:t>
            </a:r>
            <a:endParaRPr lang="en-US" sz="1400" dirty="0"/>
          </a:p>
        </p:txBody>
      </p:sp>
      <p:sp>
        <p:nvSpPr>
          <p:cNvPr id="39" name="box"/>
          <p:cNvSpPr/>
          <p:nvPr/>
        </p:nvSpPr>
        <p:spPr>
          <a:xfrm>
            <a:off x="7680960" y="3675888"/>
            <a:ext cx="3950208" cy="347472"/>
          </a:xfrm>
          <a:prstGeom prst="roundRect">
            <a:avLst>
              <a:gd name="adj" fmla="val 15789"/>
            </a:avLst>
          </a:prstGeom>
          <a:solidFill>
            <a:srgbClr val="E6E9ED"/>
          </a:solidFill>
          <a:ln/>
        </p:spPr>
      </p:sp>
      <p:sp>
        <p:nvSpPr>
          <p:cNvPr id="40" name="box"/>
          <p:cNvSpPr/>
          <p:nvPr/>
        </p:nvSpPr>
        <p:spPr>
          <a:xfrm>
            <a:off x="4718304" y="3675888"/>
            <a:ext cx="2962656" cy="347472"/>
          </a:xfrm>
          <a:prstGeom prst="roundRect">
            <a:avLst>
              <a:gd name="adj" fmla="val 15789"/>
            </a:avLst>
          </a:prstGeom>
          <a:solidFill>
            <a:schemeClr val="accent3"/>
          </a:solidFill>
          <a:ln/>
        </p:spPr>
      </p:sp>
      <p:sp>
        <p:nvSpPr>
          <p:cNvPr id="41" name="Text 39"/>
          <p:cNvSpPr txBox="1"/>
          <p:nvPr/>
        </p:nvSpPr>
        <p:spPr>
          <a:xfrm>
            <a:off x="4809744" y="3675888"/>
            <a:ext cx="6729984" cy="347472"/>
          </a:xfrm>
          <a:prstGeom prst="rect">
            <a:avLst/>
          </a:prstGeom>
          <a:noFill/>
          <a:ln/>
        </p:spPr>
        <p:txBody>
          <a:bodyPr wrap="square" lIns="0" tIns="0" rIns="0" bIns="0" rtlCol="0" anchor="ctr"/>
          <a:lstStyle/>
          <a:p>
            <a:pPr indent="0" marL="0">
              <a:buNone/>
            </a:pPr>
            <a:r>
              <a:rPr lang="en-US" sz="1150" b="1" dirty="0">
                <a:solidFill>
                  <a:schemeClr val="tx2"/>
                </a:solidFill>
              </a:rPr>
              <a:t>Smoke à chaque déploiement, résultats dans Test Plans</a:t>
            </a:r>
            <a:endParaRPr lang="en-US" sz="1150" dirty="0"/>
          </a:p>
        </p:txBody>
      </p:sp>
      <p:sp>
        <p:nvSpPr>
          <p:cNvPr id="42" name="Text 40"/>
          <p:cNvSpPr txBox="1"/>
          <p:nvPr/>
        </p:nvSpPr>
        <p:spPr>
          <a:xfrm>
            <a:off x="548640" y="4069080"/>
            <a:ext cx="2148840" cy="384048"/>
          </a:xfrm>
          <a:prstGeom prst="rect">
            <a:avLst/>
          </a:prstGeom>
          <a:noFill/>
          <a:ln/>
        </p:spPr>
        <p:txBody>
          <a:bodyPr wrap="square" lIns="0" tIns="0" rIns="0" bIns="0" rtlCol="0" anchor="ctr"/>
          <a:lstStyle/>
          <a:p>
            <a:pPr indent="0" marL="0">
              <a:buNone/>
            </a:pPr>
            <a:r>
              <a:rPr lang="en-US" sz="1400" b="1" dirty="0">
                <a:solidFill>
                  <a:schemeClr val="tx2"/>
                </a:solidFill>
              </a:rPr>
              <a:t>5. Agents IA</a:t>
            </a:r>
            <a:endParaRPr lang="en-US" sz="1400" dirty="0"/>
          </a:p>
        </p:txBody>
      </p:sp>
      <p:sp>
        <p:nvSpPr>
          <p:cNvPr id="43" name="box"/>
          <p:cNvSpPr/>
          <p:nvPr/>
        </p:nvSpPr>
        <p:spPr>
          <a:xfrm>
            <a:off x="2743200" y="4096512"/>
            <a:ext cx="3950208" cy="347472"/>
          </a:xfrm>
          <a:prstGeom prst="roundRect">
            <a:avLst>
              <a:gd name="adj" fmla="val 15789"/>
            </a:avLst>
          </a:prstGeom>
          <a:solidFill>
            <a:schemeClr val="accent3"/>
          </a:solidFill>
          <a:ln/>
        </p:spPr>
      </p:sp>
      <p:sp>
        <p:nvSpPr>
          <p:cNvPr id="44" name="Text 42"/>
          <p:cNvSpPr txBox="1"/>
          <p:nvPr/>
        </p:nvSpPr>
        <p:spPr>
          <a:xfrm>
            <a:off x="2834640" y="4096512"/>
            <a:ext cx="4206240" cy="347472"/>
          </a:xfrm>
          <a:prstGeom prst="rect">
            <a:avLst/>
          </a:prstGeom>
          <a:noFill/>
          <a:ln/>
        </p:spPr>
        <p:txBody>
          <a:bodyPr wrap="square" lIns="0" tIns="0" rIns="0" bIns="0" rtlCol="0" anchor="ctr"/>
          <a:lstStyle/>
          <a:p>
            <a:pPr indent="0" marL="0">
              <a:buNone/>
            </a:pPr>
            <a:r>
              <a:rPr lang="en-US" sz="1150" b="1" dirty="0">
                <a:solidFill>
                  <a:schemeClr val="tx2"/>
                </a:solidFill>
              </a:rPr>
              <a:t>Chantier distinct, atelier dédié : ne bloque pas le POC</a:t>
            </a:r>
            <a:endParaRPr lang="en-US" sz="1150" dirty="0"/>
          </a:p>
        </p:txBody>
      </p:sp>
      <p:sp>
        <p:nvSpPr>
          <p:cNvPr id="45" name="box"/>
          <p:cNvSpPr/>
          <p:nvPr/>
        </p:nvSpPr>
        <p:spPr>
          <a:xfrm>
            <a:off x="548640" y="4645152"/>
            <a:ext cx="274320" cy="201168"/>
          </a:xfrm>
          <a:prstGeom prst="roundRect">
            <a:avLst>
              <a:gd name="adj" fmla="val 27273"/>
            </a:avLst>
          </a:prstGeom>
          <a:solidFill>
            <a:schemeClr val="accent3"/>
          </a:solidFill>
          <a:ln/>
        </p:spPr>
      </p:sp>
      <p:sp>
        <p:nvSpPr>
          <p:cNvPr id="46" name="Text 44"/>
          <p:cNvSpPr txBox="1"/>
          <p:nvPr/>
        </p:nvSpPr>
        <p:spPr>
          <a:xfrm>
            <a:off x="896112" y="4617720"/>
            <a:ext cx="2011680" cy="256032"/>
          </a:xfrm>
          <a:prstGeom prst="rect">
            <a:avLst/>
          </a:prstGeom>
          <a:noFill/>
          <a:ln/>
        </p:spPr>
        <p:txBody>
          <a:bodyPr wrap="square" lIns="0" tIns="0" rIns="0" bIns="0" rtlCol="0" anchor="ctr"/>
          <a:lstStyle/>
          <a:p>
            <a:pPr indent="0" marL="0">
              <a:buNone/>
            </a:pPr>
            <a:r>
              <a:rPr lang="en-US" sz="1000" dirty="0">
                <a:solidFill>
                  <a:schemeClr val="accent4"/>
                </a:solidFill>
              </a:rPr>
              <a:t>avant la passation</a:t>
            </a:r>
            <a:endParaRPr lang="en-US" sz="1000" dirty="0"/>
          </a:p>
        </p:txBody>
      </p:sp>
      <p:sp>
        <p:nvSpPr>
          <p:cNvPr id="47" name="box"/>
          <p:cNvSpPr/>
          <p:nvPr/>
        </p:nvSpPr>
        <p:spPr>
          <a:xfrm>
            <a:off x="548640" y="4937760"/>
            <a:ext cx="274320" cy="201168"/>
          </a:xfrm>
          <a:prstGeom prst="roundRect">
            <a:avLst>
              <a:gd name="adj" fmla="val 27273"/>
            </a:avLst>
          </a:prstGeom>
          <a:solidFill>
            <a:srgbClr val="E6E9ED"/>
          </a:solidFill>
          <a:ln/>
        </p:spPr>
      </p:sp>
      <p:sp>
        <p:nvSpPr>
          <p:cNvPr id="48" name="Text 46"/>
          <p:cNvSpPr txBox="1"/>
          <p:nvPr/>
        </p:nvSpPr>
        <p:spPr>
          <a:xfrm>
            <a:off x="896112" y="4910328"/>
            <a:ext cx="2103120" cy="256032"/>
          </a:xfrm>
          <a:prstGeom prst="rect">
            <a:avLst/>
          </a:prstGeom>
          <a:noFill/>
          <a:ln/>
        </p:spPr>
        <p:txBody>
          <a:bodyPr wrap="square" lIns="0" tIns="0" rIns="0" bIns="0" rtlCol="0" anchor="ctr"/>
          <a:lstStyle/>
          <a:p>
            <a:pPr indent="0" marL="0">
              <a:buNone/>
            </a:pPr>
            <a:r>
              <a:rPr lang="en-US" sz="1000" dirty="0">
                <a:solidFill>
                  <a:schemeClr val="accent4"/>
                </a:solidFill>
              </a:rPr>
              <a:t>porté par le propriétaire nommé</a:t>
            </a:r>
            <a:endParaRPr lang="en-US" sz="1000" dirty="0"/>
          </a:p>
        </p:txBody>
      </p:sp>
      <p:sp>
        <p:nvSpPr>
          <p:cNvPr id="49" name="axe"/>
          <p:cNvSpPr/>
          <p:nvPr/>
        </p:nvSpPr>
        <p:spPr>
          <a:xfrm>
            <a:off x="2743200" y="4754880"/>
            <a:ext cx="9070848" cy="0"/>
          </a:xfrm>
          <a:prstGeom prst="line">
            <a:avLst/>
          </a:prstGeom>
          <a:noFill/>
          <a:ln w="15875">
            <a:solidFill>
              <a:srgbClr val="5F6B7A"/>
            </a:solidFill>
            <a:prstDash val="solid"/>
            <a:tailEnd type="triangle"/>
          </a:ln>
        </p:spPr>
      </p:sp>
      <p:sp>
        <p:nvSpPr>
          <p:cNvPr id="50" name="jalon"/>
          <p:cNvSpPr/>
          <p:nvPr/>
        </p:nvSpPr>
        <p:spPr>
          <a:xfrm>
            <a:off x="7543800" y="4617720"/>
            <a:ext cx="274320" cy="274320"/>
          </a:xfrm>
          <a:prstGeom prst="diamond">
            <a:avLst/>
          </a:prstGeom>
          <a:solidFill>
            <a:srgbClr val="5F6B7A"/>
          </a:solidFill>
          <a:ln/>
        </p:spPr>
      </p:sp>
      <p:sp>
        <p:nvSpPr>
          <p:cNvPr id="51" name="Text 49"/>
          <p:cNvSpPr txBox="1"/>
          <p:nvPr/>
        </p:nvSpPr>
        <p:spPr>
          <a:xfrm>
            <a:off x="5852160" y="4919472"/>
            <a:ext cx="3657600" cy="274320"/>
          </a:xfrm>
          <a:prstGeom prst="rect">
            <a:avLst/>
          </a:prstGeom>
          <a:noFill/>
          <a:ln/>
        </p:spPr>
        <p:txBody>
          <a:bodyPr wrap="square" lIns="0" tIns="0" rIns="0" bIns="0" rtlCol="0" anchor="t"/>
          <a:lstStyle/>
          <a:p>
            <a:pPr algn="ctr" indent="0" marL="0">
              <a:buNone/>
            </a:pPr>
            <a:r>
              <a:rPr lang="en-US" sz="1200" b="1" dirty="0">
                <a:solidFill>
                  <a:srgbClr val="00338D"/>
                </a:solidFill>
              </a:rPr>
              <a:t>Passation de la suite · </a:t>
            </a:r>
            <a:pPr algn="ctr" indent="0" marL="0">
              <a:buNone/>
            </a:pPr>
            <a:r>
              <a:rPr lang="en-US" sz="1200" dirty="0">
                <a:solidFill>
                  <a:srgbClr val="5F6B7A"/>
                </a:solidFill>
              </a:rPr>
              <a:t>fin décembre 2026</a:t>
            </a:r>
            <a:endParaRPr lang="en-US" sz="1200" dirty="0"/>
          </a:p>
        </p:txBody>
      </p:sp>
      <p:sp>
        <p:nvSpPr>
          <p:cNvPr id="52" name="jalon"/>
          <p:cNvSpPr/>
          <p:nvPr/>
        </p:nvSpPr>
        <p:spPr>
          <a:xfrm>
            <a:off x="11296498" y="4617720"/>
            <a:ext cx="274320" cy="274320"/>
          </a:xfrm>
          <a:prstGeom prst="diamond">
            <a:avLst/>
          </a:prstGeom>
          <a:solidFill>
            <a:srgbClr val="005EB8"/>
          </a:solidFill>
          <a:ln/>
        </p:spPr>
      </p:sp>
      <p:sp>
        <p:nvSpPr>
          <p:cNvPr id="53" name="Text 51"/>
          <p:cNvSpPr txBox="1"/>
          <p:nvPr/>
        </p:nvSpPr>
        <p:spPr>
          <a:xfrm>
            <a:off x="7955280" y="4919472"/>
            <a:ext cx="3657600" cy="274320"/>
          </a:xfrm>
          <a:prstGeom prst="rect">
            <a:avLst/>
          </a:prstGeom>
          <a:noFill/>
          <a:ln/>
        </p:spPr>
        <p:txBody>
          <a:bodyPr wrap="square" lIns="0" tIns="0" rIns="0" bIns="0" rtlCol="0" anchor="t"/>
          <a:lstStyle/>
          <a:p>
            <a:pPr algn="r" indent="0" marL="0">
              <a:buNone/>
            </a:pPr>
            <a:r>
              <a:rPr lang="en-US" sz="1200" b="1" dirty="0">
                <a:solidFill>
                  <a:srgbClr val="00338D"/>
                </a:solidFill>
              </a:rPr>
              <a:t>Mise en production · </a:t>
            </a:r>
            <a:pPr algn="r" indent="0" marL="0">
              <a:buNone/>
            </a:pPr>
            <a:r>
              <a:rPr lang="en-US" sz="1200" dirty="0">
                <a:solidFill>
                  <a:srgbClr val="5F6B7A"/>
                </a:solidFill>
              </a:rPr>
              <a:t>mars 2027</a:t>
            </a:r>
            <a:endParaRPr lang="en-US" sz="1200" dirty="0"/>
          </a:p>
        </p:txBody>
      </p:sp>
      <p:sp>
        <p:nvSpPr>
          <p:cNvPr id="54" name="card"/>
          <p:cNvSpPr/>
          <p:nvPr/>
        </p:nvSpPr>
        <p:spPr>
          <a:xfrm>
            <a:off x="548640" y="5349240"/>
            <a:ext cx="11064240" cy="548640"/>
          </a:xfrm>
          <a:prstGeom prst="roundRect">
            <a:avLst>
              <a:gd name="adj" fmla="val 16667"/>
            </a:avLst>
          </a:prstGeom>
          <a:solidFill>
            <a:schemeClr val="tx2"/>
          </a:solidFill>
          <a:ln/>
        </p:spPr>
      </p:sp>
      <p:sp>
        <p:nvSpPr>
          <p:cNvPr id="55" name="Text 53"/>
          <p:cNvSpPr txBox="1"/>
          <p:nvPr/>
        </p:nvSpPr>
        <p:spPr>
          <a:xfrm>
            <a:off x="777240" y="5349240"/>
            <a:ext cx="10607040" cy="548640"/>
          </a:xfrm>
          <a:prstGeom prst="rect">
            <a:avLst/>
          </a:prstGeom>
          <a:noFill/>
          <a:ln/>
        </p:spPr>
        <p:txBody>
          <a:bodyPr wrap="square" lIns="0" tIns="0" rIns="0" bIns="0" rtlCol="0" anchor="ctr"/>
          <a:lstStyle/>
          <a:p>
            <a:pPr indent="0" marL="0">
              <a:buNone/>
            </a:pPr>
            <a:r>
              <a:rPr lang="en-US" sz="1300" b="1" dirty="0">
                <a:solidFill>
                  <a:schemeClr val="bg1"/>
                </a:solidFill>
              </a:rPr>
              <a:t>Mes deux prochaines semaines : </a:t>
            </a:r>
            <a:pPr indent="0" marL="0">
              <a:buNone/>
            </a:pPr>
            <a:r>
              <a:rPr lang="en-US" sz="1300" dirty="0">
                <a:solidFill>
                  <a:schemeClr val="bg1"/>
                </a:solidFill>
              </a:rPr>
              <a:t>critères d'entrée à valider ensemble · prérequis à obtenir : accès ITG, comptes par rôle, contrat OpenAPI · choix des 3 à 4 cas pilotes et de leur oracle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Décisions à obtenir avant de lancer le POC</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Une stratégie doit déboucher sur des arbitrages, pas seulement sur un accord de principe.</a:t>
            </a:r>
            <a:endParaRPr lang="en-US" sz="1600" dirty="0"/>
          </a:p>
        </p:txBody>
      </p:sp>
      <p:sp>
        <p:nvSpPr>
          <p:cNvPr id="4" name="card"/>
          <p:cNvSpPr/>
          <p:nvPr/>
        </p:nvSpPr>
        <p:spPr>
          <a:xfrm>
            <a:off x="548640" y="1645920"/>
            <a:ext cx="5440680" cy="1874520"/>
          </a:xfrm>
          <a:prstGeom prst="roundRect">
            <a:avLst>
              <a:gd name="adj" fmla="val 4878"/>
            </a:avLst>
          </a:prstGeom>
          <a:solidFill>
            <a:schemeClr val="bg2"/>
          </a:solidFill>
          <a:ln/>
        </p:spPr>
      </p:sp>
      <p:sp>
        <p:nvSpPr>
          <p:cNvPr id="5" name="num"/>
          <p:cNvSpPr/>
          <p:nvPr/>
        </p:nvSpPr>
        <p:spPr>
          <a:xfrm>
            <a:off x="749808" y="1828800"/>
            <a:ext cx="420624" cy="420624"/>
          </a:xfrm>
          <a:prstGeom prst="ellipse">
            <a:avLst/>
          </a:prstGeom>
          <a:solidFill>
            <a:schemeClr val="accent1"/>
          </a:solidFill>
          <a:ln/>
        </p:spPr>
      </p:sp>
      <p:sp>
        <p:nvSpPr>
          <p:cNvPr id="6" name="Text 4"/>
          <p:cNvSpPr txBox="1"/>
          <p:nvPr/>
        </p:nvSpPr>
        <p:spPr>
          <a:xfrm>
            <a:off x="749808" y="18288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325880" y="1828800"/>
            <a:ext cx="4480560" cy="420624"/>
          </a:xfrm>
          <a:prstGeom prst="rect">
            <a:avLst/>
          </a:prstGeom>
          <a:noFill/>
          <a:ln/>
        </p:spPr>
        <p:txBody>
          <a:bodyPr wrap="square" lIns="0" tIns="0" rIns="0" bIns="0" rtlCol="0" anchor="ctr"/>
          <a:lstStyle/>
          <a:p>
            <a:pPr indent="0" marL="0">
              <a:buNone/>
            </a:pPr>
            <a:r>
              <a:rPr lang="en-US" sz="1600" b="1" dirty="0">
                <a:solidFill>
                  <a:schemeClr val="tx2"/>
                </a:solidFill>
              </a:rPr>
              <a:t>Périmètre et priorité</a:t>
            </a:r>
            <a:endParaRPr lang="en-US" sz="1600" dirty="0"/>
          </a:p>
        </p:txBody>
      </p:sp>
      <p:sp>
        <p:nvSpPr>
          <p:cNvPr id="8" name="Text 6"/>
          <p:cNvSpPr txBox="1"/>
          <p:nvPr/>
        </p:nvSpPr>
        <p:spPr>
          <a:xfrm>
            <a:off x="822960" y="2377440"/>
            <a:ext cx="4937760" cy="731520"/>
          </a:xfrm>
          <a:prstGeom prst="rect">
            <a:avLst/>
          </a:prstGeom>
          <a:noFill/>
          <a:ln/>
        </p:spPr>
        <p:txBody>
          <a:bodyPr wrap="square" lIns="0" tIns="0" rIns="0" bIns="0" rtlCol="0" anchor="t"/>
          <a:lstStyle/>
          <a:p>
            <a:pPr indent="0" marL="0">
              <a:buNone/>
            </a:pPr>
            <a:r>
              <a:rPr lang="en-US" sz="1300" dirty="0">
                <a:solidFill>
                  <a:schemeClr val="tx1"/>
                </a:solidFill>
              </a:rPr>
              <a:t>Valider les 3 à 4 cas pilotes (droit, statut, smoke, UI éventuelle), leur oracle et l'US de référence.</a:t>
            </a:r>
            <a:endParaRPr lang="en-US" sz="1300" dirty="0"/>
          </a:p>
        </p:txBody>
      </p:sp>
      <p:sp>
        <p:nvSpPr>
          <p:cNvPr id="9" name="Text 7"/>
          <p:cNvSpPr txBox="1"/>
          <p:nvPr/>
        </p:nvSpPr>
        <p:spPr>
          <a:xfrm>
            <a:off x="822960" y="3108960"/>
            <a:ext cx="4937760" cy="292608"/>
          </a:xfrm>
          <a:prstGeom prst="rect">
            <a:avLst/>
          </a:prstGeom>
          <a:noFill/>
          <a:ln/>
        </p:spPr>
        <p:txBody>
          <a:bodyPr wrap="square" lIns="0" tIns="0" rIns="0" bIns="0" rtlCol="0" anchor="t"/>
          <a:lstStyle/>
          <a:p>
            <a:pPr indent="0" marL="0">
              <a:buNone/>
            </a:pPr>
            <a:r>
              <a:rPr lang="en-US" sz="1150" b="1" dirty="0">
                <a:solidFill>
                  <a:srgbClr val="00338D"/>
                </a:solidFill>
              </a:rPr>
              <a:t>Avec : </a:t>
            </a:r>
            <a:pPr indent="0" marL="0">
              <a:buNone/>
            </a:pPr>
            <a:r>
              <a:rPr lang="en-US" sz="1150" dirty="0">
                <a:solidFill>
                  <a:srgbClr val="5F6B7A"/>
                </a:solidFill>
              </a:rPr>
              <a:t>Test Manager, PO</a:t>
            </a:r>
            <a:endParaRPr lang="en-US" sz="1150" dirty="0"/>
          </a:p>
        </p:txBody>
      </p:sp>
      <p:sp>
        <p:nvSpPr>
          <p:cNvPr id="10" name="card"/>
          <p:cNvSpPr/>
          <p:nvPr/>
        </p:nvSpPr>
        <p:spPr>
          <a:xfrm>
            <a:off x="6172200" y="1645920"/>
            <a:ext cx="5440680" cy="1874520"/>
          </a:xfrm>
          <a:prstGeom prst="roundRect">
            <a:avLst>
              <a:gd name="adj" fmla="val 4878"/>
            </a:avLst>
          </a:prstGeom>
          <a:solidFill>
            <a:schemeClr val="bg2"/>
          </a:solidFill>
          <a:ln/>
        </p:spPr>
      </p:sp>
      <p:sp>
        <p:nvSpPr>
          <p:cNvPr id="11" name="num"/>
          <p:cNvSpPr/>
          <p:nvPr/>
        </p:nvSpPr>
        <p:spPr>
          <a:xfrm>
            <a:off x="6373368" y="1828800"/>
            <a:ext cx="420624" cy="420624"/>
          </a:xfrm>
          <a:prstGeom prst="ellipse">
            <a:avLst/>
          </a:prstGeom>
          <a:solidFill>
            <a:schemeClr val="accent1"/>
          </a:solidFill>
          <a:ln/>
        </p:spPr>
      </p:sp>
      <p:sp>
        <p:nvSpPr>
          <p:cNvPr id="12" name="Text 10"/>
          <p:cNvSpPr txBox="1"/>
          <p:nvPr/>
        </p:nvSpPr>
        <p:spPr>
          <a:xfrm>
            <a:off x="6373368" y="18288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1"/>
          <p:cNvSpPr txBox="1"/>
          <p:nvPr/>
        </p:nvSpPr>
        <p:spPr>
          <a:xfrm>
            <a:off x="6949440" y="1828800"/>
            <a:ext cx="4480560" cy="420624"/>
          </a:xfrm>
          <a:prstGeom prst="rect">
            <a:avLst/>
          </a:prstGeom>
          <a:noFill/>
          <a:ln/>
        </p:spPr>
        <p:txBody>
          <a:bodyPr wrap="square" lIns="0" tIns="0" rIns="0" bIns="0" rtlCol="0" anchor="ctr"/>
          <a:lstStyle/>
          <a:p>
            <a:pPr indent="0" marL="0">
              <a:buNone/>
            </a:pPr>
            <a:r>
              <a:rPr lang="en-US" sz="1600" b="1" dirty="0">
                <a:solidFill>
                  <a:schemeClr val="tx2"/>
                </a:solidFill>
              </a:rPr>
              <a:t>Accès et sécurité</a:t>
            </a:r>
            <a:endParaRPr lang="en-US" sz="1600" dirty="0"/>
          </a:p>
        </p:txBody>
      </p:sp>
      <p:sp>
        <p:nvSpPr>
          <p:cNvPr id="14" name="Text 12"/>
          <p:cNvSpPr txBox="1"/>
          <p:nvPr/>
        </p:nvSpPr>
        <p:spPr>
          <a:xfrm>
            <a:off x="6446520" y="2377440"/>
            <a:ext cx="4937760" cy="731520"/>
          </a:xfrm>
          <a:prstGeom prst="rect">
            <a:avLst/>
          </a:prstGeom>
          <a:noFill/>
          <a:ln/>
        </p:spPr>
        <p:txBody>
          <a:bodyPr wrap="square" lIns="0" tIns="0" rIns="0" bIns="0" rtlCol="0" anchor="t"/>
          <a:lstStyle/>
          <a:p>
            <a:pPr indent="0" marL="0">
              <a:buNone/>
            </a:pPr>
            <a:r>
              <a:rPr lang="en-US" sz="1300" dirty="0">
                <a:solidFill>
                  <a:schemeClr val="tx1"/>
                </a:solidFill>
              </a:rPr>
              <a:t>ITG depuis le runner, contrat OpenAPI, comptes de test par rôle, secrets, règles sur les données de test.</a:t>
            </a:r>
            <a:endParaRPr lang="en-US" sz="1300" dirty="0"/>
          </a:p>
        </p:txBody>
      </p:sp>
      <p:sp>
        <p:nvSpPr>
          <p:cNvPr id="15" name="Text 13"/>
          <p:cNvSpPr txBox="1"/>
          <p:nvPr/>
        </p:nvSpPr>
        <p:spPr>
          <a:xfrm>
            <a:off x="6446520" y="3108960"/>
            <a:ext cx="4937760" cy="292608"/>
          </a:xfrm>
          <a:prstGeom prst="rect">
            <a:avLst/>
          </a:prstGeom>
          <a:noFill/>
          <a:ln/>
        </p:spPr>
        <p:txBody>
          <a:bodyPr wrap="square" lIns="0" tIns="0" rIns="0" bIns="0" rtlCol="0" anchor="t"/>
          <a:lstStyle/>
          <a:p>
            <a:pPr indent="0" marL="0">
              <a:buNone/>
            </a:pPr>
            <a:r>
              <a:rPr lang="en-US" sz="1150" b="1" dirty="0">
                <a:solidFill>
                  <a:srgbClr val="00338D"/>
                </a:solidFill>
              </a:rPr>
              <a:t>Avec : </a:t>
            </a:r>
            <a:pPr indent="0" marL="0">
              <a:buNone/>
            </a:pPr>
            <a:r>
              <a:rPr lang="en-US" sz="1150" dirty="0">
                <a:solidFill>
                  <a:srgbClr val="5F6B7A"/>
                </a:solidFill>
              </a:rPr>
              <a:t>Équipe projet, sécurité</a:t>
            </a:r>
            <a:endParaRPr lang="en-US" sz="1150" dirty="0"/>
          </a:p>
        </p:txBody>
      </p:sp>
      <p:sp>
        <p:nvSpPr>
          <p:cNvPr id="16" name="card"/>
          <p:cNvSpPr/>
          <p:nvPr/>
        </p:nvSpPr>
        <p:spPr>
          <a:xfrm>
            <a:off x="548640" y="3703320"/>
            <a:ext cx="5440680" cy="1874520"/>
          </a:xfrm>
          <a:prstGeom prst="roundRect">
            <a:avLst>
              <a:gd name="adj" fmla="val 4878"/>
            </a:avLst>
          </a:prstGeom>
          <a:solidFill>
            <a:schemeClr val="bg2"/>
          </a:solidFill>
          <a:ln/>
        </p:spPr>
      </p:sp>
      <p:sp>
        <p:nvSpPr>
          <p:cNvPr id="17" name="num"/>
          <p:cNvSpPr/>
          <p:nvPr/>
        </p:nvSpPr>
        <p:spPr>
          <a:xfrm>
            <a:off x="749808" y="3886200"/>
            <a:ext cx="420624" cy="420624"/>
          </a:xfrm>
          <a:prstGeom prst="ellipse">
            <a:avLst/>
          </a:prstGeom>
          <a:solidFill>
            <a:schemeClr val="accent1"/>
          </a:solidFill>
          <a:ln/>
        </p:spPr>
      </p:sp>
      <p:sp>
        <p:nvSpPr>
          <p:cNvPr id="18" name="Text 16"/>
          <p:cNvSpPr txBox="1"/>
          <p:nvPr/>
        </p:nvSpPr>
        <p:spPr>
          <a:xfrm>
            <a:off x="749808" y="38862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7"/>
          <p:cNvSpPr txBox="1"/>
          <p:nvPr/>
        </p:nvSpPr>
        <p:spPr>
          <a:xfrm>
            <a:off x="1325880" y="3886200"/>
            <a:ext cx="4480560" cy="420624"/>
          </a:xfrm>
          <a:prstGeom prst="rect">
            <a:avLst/>
          </a:prstGeom>
          <a:noFill/>
          <a:ln/>
        </p:spPr>
        <p:txBody>
          <a:bodyPr wrap="square" lIns="0" tIns="0" rIns="0" bIns="0" rtlCol="0" anchor="ctr"/>
          <a:lstStyle/>
          <a:p>
            <a:pPr indent="0" marL="0">
              <a:buNone/>
            </a:pPr>
            <a:r>
              <a:rPr lang="en-US" sz="1600" b="1" dirty="0">
                <a:solidFill>
                  <a:schemeClr val="tx2"/>
                </a:solidFill>
              </a:rPr>
              <a:t>Gouvernance</a:t>
            </a:r>
            <a:endParaRPr lang="en-US" sz="1600" dirty="0"/>
          </a:p>
        </p:txBody>
      </p:sp>
      <p:sp>
        <p:nvSpPr>
          <p:cNvPr id="20" name="Text 18"/>
          <p:cNvSpPr txBox="1"/>
          <p:nvPr/>
        </p:nvSpPr>
        <p:spPr>
          <a:xfrm>
            <a:off x="822960" y="4434840"/>
            <a:ext cx="4937760" cy="731520"/>
          </a:xfrm>
          <a:prstGeom prst="rect">
            <a:avLst/>
          </a:prstGeom>
          <a:noFill/>
          <a:ln/>
        </p:spPr>
        <p:txBody>
          <a:bodyPr wrap="square" lIns="0" tIns="0" rIns="0" bIns="0" rtlCol="0" anchor="t"/>
          <a:lstStyle/>
          <a:p>
            <a:pPr indent="0" marL="0">
              <a:buNone/>
            </a:pPr>
            <a:r>
              <a:rPr lang="en-US" sz="1300" dirty="0">
                <a:solidFill>
                  <a:schemeClr val="tx1"/>
                </a:solidFill>
              </a:rPr>
              <a:t>Propriétaire de la suite après le 31/12, convention du dépôt, critères GO / ADAPTER / STOP, interlocuteurs métier.</a:t>
            </a:r>
            <a:endParaRPr lang="en-US" sz="1300" dirty="0"/>
          </a:p>
        </p:txBody>
      </p:sp>
      <p:sp>
        <p:nvSpPr>
          <p:cNvPr id="21" name="Text 19"/>
          <p:cNvSpPr txBox="1"/>
          <p:nvPr/>
        </p:nvSpPr>
        <p:spPr>
          <a:xfrm>
            <a:off x="822960" y="5166360"/>
            <a:ext cx="4937760" cy="292608"/>
          </a:xfrm>
          <a:prstGeom prst="rect">
            <a:avLst/>
          </a:prstGeom>
          <a:noFill/>
          <a:ln/>
        </p:spPr>
        <p:txBody>
          <a:bodyPr wrap="square" lIns="0" tIns="0" rIns="0" bIns="0" rtlCol="0" anchor="t"/>
          <a:lstStyle/>
          <a:p>
            <a:pPr indent="0" marL="0">
              <a:buNone/>
            </a:pPr>
            <a:r>
              <a:rPr lang="en-US" sz="1150" b="1" dirty="0">
                <a:solidFill>
                  <a:srgbClr val="00338D"/>
                </a:solidFill>
              </a:rPr>
              <a:t>Avec : </a:t>
            </a:r>
            <a:pPr indent="0" marL="0">
              <a:buNone/>
            </a:pPr>
            <a:r>
              <a:rPr lang="en-US" sz="1150" dirty="0">
                <a:solidFill>
                  <a:srgbClr val="5F6B7A"/>
                </a:solidFill>
              </a:rPr>
              <a:t>Test Manager</a:t>
            </a:r>
            <a:endParaRPr lang="en-US" sz="1150" dirty="0"/>
          </a:p>
        </p:txBody>
      </p:sp>
      <p:sp>
        <p:nvSpPr>
          <p:cNvPr id="22" name="card"/>
          <p:cNvSpPr/>
          <p:nvPr/>
        </p:nvSpPr>
        <p:spPr>
          <a:xfrm>
            <a:off x="6172200" y="3703320"/>
            <a:ext cx="5440680" cy="1874520"/>
          </a:xfrm>
          <a:prstGeom prst="roundRect">
            <a:avLst>
              <a:gd name="adj" fmla="val 4878"/>
            </a:avLst>
          </a:prstGeom>
          <a:solidFill>
            <a:schemeClr val="accent5"/>
          </a:solidFill>
          <a:ln/>
        </p:spPr>
      </p:sp>
      <p:sp>
        <p:nvSpPr>
          <p:cNvPr id="23" name="num"/>
          <p:cNvSpPr/>
          <p:nvPr/>
        </p:nvSpPr>
        <p:spPr>
          <a:xfrm>
            <a:off x="6373368" y="3886200"/>
            <a:ext cx="420624" cy="420624"/>
          </a:xfrm>
          <a:prstGeom prst="ellipse">
            <a:avLst/>
          </a:prstGeom>
          <a:solidFill>
            <a:schemeClr val="accent4"/>
          </a:solidFill>
          <a:ln/>
        </p:spPr>
      </p:sp>
      <p:sp>
        <p:nvSpPr>
          <p:cNvPr id="24" name="Text 22"/>
          <p:cNvSpPr txBox="1"/>
          <p:nvPr/>
        </p:nvSpPr>
        <p:spPr>
          <a:xfrm>
            <a:off x="6373368" y="388620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23"/>
          <p:cNvSpPr txBox="1"/>
          <p:nvPr/>
        </p:nvSpPr>
        <p:spPr>
          <a:xfrm>
            <a:off x="6949440" y="3886200"/>
            <a:ext cx="4480560" cy="420624"/>
          </a:xfrm>
          <a:prstGeom prst="rect">
            <a:avLst/>
          </a:prstGeom>
          <a:noFill/>
          <a:ln/>
        </p:spPr>
        <p:txBody>
          <a:bodyPr wrap="square" lIns="0" tIns="0" rIns="0" bIns="0" rtlCol="0" anchor="ctr"/>
          <a:lstStyle/>
          <a:p>
            <a:pPr indent="0" marL="0">
              <a:buNone/>
            </a:pPr>
            <a:r>
              <a:rPr lang="en-US" sz="1600" b="1" dirty="0">
                <a:solidFill>
                  <a:schemeClr val="tx2"/>
                </a:solidFill>
              </a:rPr>
              <a:t>Volet IA</a:t>
            </a:r>
            <a:endParaRPr lang="en-US" sz="1600" dirty="0"/>
          </a:p>
        </p:txBody>
      </p:sp>
      <p:sp>
        <p:nvSpPr>
          <p:cNvPr id="26" name="Text 24"/>
          <p:cNvSpPr txBox="1"/>
          <p:nvPr/>
        </p:nvSpPr>
        <p:spPr>
          <a:xfrm>
            <a:off x="6446520" y="4434840"/>
            <a:ext cx="4937760" cy="731520"/>
          </a:xfrm>
          <a:prstGeom prst="rect">
            <a:avLst/>
          </a:prstGeom>
          <a:noFill/>
          <a:ln/>
        </p:spPr>
        <p:txBody>
          <a:bodyPr wrap="square" lIns="0" tIns="0" rIns="0" bIns="0" rtlCol="0" anchor="t"/>
          <a:lstStyle/>
          <a:p>
            <a:pPr indent="0" marL="0">
              <a:buNone/>
            </a:pPr>
            <a:r>
              <a:rPr lang="en-US" sz="1300" dirty="0">
                <a:solidFill>
                  <a:schemeClr val="tx1"/>
                </a:solidFill>
              </a:rPr>
              <a:t>Traité dans une présentation et un atelier séparés. Aucune décision demandée ici.</a:t>
            </a:r>
            <a:endParaRPr lang="en-US" sz="1300" dirty="0"/>
          </a:p>
        </p:txBody>
      </p:sp>
      <p:sp>
        <p:nvSpPr>
          <p:cNvPr id="27" name="Text 25"/>
          <p:cNvSpPr txBox="1"/>
          <p:nvPr/>
        </p:nvSpPr>
        <p:spPr>
          <a:xfrm>
            <a:off x="6446520" y="5166360"/>
            <a:ext cx="4937760" cy="292608"/>
          </a:xfrm>
          <a:prstGeom prst="rect">
            <a:avLst/>
          </a:prstGeom>
          <a:noFill/>
          <a:ln/>
        </p:spPr>
        <p:txBody>
          <a:bodyPr wrap="square" lIns="0" tIns="0" rIns="0" bIns="0" rtlCol="0" anchor="t"/>
          <a:lstStyle/>
          <a:p>
            <a:pPr indent="0" marL="0">
              <a:buNone/>
            </a:pPr>
            <a:r>
              <a:rPr lang="en-US" sz="1150" b="1" dirty="0">
                <a:solidFill>
                  <a:srgbClr val="00338D"/>
                </a:solidFill>
              </a:rPr>
              <a:t>Avec : </a:t>
            </a:r>
            <a:pPr indent="0" marL="0">
              <a:buNone/>
            </a:pPr>
            <a:r>
              <a:rPr lang="en-US" sz="1150" dirty="0">
                <a:solidFill>
                  <a:srgbClr val="5F6B7A"/>
                </a:solidFill>
              </a:rPr>
              <a:t>Atelier dédié</a:t>
            </a:r>
            <a:endParaRPr lang="en-US" sz="11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Annexe : processus de test et livrables attendus</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Chaque tâche est suivie et approuvée par une ou plusieurs personnes de l'équipe, à nommer.</a:t>
            </a:r>
            <a:endParaRPr lang="en-US" sz="1600" dirty="0"/>
          </a:p>
        </p:txBody>
      </p:sp>
      <p:sp>
        <p:nvSpPr>
          <p:cNvPr id="4" name="num"/>
          <p:cNvSpPr/>
          <p:nvPr/>
        </p:nvSpPr>
        <p:spPr>
          <a:xfrm>
            <a:off x="548640" y="1719072"/>
            <a:ext cx="420624" cy="420624"/>
          </a:xfrm>
          <a:prstGeom prst="ellipse">
            <a:avLst/>
          </a:prstGeom>
          <a:solidFill>
            <a:schemeClr val="accent1"/>
          </a:solidFill>
          <a:ln/>
        </p:spPr>
      </p:sp>
      <p:sp>
        <p:nvSpPr>
          <p:cNvPr id="5" name="Text 3"/>
          <p:cNvSpPr txBox="1"/>
          <p:nvPr/>
        </p:nvSpPr>
        <p:spPr>
          <a:xfrm>
            <a:off x="548640" y="171907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97280" y="1645920"/>
            <a:ext cx="5669280" cy="640080"/>
          </a:xfrm>
          <a:prstGeom prst="rect">
            <a:avLst/>
          </a:prstGeom>
          <a:noFill/>
          <a:ln/>
        </p:spPr>
        <p:txBody>
          <a:bodyPr wrap="square" lIns="0" tIns="0" rIns="0" bIns="0" rtlCol="0" anchor="ctr"/>
          <a:lstStyle/>
          <a:p>
            <a:pPr indent="0" marL="0">
              <a:buNone/>
            </a:pPr>
            <a:r>
              <a:rPr lang="en-US" sz="1150" b="1" dirty="0">
                <a:solidFill>
                  <a:srgbClr val="00338D"/>
                </a:solidFill>
              </a:rPr>
              <a:t>Planification</a:t>
            </a:r>
            <a:endParaRPr lang="en-US" sz="1150" dirty="0"/>
          </a:p>
          <a:p>
            <a:pPr indent="0" marL="0">
              <a:buNone/>
            </a:pPr>
            <a:r>
              <a:rPr lang="en-US" sz="1150" dirty="0">
                <a:solidFill>
                  <a:schemeClr val="tx1"/>
                </a:solidFill>
              </a:rPr>
              <a:t>Compléter la stratégie de test ; définir la démarche d'automatisation et les solutions à mettre en œuvre</a:t>
            </a:r>
            <a:endParaRPr lang="en-US" sz="1150" dirty="0"/>
          </a:p>
        </p:txBody>
      </p:sp>
      <p:sp>
        <p:nvSpPr>
          <p:cNvPr id="7" name="num"/>
          <p:cNvSpPr/>
          <p:nvPr/>
        </p:nvSpPr>
        <p:spPr>
          <a:xfrm>
            <a:off x="548640" y="2404872"/>
            <a:ext cx="420624" cy="420624"/>
          </a:xfrm>
          <a:prstGeom prst="ellipse">
            <a:avLst/>
          </a:prstGeom>
          <a:solidFill>
            <a:schemeClr val="accent1"/>
          </a:solidFill>
          <a:ln/>
        </p:spPr>
      </p:sp>
      <p:sp>
        <p:nvSpPr>
          <p:cNvPr id="8" name="Text 6"/>
          <p:cNvSpPr txBox="1"/>
          <p:nvPr/>
        </p:nvSpPr>
        <p:spPr>
          <a:xfrm>
            <a:off x="548640" y="240487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097280" y="2331720"/>
            <a:ext cx="5669280" cy="640080"/>
          </a:xfrm>
          <a:prstGeom prst="rect">
            <a:avLst/>
          </a:prstGeom>
          <a:noFill/>
          <a:ln/>
        </p:spPr>
        <p:txBody>
          <a:bodyPr wrap="square" lIns="0" tIns="0" rIns="0" bIns="0" rtlCol="0" anchor="ctr"/>
          <a:lstStyle/>
          <a:p>
            <a:pPr indent="0" marL="0">
              <a:buNone/>
            </a:pPr>
            <a:r>
              <a:rPr lang="en-US" sz="1150" b="1" dirty="0">
                <a:solidFill>
                  <a:srgbClr val="00338D"/>
                </a:solidFill>
              </a:rPr>
              <a:t>Analyse</a:t>
            </a:r>
            <a:endParaRPr lang="en-US" sz="1150" dirty="0"/>
          </a:p>
          <a:p>
            <a:pPr indent="0" marL="0">
              <a:buNone/>
            </a:pPr>
            <a:r>
              <a:rPr lang="en-US" sz="1150" dirty="0">
                <a:solidFill>
                  <a:schemeClr val="tx1"/>
                </a:solidFill>
              </a:rPr>
              <a:t>Affiner les US à partir des critères d'acceptation ; identifier au plus tôt les jeux de données</a:t>
            </a:r>
            <a:endParaRPr lang="en-US" sz="1150" dirty="0"/>
          </a:p>
        </p:txBody>
      </p:sp>
      <p:sp>
        <p:nvSpPr>
          <p:cNvPr id="10" name="num"/>
          <p:cNvSpPr/>
          <p:nvPr/>
        </p:nvSpPr>
        <p:spPr>
          <a:xfrm>
            <a:off x="548640" y="3090672"/>
            <a:ext cx="420624" cy="420624"/>
          </a:xfrm>
          <a:prstGeom prst="ellipse">
            <a:avLst/>
          </a:prstGeom>
          <a:solidFill>
            <a:schemeClr val="accent1"/>
          </a:solidFill>
          <a:ln/>
        </p:spPr>
      </p:sp>
      <p:sp>
        <p:nvSpPr>
          <p:cNvPr id="11" name="Text 9"/>
          <p:cNvSpPr txBox="1"/>
          <p:nvPr/>
        </p:nvSpPr>
        <p:spPr>
          <a:xfrm>
            <a:off x="548640" y="309067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10"/>
          <p:cNvSpPr txBox="1"/>
          <p:nvPr/>
        </p:nvSpPr>
        <p:spPr>
          <a:xfrm>
            <a:off x="1097280" y="3017520"/>
            <a:ext cx="5669280" cy="640080"/>
          </a:xfrm>
          <a:prstGeom prst="rect">
            <a:avLst/>
          </a:prstGeom>
          <a:noFill/>
          <a:ln/>
        </p:spPr>
        <p:txBody>
          <a:bodyPr wrap="square" lIns="0" tIns="0" rIns="0" bIns="0" rtlCol="0" anchor="ctr"/>
          <a:lstStyle/>
          <a:p>
            <a:pPr indent="0" marL="0">
              <a:buNone/>
            </a:pPr>
            <a:r>
              <a:rPr lang="en-US" sz="1150" b="1" dirty="0">
                <a:solidFill>
                  <a:srgbClr val="00338D"/>
                </a:solidFill>
              </a:rPr>
              <a:t>Conception et implémentation</a:t>
            </a:r>
            <a:endParaRPr lang="en-US" sz="1150" dirty="0"/>
          </a:p>
          <a:p>
            <a:pPr indent="0" marL="0">
              <a:buNone/>
            </a:pPr>
            <a:r>
              <a:rPr lang="en-US" sz="1150" dirty="0">
                <a:solidFill>
                  <a:schemeClr val="tx1"/>
                </a:solidFill>
              </a:rPr>
              <a:t>Concevoir les tests, structurés dans une suite dédiée InfoCAC dans Azure Test Plans</a:t>
            </a:r>
            <a:endParaRPr lang="en-US" sz="1150" dirty="0"/>
          </a:p>
        </p:txBody>
      </p:sp>
      <p:sp>
        <p:nvSpPr>
          <p:cNvPr id="13" name="num"/>
          <p:cNvSpPr/>
          <p:nvPr/>
        </p:nvSpPr>
        <p:spPr>
          <a:xfrm>
            <a:off x="548640" y="3776472"/>
            <a:ext cx="420624" cy="420624"/>
          </a:xfrm>
          <a:prstGeom prst="ellipse">
            <a:avLst/>
          </a:prstGeom>
          <a:solidFill>
            <a:schemeClr val="accent1"/>
          </a:solidFill>
          <a:ln/>
        </p:spPr>
      </p:sp>
      <p:sp>
        <p:nvSpPr>
          <p:cNvPr id="14" name="Text 12"/>
          <p:cNvSpPr txBox="1"/>
          <p:nvPr/>
        </p:nvSpPr>
        <p:spPr>
          <a:xfrm>
            <a:off x="548640" y="377647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3"/>
          <p:cNvSpPr txBox="1"/>
          <p:nvPr/>
        </p:nvSpPr>
        <p:spPr>
          <a:xfrm>
            <a:off x="1097280" y="3703320"/>
            <a:ext cx="5669280" cy="640080"/>
          </a:xfrm>
          <a:prstGeom prst="rect">
            <a:avLst/>
          </a:prstGeom>
          <a:noFill/>
          <a:ln/>
        </p:spPr>
        <p:txBody>
          <a:bodyPr wrap="square" lIns="0" tIns="0" rIns="0" bIns="0" rtlCol="0" anchor="ctr"/>
          <a:lstStyle/>
          <a:p>
            <a:pPr indent="0" marL="0">
              <a:buNone/>
            </a:pPr>
            <a:r>
              <a:rPr lang="en-US" sz="1150" b="1" dirty="0">
                <a:solidFill>
                  <a:srgbClr val="00338D"/>
                </a:solidFill>
              </a:rPr>
              <a:t>Exécution et anomalies</a:t>
            </a:r>
            <a:endParaRPr lang="en-US" sz="1150" dirty="0"/>
          </a:p>
          <a:p>
            <a:pPr indent="0" marL="0">
              <a:buNone/>
            </a:pPr>
            <a:r>
              <a:rPr lang="en-US" sz="1150" dirty="0">
                <a:solidFill>
                  <a:schemeClr val="tx1"/>
                </a:solidFill>
              </a:rPr>
              <a:t>Suivre l'avancement sur un tableau de bord Azure DevOps ; exécuter les tests des US et identifier les tests de régression</a:t>
            </a:r>
            <a:endParaRPr lang="en-US" sz="1150" dirty="0"/>
          </a:p>
        </p:txBody>
      </p:sp>
      <p:sp>
        <p:nvSpPr>
          <p:cNvPr id="16" name="num"/>
          <p:cNvSpPr/>
          <p:nvPr/>
        </p:nvSpPr>
        <p:spPr>
          <a:xfrm>
            <a:off x="548640" y="4462272"/>
            <a:ext cx="420624" cy="420624"/>
          </a:xfrm>
          <a:prstGeom prst="ellipse">
            <a:avLst/>
          </a:prstGeom>
          <a:solidFill>
            <a:schemeClr val="accent1"/>
          </a:solidFill>
          <a:ln/>
        </p:spPr>
      </p:sp>
      <p:sp>
        <p:nvSpPr>
          <p:cNvPr id="17" name="Text 15"/>
          <p:cNvSpPr txBox="1"/>
          <p:nvPr/>
        </p:nvSpPr>
        <p:spPr>
          <a:xfrm>
            <a:off x="548640" y="446227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xt 16"/>
          <p:cNvSpPr txBox="1"/>
          <p:nvPr/>
        </p:nvSpPr>
        <p:spPr>
          <a:xfrm>
            <a:off x="1097280" y="4389120"/>
            <a:ext cx="5669280" cy="640080"/>
          </a:xfrm>
          <a:prstGeom prst="rect">
            <a:avLst/>
          </a:prstGeom>
          <a:noFill/>
          <a:ln/>
        </p:spPr>
        <p:txBody>
          <a:bodyPr wrap="square" lIns="0" tIns="0" rIns="0" bIns="0" rtlCol="0" anchor="ctr"/>
          <a:lstStyle/>
          <a:p>
            <a:pPr indent="0" marL="0">
              <a:buNone/>
            </a:pPr>
            <a:r>
              <a:rPr lang="en-US" sz="1150" b="1" dirty="0">
                <a:solidFill>
                  <a:srgbClr val="00338D"/>
                </a:solidFill>
              </a:rPr>
              <a:t>Clôture</a:t>
            </a:r>
            <a:endParaRPr lang="en-US" sz="1150" dirty="0"/>
          </a:p>
          <a:p>
            <a:pPr indent="0" marL="0">
              <a:buNone/>
            </a:pPr>
            <a:r>
              <a:rPr lang="en-US" sz="1150" dirty="0">
                <a:solidFill>
                  <a:schemeClr val="tx1"/>
                </a:solidFill>
              </a:rPr>
              <a:t>Produire le bilan de test avant chaque release</a:t>
            </a:r>
            <a:endParaRPr lang="en-US" sz="1150" dirty="0"/>
          </a:p>
        </p:txBody>
      </p:sp>
      <p:sp>
        <p:nvSpPr>
          <p:cNvPr id="19" name="num"/>
          <p:cNvSpPr/>
          <p:nvPr/>
        </p:nvSpPr>
        <p:spPr>
          <a:xfrm>
            <a:off x="548640" y="5148072"/>
            <a:ext cx="420624" cy="420624"/>
          </a:xfrm>
          <a:prstGeom prst="ellipse">
            <a:avLst/>
          </a:prstGeom>
          <a:solidFill>
            <a:schemeClr val="accent1"/>
          </a:solidFill>
          <a:ln/>
        </p:spPr>
      </p:sp>
      <p:sp>
        <p:nvSpPr>
          <p:cNvPr id="20" name="Text 18"/>
          <p:cNvSpPr txBox="1"/>
          <p:nvPr/>
        </p:nvSpPr>
        <p:spPr>
          <a:xfrm>
            <a:off x="548640" y="514807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1" name="Text 19"/>
          <p:cNvSpPr txBox="1"/>
          <p:nvPr/>
        </p:nvSpPr>
        <p:spPr>
          <a:xfrm>
            <a:off x="1097280" y="5074920"/>
            <a:ext cx="5669280" cy="640080"/>
          </a:xfrm>
          <a:prstGeom prst="rect">
            <a:avLst/>
          </a:prstGeom>
          <a:noFill/>
          <a:ln/>
        </p:spPr>
        <p:txBody>
          <a:bodyPr wrap="square" lIns="0" tIns="0" rIns="0" bIns="0" rtlCol="0" anchor="ctr"/>
          <a:lstStyle/>
          <a:p>
            <a:pPr indent="0" marL="0">
              <a:buNone/>
            </a:pPr>
            <a:r>
              <a:rPr lang="en-US" sz="1150" b="1" dirty="0">
                <a:solidFill>
                  <a:srgbClr val="00338D"/>
                </a:solidFill>
              </a:rPr>
              <a:t>Suivi et pilotage</a:t>
            </a:r>
            <a:endParaRPr lang="en-US" sz="1150" dirty="0"/>
          </a:p>
          <a:p>
            <a:pPr indent="0" marL="0">
              <a:buNone/>
            </a:pPr>
            <a:r>
              <a:rPr lang="en-US" sz="1150" dirty="0">
                <a:solidFill>
                  <a:schemeClr val="tx1"/>
                </a:solidFill>
              </a:rPr>
              <a:t>Exécution des tests automatisés, anomalies ouvertes, qualité du code dans Sonar, indicateurs de fabrication : couverture des TU, vulnérabilités, au moins un test par US</a:t>
            </a:r>
            <a:endParaRPr lang="en-US" sz="1150" dirty="0"/>
          </a:p>
        </p:txBody>
      </p:sp>
      <p:sp>
        <p:nvSpPr>
          <p:cNvPr id="22" name="card"/>
          <p:cNvSpPr/>
          <p:nvPr/>
        </p:nvSpPr>
        <p:spPr>
          <a:xfrm>
            <a:off x="7132320" y="1645920"/>
            <a:ext cx="4480560" cy="3291840"/>
          </a:xfrm>
          <a:prstGeom prst="roundRect">
            <a:avLst>
              <a:gd name="adj" fmla="val 2778"/>
            </a:avLst>
          </a:prstGeom>
          <a:solidFill>
            <a:schemeClr val="tx2"/>
          </a:solidFill>
          <a:ln/>
        </p:spPr>
      </p:sp>
      <p:sp>
        <p:nvSpPr>
          <p:cNvPr id="23" name="Text 21"/>
          <p:cNvSpPr txBox="1"/>
          <p:nvPr/>
        </p:nvSpPr>
        <p:spPr>
          <a:xfrm>
            <a:off x="7360920" y="1783080"/>
            <a:ext cx="4023360" cy="365760"/>
          </a:xfrm>
          <a:prstGeom prst="rect">
            <a:avLst/>
          </a:prstGeom>
          <a:noFill/>
          <a:ln/>
        </p:spPr>
        <p:txBody>
          <a:bodyPr wrap="square" lIns="0" tIns="0" rIns="0" bIns="0" rtlCol="0" anchor="t"/>
          <a:lstStyle/>
          <a:p>
            <a:pPr indent="0" marL="0">
              <a:buNone/>
            </a:pPr>
            <a:r>
              <a:rPr lang="en-US" sz="1600" b="1" dirty="0">
                <a:solidFill>
                  <a:schemeClr val="bg1"/>
                </a:solidFill>
              </a:rPr>
              <a:t>Livrables attendus</a:t>
            </a:r>
            <a:endParaRPr lang="en-US" sz="1600" dirty="0"/>
          </a:p>
        </p:txBody>
      </p:sp>
      <p:sp>
        <p:nvSpPr>
          <p:cNvPr id="24" name="Text 22"/>
          <p:cNvSpPr txBox="1"/>
          <p:nvPr/>
        </p:nvSpPr>
        <p:spPr>
          <a:xfrm>
            <a:off x="7360920" y="2286000"/>
            <a:ext cx="4069080" cy="33832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bg1"/>
                </a:solidFill>
              </a:rPr>
              <a:t>Stratégie de test validée et vision d'automatisation</a:t>
            </a:r>
            <a:endParaRPr lang="en-US" sz="1300" dirty="0"/>
          </a:p>
          <a:p>
            <a:pPr marL="342900" indent="-342900">
              <a:spcAft>
                <a:spcPts val="800"/>
              </a:spcAft>
              <a:buSzPct val="100000"/>
              <a:buChar char="•"/>
            </a:pPr>
            <a:r>
              <a:rPr lang="en-US" sz="1300" dirty="0">
                <a:solidFill>
                  <a:schemeClr val="bg1"/>
                </a:solidFill>
              </a:rPr>
              <a:t>Code des tests unitaires, par les développeurs</a:t>
            </a:r>
            <a:endParaRPr lang="en-US" sz="1300" dirty="0"/>
          </a:p>
          <a:p>
            <a:pPr marL="342900" indent="-342900">
              <a:spcAft>
                <a:spcPts val="800"/>
              </a:spcAft>
              <a:buSzPct val="100000"/>
              <a:buChar char="•"/>
            </a:pPr>
            <a:r>
              <a:rPr lang="en-US" sz="1300" dirty="0">
                <a:solidFill>
                  <a:schemeClr val="bg1"/>
                </a:solidFill>
              </a:rPr>
              <a:t>Tests API Playwright sur le contrat OpenAPI</a:t>
            </a:r>
            <a:endParaRPr lang="en-US" sz="1300" dirty="0"/>
          </a:p>
          <a:p>
            <a:pPr marL="342900" indent="-342900">
              <a:spcAft>
                <a:spcPts val="800"/>
              </a:spcAft>
              <a:buSzPct val="100000"/>
              <a:buChar char="•"/>
            </a:pPr>
            <a:r>
              <a:rPr lang="en-US" sz="1300" dirty="0">
                <a:solidFill>
                  <a:schemeClr val="bg1"/>
                </a:solidFill>
              </a:rPr>
              <a:t>Patrimoine de tests dans Azure Test Plans</a:t>
            </a:r>
            <a:endParaRPr lang="en-US" sz="1300" dirty="0"/>
          </a:p>
          <a:p>
            <a:pPr marL="342900" indent="-342900">
              <a:spcAft>
                <a:spcPts val="800"/>
              </a:spcAft>
              <a:buSzPct val="100000"/>
              <a:buChar char="•"/>
            </a:pPr>
            <a:r>
              <a:rPr lang="en-US" sz="1300" dirty="0">
                <a:solidFill>
                  <a:schemeClr val="bg1"/>
                </a:solidFill>
              </a:rPr>
              <a:t>Résultats d'exécution des tests manuels et automatisés dans Test Plans</a:t>
            </a:r>
            <a:endParaRPr lang="en-US" sz="1300" dirty="0"/>
          </a:p>
          <a:p>
            <a:pPr marL="342900" indent="-342900">
              <a:spcAft>
                <a:spcPts val="800"/>
              </a:spcAft>
              <a:buSzPct val="100000"/>
              <a:buChar char="•"/>
            </a:pPr>
            <a:r>
              <a:rPr lang="en-US" sz="1300" dirty="0">
                <a:solidFill>
                  <a:schemeClr val="bg1"/>
                </a:solidFill>
              </a:rPr>
              <a:t>Bilan de test avant une release et la mise en production</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Annexe : périmètre non fonctionnel et critères de suspension</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Ce qui se teste hors fonctionnel, et quand on arrête l'activité de test.</a:t>
            </a:r>
            <a:endParaRPr lang="en-US" sz="1600" dirty="0"/>
          </a:p>
        </p:txBody>
      </p:sp>
      <p:graphicFrame>
        <p:nvGraphicFramePr>
          <p:cNvPr id="15" name="table-nf"/>
          <p:cNvGraphicFramePr>
            <a:graphicFrameLocks noGrp="1"/>
          </p:cNvGraphicFramePr>
          <p:nvPr>
            <p:extLst>
              <p:ext uri="{D42A27DB-BD31-4B8C-83A1-F6EECF244321}">
                <p14:modId xmlns:p14="http://schemas.microsoft.com/office/powerpoint/2010/main" val="1579011935"/>
              </p:ext>
            </p:extLst>
          </p:nvPr>
        </p:nvGraphicFramePr>
        <p:xfrm>
          <a:off x="548640" y="1645920"/>
          <a:ext cx="5943600" cy="914400"/>
        </p:xfrm>
        <a:graphic>
          <a:graphicData uri="http://schemas.openxmlformats.org/drawingml/2006/table">
            <a:tbl>
              <a:tblPr/>
              <a:tblGrid>
                <a:gridCol w="1645920"/>
                <a:gridCol w="4297680"/>
              </a:tblGrid>
              <a:tr h="566928">
                <a:tc>
                  <a:txBody>
                    <a:bodyPr/>
                    <a:lstStyle/>
                    <a:p>
                      <a:pPr indent="0" marL="0">
                        <a:buNone/>
                      </a:pPr>
                      <a:r>
                        <a:rPr lang="en-US" sz="1200" b="1" dirty="0">
                          <a:solidFill>
                            <a:srgbClr val="FFFFFF"/>
                          </a:solidFill>
                        </a:rPr>
                        <a:t>Type de test</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Pour InfoCAC</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r>
              <a:tr h="566928">
                <a:tc>
                  <a:txBody>
                    <a:bodyPr/>
                    <a:lstStyle/>
                    <a:p>
                      <a:pPr indent="0" marL="0">
                        <a:buNone/>
                      </a:pPr>
                      <a:r>
                        <a:rPr lang="en-US" sz="1150" b="1" dirty="0">
                          <a:solidFill>
                            <a:srgbClr val="1A1A2E"/>
                          </a:solidFill>
                        </a:rPr>
                        <a:t>Sécurité</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Test d'intrusion en PREPROD, prévu par la stratégie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566928">
                <a:tc>
                  <a:txBody>
                    <a:bodyPr/>
                    <a:lstStyle/>
                    <a:p>
                      <a:pPr indent="0" marL="0">
                        <a:buNone/>
                      </a:pPr>
                      <a:r>
                        <a:rPr lang="en-US" sz="1150" b="1" dirty="0">
                          <a:solidFill>
                            <a:srgbClr val="1A1A2E"/>
                          </a:solidFill>
                        </a:rPr>
                        <a:t>Performance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Non retenue par la stratégie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A1A2E"/>
                          </a:solidFill>
                        </a:rPr>
                        <a:t>Utilisabilité</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Recette métier et sessions exploratoires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566928">
                <a:tc>
                  <a:txBody>
                    <a:bodyPr/>
                    <a:lstStyle/>
                    <a:p>
                      <a:pPr indent="0" marL="0">
                        <a:buNone/>
                      </a:pPr>
                      <a:r>
                        <a:rPr lang="en-US" sz="1150" b="1" dirty="0">
                          <a:solidFill>
                            <a:srgbClr val="1A1A2E"/>
                          </a:solidFill>
                        </a:rPr>
                        <a:t>Maintenabilité</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Notes Sonar, seuils de la stratégie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A1A2E"/>
                          </a:solidFill>
                        </a:rPr>
                        <a:t>Compatibilité</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Navigateurs à confirmer</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566928">
                <a:tc>
                  <a:txBody>
                    <a:bodyPr/>
                    <a:lstStyle/>
                    <a:p>
                      <a:pPr indent="0" marL="0">
                        <a:buNone/>
                      </a:pPr>
                      <a:r>
                        <a:rPr lang="en-US" sz="1150" b="1" dirty="0">
                          <a:solidFill>
                            <a:srgbClr val="1A1A2E"/>
                          </a:solidFill>
                        </a:rPr>
                        <a:t>Fiabilité</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Cas de dysfonctionnement : une API ne répond pas, que se passe-t-il ? Panne simulée avec Playwright</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bl>
          </a:graphicData>
        </a:graphic>
      </p:graphicFrame>
      <p:sp>
        <p:nvSpPr>
          <p:cNvPr id="5" name="card"/>
          <p:cNvSpPr/>
          <p:nvPr/>
        </p:nvSpPr>
        <p:spPr>
          <a:xfrm>
            <a:off x="6858000" y="1645920"/>
            <a:ext cx="4754880" cy="2697480"/>
          </a:xfrm>
          <a:prstGeom prst="roundRect">
            <a:avLst>
              <a:gd name="adj" fmla="val 3390"/>
            </a:avLst>
          </a:prstGeom>
          <a:solidFill>
            <a:schemeClr val="tx2"/>
          </a:solidFill>
          <a:ln/>
        </p:spPr>
      </p:sp>
      <p:sp>
        <p:nvSpPr>
          <p:cNvPr id="6" name="Text 3"/>
          <p:cNvSpPr txBox="1"/>
          <p:nvPr/>
        </p:nvSpPr>
        <p:spPr>
          <a:xfrm>
            <a:off x="7086600" y="1783080"/>
            <a:ext cx="4297680" cy="365760"/>
          </a:xfrm>
          <a:prstGeom prst="rect">
            <a:avLst/>
          </a:prstGeom>
          <a:noFill/>
          <a:ln/>
        </p:spPr>
        <p:txBody>
          <a:bodyPr wrap="square" lIns="0" tIns="0" rIns="0" bIns="0" rtlCol="0" anchor="t"/>
          <a:lstStyle/>
          <a:p>
            <a:pPr indent="0" marL="0">
              <a:buNone/>
            </a:pPr>
            <a:r>
              <a:rPr lang="en-US" sz="1600" b="1" dirty="0">
                <a:solidFill>
                  <a:schemeClr val="bg1"/>
                </a:solidFill>
              </a:rPr>
              <a:t>On suspend les tests si</a:t>
            </a:r>
            <a:endParaRPr lang="en-US" sz="1600" dirty="0"/>
          </a:p>
        </p:txBody>
      </p:sp>
      <p:sp>
        <p:nvSpPr>
          <p:cNvPr id="7" name="Text 4"/>
          <p:cNvSpPr txBox="1"/>
          <p:nvPr/>
        </p:nvSpPr>
        <p:spPr>
          <a:xfrm>
            <a:off x="7086600" y="2240280"/>
            <a:ext cx="43434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rPr>
              <a:t>Les environnements ITG ou PREPROD sont indisponibles</a:t>
            </a:r>
            <a:endParaRPr lang="en-US" sz="1300" dirty="0"/>
          </a:p>
          <a:p>
            <a:pPr marL="342900" indent="-342900">
              <a:spcAft>
                <a:spcPts val="600"/>
              </a:spcAft>
              <a:buSzPct val="100000"/>
              <a:buChar char="•"/>
            </a:pPr>
            <a:r>
              <a:rPr lang="en-US" sz="1300" dirty="0">
                <a:solidFill>
                  <a:schemeClr val="bg1"/>
                </a:solidFill>
              </a:rPr>
              <a:t>Un incident de production critique ou majeur survient</a:t>
            </a:r>
            <a:endParaRPr lang="en-US" sz="1300" dirty="0"/>
          </a:p>
          <a:p>
            <a:pPr marL="342900" indent="-342900">
              <a:spcAft>
                <a:spcPts val="600"/>
              </a:spcAft>
              <a:buSzPct val="100000"/>
              <a:buChar char="•"/>
            </a:pPr>
            <a:r>
              <a:rPr lang="en-US" sz="1300" dirty="0">
                <a:solidFill>
                  <a:schemeClr val="bg1"/>
                </a:solidFill>
              </a:rPr>
              <a:t>Le régulateur fait une demande exceptionnelle</a:t>
            </a:r>
            <a:endParaRPr lang="en-US" sz="1300" dirty="0"/>
          </a:p>
          <a:p>
            <a:pPr marL="342900" indent="-342900">
              <a:spcAft>
                <a:spcPts val="600"/>
              </a:spcAft>
              <a:buSzPct val="100000"/>
              <a:buChar char="•"/>
            </a:pPr>
            <a:r>
              <a:rPr lang="en-US" sz="1300" dirty="0">
                <a:solidFill>
                  <a:schemeClr val="bg1"/>
                </a:solidFill>
              </a:rPr>
              <a:t>Les BA sont absents en même temps</a:t>
            </a:r>
            <a:endParaRPr lang="en-US" sz="1300" dirty="0"/>
          </a:p>
          <a:p>
            <a:pPr marL="342900" indent="-342900">
              <a:spcAft>
                <a:spcPts val="600"/>
              </a:spcAft>
              <a:buSzPct val="100000"/>
              <a:buChar char="•"/>
            </a:pPr>
            <a:r>
              <a:rPr lang="en-US" sz="1300" dirty="0">
                <a:solidFill>
                  <a:schemeClr val="bg1"/>
                </a:solidFill>
              </a:rPr>
              <a:t>Une anomalie fonctionnelle bloquante est ouverte</a:t>
            </a:r>
            <a:endParaRPr lang="en-US" sz="1300" dirty="0"/>
          </a:p>
          <a:p>
            <a:pPr marL="342900" indent="-342900">
              <a:spcAft>
                <a:spcPts val="600"/>
              </a:spcAft>
              <a:buSzPct val="100000"/>
              <a:buChar char="•"/>
            </a:pPr>
            <a:r>
              <a:rPr lang="en-US" sz="1300" dirty="0">
                <a:solidFill>
                  <a:schemeClr val="bg1"/>
                </a:solidFill>
              </a:rPr>
              <a:t>La priorité du planning change</a:t>
            </a:r>
            <a:endParaRPr lang="en-US" sz="1300" dirty="0"/>
          </a:p>
        </p:txBody>
      </p:sp>
      <p:sp>
        <p:nvSpPr>
          <p:cNvPr id="8" name="card"/>
          <p:cNvSpPr/>
          <p:nvPr/>
        </p:nvSpPr>
        <p:spPr>
          <a:xfrm>
            <a:off x="6858000" y="4480560"/>
            <a:ext cx="4754880" cy="685800"/>
          </a:xfrm>
          <a:prstGeom prst="roundRect">
            <a:avLst>
              <a:gd name="adj" fmla="val 13333"/>
            </a:avLst>
          </a:prstGeom>
          <a:solidFill>
            <a:schemeClr val="accent5"/>
          </a:solidFill>
          <a:ln/>
        </p:spPr>
      </p:sp>
      <p:sp>
        <p:nvSpPr>
          <p:cNvPr id="9" name="Text 6"/>
          <p:cNvSpPr txBox="1"/>
          <p:nvPr/>
        </p:nvSpPr>
        <p:spPr>
          <a:xfrm>
            <a:off x="7086600" y="4480560"/>
            <a:ext cx="4389120" cy="685800"/>
          </a:xfrm>
          <a:prstGeom prst="rect">
            <a:avLst/>
          </a:prstGeom>
          <a:noFill/>
          <a:ln/>
        </p:spPr>
        <p:txBody>
          <a:bodyPr wrap="square" lIns="0" tIns="0" rIns="0" bIns="0" rtlCol="0" anchor="ctr"/>
          <a:lstStyle/>
          <a:p>
            <a:pPr indent="0" marL="0">
              <a:buNone/>
            </a:pPr>
            <a:r>
              <a:rPr lang="en-US" sz="1250" b="1" dirty="0">
                <a:solidFill>
                  <a:srgbClr val="00338D"/>
                </a:solidFill>
              </a:rPr>
              <a:t>Reprise : </a:t>
            </a:r>
            <a:pPr indent="0" marL="0">
              <a:buNone/>
            </a:pPr>
            <a:r>
              <a:rPr lang="en-US" sz="1250" dirty="0">
                <a:solidFill>
                  <a:schemeClr val="tx1"/>
                </a:solidFill>
              </a:rPr>
              <a:t>la cause est levée et le smoke repasse au vert sur l'environnement.</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Annexe : quels cas rejouer à la main à chaque livraison</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La suite automatisée couvre 5 à 10 scénarios ; le reste de la régression se choisit selon ce qui a changé.</a:t>
            </a:r>
            <a:endParaRPr lang="en-US" sz="1600" dirty="0"/>
          </a:p>
        </p:txBody>
      </p:sp>
      <p:graphicFrame>
        <p:nvGraphicFramePr>
          <p:cNvPr id="16" name="table-regression"/>
          <p:cNvGraphicFramePr>
            <a:graphicFrameLocks noGrp="1"/>
          </p:cNvGraphicFramePr>
          <p:nvPr>
            <p:extLst>
              <p:ext uri="{D42A27DB-BD31-4B8C-83A1-F6EECF244321}">
                <p14:modId xmlns:p14="http://schemas.microsoft.com/office/powerpoint/2010/main" val="1579011935"/>
              </p:ext>
            </p:extLst>
          </p:nvPr>
        </p:nvGraphicFramePr>
        <p:xfrm>
          <a:off x="548640" y="1645920"/>
          <a:ext cx="6949440" cy="914400"/>
        </p:xfrm>
        <a:graphic>
          <a:graphicData uri="http://schemas.openxmlformats.org/drawingml/2006/table">
            <a:tbl>
              <a:tblPr/>
              <a:tblGrid>
                <a:gridCol w="1371600"/>
                <a:gridCol w="2103120"/>
                <a:gridCol w="3474720"/>
              </a:tblGrid>
              <a:tr h="411480">
                <a:tc>
                  <a:txBody>
                    <a:bodyPr/>
                    <a:lstStyle/>
                    <a:p>
                      <a:pPr indent="0" marL="0">
                        <a:buNone/>
                      </a:pPr>
                      <a:r>
                        <a:rPr lang="en-US" sz="1200" b="1" dirty="0">
                          <a:solidFill>
                            <a:srgbClr val="FFFFFF"/>
                          </a:solidFill>
                        </a:rPr>
                        <a:t>Lot</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Quand le rejouer</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Exemples</a:t>
                      </a:r>
                      <a:endParaRPr lang="en-US" sz="120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r>
              <a:tr h="621792">
                <a:tc>
                  <a:txBody>
                    <a:bodyPr/>
                    <a:lstStyle/>
                    <a:p>
                      <a:pPr indent="0" marL="0">
                        <a:buNone/>
                      </a:pPr>
                      <a:r>
                        <a:rPr lang="en-US" sz="1150" b="1" dirty="0">
                          <a:solidFill>
                            <a:srgbClr val="1A1A2E"/>
                          </a:solidFill>
                        </a:rPr>
                        <a:t>Socle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À chaque livraison</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Connexion par rôle, création d'une demande, passage au statut Validé, une action refusée à un User</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566928">
                <a:tc>
                  <a:txBody>
                    <a:bodyPr/>
                    <a:lstStyle/>
                    <a:p>
                      <a:pPr indent="0" marL="0">
                        <a:buNone/>
                      </a:pPr>
                      <a:r>
                        <a:rPr lang="en-US" sz="1150" b="1" dirty="0">
                          <a:solidFill>
                            <a:srgbClr val="1A1A2E"/>
                          </a:solidFill>
                        </a:rPr>
                        <a:t>Formulaires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Si un formulaire ou une règle de saisie change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Champs obligatoires par type de mandat, contrôles de saisie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A1A2E"/>
                          </a:solidFill>
                        </a:rPr>
                        <a:t>Statuts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Si l'enchaînement des statuts change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Chaque transition autorisée, chaque transition interdite décrite par l'US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566928">
                <a:tc>
                  <a:txBody>
                    <a:bodyPr/>
                    <a:lstStyle/>
                    <a:p>
                      <a:pPr indent="0" marL="0">
                        <a:buNone/>
                      </a:pPr>
                      <a:r>
                        <a:rPr lang="en-US" sz="1150" b="1" dirty="0">
                          <a:solidFill>
                            <a:srgbClr val="1A1A2E"/>
                          </a:solidFill>
                        </a:rPr>
                        <a:t>Droits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Si un rôle ou une habilitation change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Les trois rôles, accès par URL directe, refus côté API</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A1A2E"/>
                          </a:solidFill>
                        </a:rPr>
                        <a:t>Import, export, documents</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Si le module change</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Fichier exporté conforme aux filtres, document généré complet</a:t>
                      </a:r>
                      <a:endParaRPr lang="en-US" sz="1150" dirty="0"/>
                    </a:p>
                  </a:txBody>
                  <a:tcPr marL="73152" marR="73152" marT="36576" marB="36576"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bl>
          </a:graphicData>
        </a:graphic>
      </p:graphicFrame>
      <p:sp>
        <p:nvSpPr>
          <p:cNvPr id="5" name="card"/>
          <p:cNvSpPr/>
          <p:nvPr/>
        </p:nvSpPr>
        <p:spPr>
          <a:xfrm>
            <a:off x="7772400" y="1645920"/>
            <a:ext cx="3840480" cy="4206240"/>
          </a:xfrm>
          <a:prstGeom prst="roundRect">
            <a:avLst>
              <a:gd name="adj" fmla="val 2381"/>
            </a:avLst>
          </a:prstGeom>
          <a:solidFill>
            <a:schemeClr val="tx2"/>
          </a:solidFill>
          <a:ln/>
        </p:spPr>
      </p:sp>
      <p:sp>
        <p:nvSpPr>
          <p:cNvPr id="6" name="Text 3"/>
          <p:cNvSpPr txBox="1"/>
          <p:nvPr/>
        </p:nvSpPr>
        <p:spPr>
          <a:xfrm>
            <a:off x="8001000" y="1783080"/>
            <a:ext cx="3383280" cy="365760"/>
          </a:xfrm>
          <a:prstGeom prst="rect">
            <a:avLst/>
          </a:prstGeom>
          <a:noFill/>
          <a:ln/>
        </p:spPr>
        <p:txBody>
          <a:bodyPr wrap="square" lIns="0" tIns="0" rIns="0" bIns="0" rtlCol="0" anchor="t"/>
          <a:lstStyle/>
          <a:p>
            <a:pPr indent="0" marL="0">
              <a:buNone/>
            </a:pPr>
            <a:r>
              <a:rPr lang="en-US" sz="1600" b="1" dirty="0">
                <a:solidFill>
                  <a:schemeClr val="bg1"/>
                </a:solidFill>
              </a:rPr>
              <a:t>Dans Test Plans</a:t>
            </a:r>
            <a:endParaRPr lang="en-US" sz="1600" dirty="0"/>
          </a:p>
        </p:txBody>
      </p:sp>
      <p:sp>
        <p:nvSpPr>
          <p:cNvPr id="7" name="Text 4"/>
          <p:cNvSpPr txBox="1"/>
          <p:nvPr/>
        </p:nvSpPr>
        <p:spPr>
          <a:xfrm>
            <a:off x="8001000" y="2240280"/>
            <a:ext cx="342900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00" dirty="0">
                <a:solidFill>
                  <a:schemeClr val="bg1"/>
                </a:solidFill>
              </a:rPr>
              <a:t>Un tag de lot sur chaque cas de régression</a:t>
            </a:r>
            <a:endParaRPr lang="en-US" sz="1300" dirty="0"/>
          </a:p>
          <a:p>
            <a:pPr marL="342900" indent="-342900">
              <a:spcAft>
                <a:spcPts val="800"/>
              </a:spcAft>
              <a:buSzPct val="100000"/>
              <a:buFont typeface="+mj-lt"/>
              <a:buAutoNum type="arabicPeriod" startAt="1"/>
            </a:pPr>
            <a:r>
              <a:rPr lang="en-US" sz="1300" dirty="0">
                <a:solidFill>
                  <a:schemeClr val="bg1"/>
                </a:solidFill>
              </a:rPr>
              <a:t>Les US livrées disent quels modules ont changé</a:t>
            </a:r>
            <a:endParaRPr lang="en-US" sz="1300" dirty="0"/>
          </a:p>
          <a:p>
            <a:pPr marL="342900" indent="-342900">
              <a:spcAft>
                <a:spcPts val="800"/>
              </a:spcAft>
              <a:buSzPct val="100000"/>
              <a:buFont typeface="+mj-lt"/>
              <a:buAutoNum type="arabicPeriod" startAt="1"/>
            </a:pPr>
            <a:r>
              <a:rPr lang="en-US" sz="1300" dirty="0">
                <a:solidFill>
                  <a:schemeClr val="bg1"/>
                </a:solidFill>
              </a:rPr>
              <a:t>La campagne se construit par requête sur les tags, sans tri à la main</a:t>
            </a:r>
            <a:endParaRPr lang="en-US" sz="1300" dirty="0"/>
          </a:p>
          <a:p>
            <a:pPr marL="342900" indent="-342900">
              <a:spcAft>
                <a:spcPts val="800"/>
              </a:spcAft>
              <a:buSzPct val="100000"/>
              <a:buFont typeface="+mj-lt"/>
              <a:buAutoNum type="arabicPeriod" startAt="1"/>
            </a:pPr>
            <a:r>
              <a:rPr lang="en-US" sz="1300" dirty="0">
                <a:solidFill>
                  <a:schemeClr val="bg1"/>
                </a:solidFill>
              </a:rPr>
              <a:t>Les cas déjà automatisés en sont exclus</a:t>
            </a:r>
            <a:endParaRPr lang="en-US" sz="1300" dirty="0"/>
          </a:p>
        </p:txBody>
      </p:sp>
      <p:sp>
        <p:nvSpPr>
          <p:cNvPr id="8" name="card"/>
          <p:cNvSpPr/>
          <p:nvPr/>
        </p:nvSpPr>
        <p:spPr>
          <a:xfrm>
            <a:off x="548640" y="5166360"/>
            <a:ext cx="6949440" cy="685800"/>
          </a:xfrm>
          <a:prstGeom prst="roundRect">
            <a:avLst>
              <a:gd name="adj" fmla="val 13333"/>
            </a:avLst>
          </a:prstGeom>
          <a:solidFill>
            <a:schemeClr val="accent5"/>
          </a:solidFill>
          <a:ln/>
        </p:spPr>
      </p:sp>
      <p:sp>
        <p:nvSpPr>
          <p:cNvPr id="9" name="Text 6"/>
          <p:cNvSpPr txBox="1"/>
          <p:nvPr/>
        </p:nvSpPr>
        <p:spPr>
          <a:xfrm>
            <a:off x="731520" y="5166360"/>
            <a:ext cx="6629400" cy="685800"/>
          </a:xfrm>
          <a:prstGeom prst="rect">
            <a:avLst/>
          </a:prstGeom>
          <a:noFill/>
          <a:ln/>
        </p:spPr>
        <p:txBody>
          <a:bodyPr wrap="square" lIns="0" tIns="0" rIns="0" bIns="0" rtlCol="0" anchor="ctr"/>
          <a:lstStyle/>
          <a:p>
            <a:pPr indent="0" marL="0">
              <a:buNone/>
            </a:pPr>
            <a:r>
              <a:rPr lang="en-US" sz="1250" b="1" dirty="0">
                <a:solidFill>
                  <a:srgbClr val="00338D"/>
                </a:solidFill>
              </a:rPr>
              <a:t>Le socle reste petit : </a:t>
            </a:r>
            <a:pPr indent="0" marL="0">
              <a:buNone/>
            </a:pPr>
            <a:r>
              <a:rPr lang="en-US" sz="1250" dirty="0">
                <a:solidFill>
                  <a:schemeClr val="tx1"/>
                </a:solidFill>
              </a:rPr>
              <a:t>un cas qui ne trouve rien depuis plusieurs livraisons, sur un module qui ne bouge plus, en sort.</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InfoCAC KPMG">
  <a:themeElements>
    <a:clrScheme name="InfoCAC KPMG">
      <a:dk1>
        <a:srgbClr val="1A1A2E"/>
      </a:dk1>
      <a:lt1>
        <a:srgbClr val="FFFFFF"/>
      </a:lt1>
      <a:dk2>
        <a:srgbClr val="00338D"/>
      </a:dk2>
      <a:lt2>
        <a:srgbClr val="EEF3FA"/>
      </a:lt2>
      <a:accent1>
        <a:srgbClr val="005EB8"/>
      </a:accent1>
      <a:accent2>
        <a:srgbClr val="0091DA"/>
      </a:accent2>
      <a:accent3>
        <a:srgbClr val="B8D4F0"/>
      </a:accent3>
      <a:accent4>
        <a:srgbClr val="5F6B7A"/>
      </a:accent4>
      <a:accent5>
        <a:srgbClr val="D9E4F2"/>
      </a:accent5>
      <a:accent6>
        <a:srgbClr val="00205B"/>
      </a:accent6>
      <a:hlink>
        <a:srgbClr val="005EB8"/>
      </a:hlink>
      <a:folHlink>
        <a:srgbClr val="00338D"/>
      </a:folHlink>
    </a:clrScheme>
    <a:fontScheme name="InfoCAC KPM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InfoCAC : vision de l'automatisation des tests</dc:title>
  <dc:subject>PptxGenJS Presentation</dc:subject>
  <dc:creator>Daura</dc:creator>
  <cp:lastModifiedBy>Daura</cp:lastModifiedBy>
  <cp:revision>1</cp:revision>
  <dcterms:created xsi:type="dcterms:W3CDTF">2026-10-18T18:38:15Z</dcterms:created>
  <dcterms:modified xsi:type="dcterms:W3CDTF">2026-10-18T18:38:15Z</dcterms:modified>
</cp:coreProperties>
</file>