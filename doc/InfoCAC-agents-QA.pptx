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ts" id="{24f092af-0865-ccaf-4718-5838d79ee1cd}">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séparée de la vision d'automatisation, à dessein : les agents dépendent de la politique IA de KPMG et de l'outillage autorisé, et rien ici ne conditionne le POC Playwright. Chaque agent est présenté avec ce qu'il fait, son statut réel, ses garde-fous et ce qu'on mesurerait pour décider de le garder ou de l'arrêter.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prompt seul ne suffit pas : il ne contrôle rien. Un script qui appelle un modèle exécute toujours les mêmes étapes. Un agent décide de l'étape suivante selon ce qu'il trouve (par exemple, lire les commentaires de l'US avant d'écrire les cas, ou creuser un écart de données). D'où le besoin de garde-fous en code : l'agent propose, un script vérifie, un humain valide.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QC : l'agent existe déjà dans le dépôt de l'équipe ; la version améliorée (un contexte projet qui s'enrichit après validation, l'analyse d'US, la rédaction Gherkin, la publication et la rédaction d'anomalie) est prête ; ses consignes ont été appliquées à une US hors de l'outil de l'équipe, pas encore sur l'Azure DevOps du projet. La rédaction d'anomalies, présentée auparavant comme un agent séparé, est un skill de l'agent QC : même accès, mêmes garde-fous. Agent Playwright : il s'appuie sur le socle du POC Playwright (framework, conventions, pipeline) ; sans ce socle, il n'a rien sur quoi s'appuyer. Agent data testing : un prototype fonctionne sur une base fictive ; la connexion Azure SQL, le compte en lecture seule et l'accord KPMG restent à obtenir.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la sortie de l'agent pour l'US 417829 (cas TC-001 à TC-014, début de TC-015, et sa liste de cas UI), son fichier qc.agent.md (« l. » = numéro de ligne) et le retour d'équipe sur un autre projet. Les parties analyse, risques et cas limites de sa sortie n'ont pas été relues : on ne dit pas qu'il ignore les risques, seulement que son format ne prévoit aucune place pour une question au PO. Le défaut le plus visible : chaque cas tient en une ligne Given, When, Then, sans dire avec quel rôle se connecter, sur quel écran partir ni quelles données préparer. La règle la plus importante de l'US (§4 Validation) décrit cinq situations ; une seule est couverte dans les cas relus. Ses consignes imposent aussi de créer un plan de test pour chaque US et de ne publier que les cas de type Fonctionnel : les cas UI, comme l'erreur « Entité ID inconnue », ne sont jamais créés. La publication technique est bien outillée et est conservée.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Comparaison faite sur la sortie de l'agent actuel (TC-001 à TC-014, début de TC-015, liste des cas UI) et sur le résultat de la version proposée appliquée à l'US complète. Sur l'accès, le panneau et les champs du formulaire, les deux couvertures sont proches. La différence est ailleurs. Exécutabilité : les cas actuels ne disent ni qui se connecte ni quelles données préparer. Règle métier : la validation dépend du statut de la demande existante sur l'entité (aucune ou Validé : création acceptée ; En cours, Retard, Révision : erreur) ; l'agent actuel n'en teste qu'un cas. Ce que l'US ne dit pas : au §3, l'US annonce une erreur « entité ID inconnue » alors que l'entité ne peut pas être saisie librement ; l'agent actuel prévoit de tester ce message sans relever ce point, la version proposée en fait une question bloquante, comme la liste des documents obligatoires (§4). Millésime : les deux versions testent la valeur par défaut et la plage de -20 à +10 ans (TC-009, TC-010). Volume : au moins 15 cas actuels contre 25 cas exécutables pour le nouvel agent (lancement du 27/10), 0 erreur au contrôle. Les textes exacts des messages sont dans les maquettes, non fournies : ils restent à compléter.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projet est un fichier du dépôt, relu par l'équipe et daté : rôles, comptes de test, statuts, règles déjà validées, données fictives, points à confirmer. Il répond au constat qu'une US traitée seule perd la cohérence avec les autres. L'analyse lit l'US phrase par phrase, donne un statut à chaque règle (rédigeable, à arbitrer, exploratoire), relève les préconditions et les combinaisons à tester, et rend un verdict qui dit quoi rédiger. La rédaction écrit en français toutes les préconditions en Étant donné, les actions en Quand et Et, les résultats exacts en Alors et Et, et seulement pour les règles rédigeables. Essai du nouvel agent dans Claude Code sur l'US 417829, avec le même modèle que l'agent actuel (Claude Sonnet 5.5) : 25 cas, 0 erreur au contrôle ; il couvre les deux parcours (Renouvellement, Nouveau), les rôles, les cinq situations de la règle de validation (§4), et transforme en question un point ambigu de l'US (§3 : une erreur « entité ID inconnue » alors que l'entité ne peut pas être saisie librement) au lieu d'en faire un cas. Après chaque US, l'analyse propose des ajouts au contexte ; seuls ceux que la QC valide y entrent. Les 3 US de référence sont des US déjà traitées à la main : on connaît la bonne réponse, on peut juger l'agent. Données : le contenu des US, du PRD et du DAG est envoyé à l'outil IA ; à valider avec la politique IA de KPMG.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n'est pas un outil de plus : c'est l'assistant de code autorisé par KPMG (Copilot ou Claude Code), équipé couche par couche. Le serveur Playwright MCP lui donne un vrai navigateur ; les agents planner, generator et healer de Playwright reposent sur le même principe. Le healer est lancé à la demande sur le poste, et chaque réparation est relue en pull request : un test réparé automatiquement dans le pipeline peut masquer une vraie régression. L'attendu d'un test vient toujours d'une règle écrite ou d'une table de décision validée, jamais de ce que l'écran affiche : sinon le test valide le bug. Condition : le socle du POC Playwright (framework, conventions, pipeline) doit exister ; l'agent s'appuie dessus.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Exemples fictifs. Lecture seule ne veut pas dire sans requête : un SELECT lit, il ne modifie rien. Le compte de l'agent n'a que GRANT SELECT sur les schémas utiles ; un UPDATE est refusé par la base elle-même. Un second verrou, en code, refuse toute requête qui n'est pas un SELECT, vérifie les tables et colonnes, et impose un délai maximal pour ne pas charger l'environnement de recette. Seuls des comptages et des identifiants remontent au modèle ; les requêtes validées sont ensuite rejouées sans IA dans Azure Pipelines. C'est un agent parce qu'il choisit la requête suivante selon le résultat : si 5 mandats sont mal mappés, il cherche ce qu'ils ont en commun (même millésime, même entité). Prérequis : document de mapping IBS vers InfoCAC (sans lui, pas d'oracle), compte de lecture accordé par l'équipe base de données, identité dédiée à l'agent (jamais celle de la testeuse), accord de KPMG sur l'accès d'un agent à une base de test. La reprise IBS reste hors du périmètre de la suite Playwright. Un prototype fonctionne sur une base fictive ; la connexion Azure SQL reste à valider.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ces décisions restent humaines : elles sont coûteuses et difficiles à voir après coup. Un test accepté sans relecture peut passer au vert sans rien vérifier ; une CI modifiée peut désactiver une porte ; un échec ignoré peut être une vraie régression ; un test supprimé pour obtenir un pipeline vert retire une protection sans que personne ne le remarque. L'IA accélère le reste : premier jet des cas et des tests, résumé d'un échec, suggestion de cas limites. Casser la règle exprès : on modifie volontairement l'attendu ou la donnée, on relance, et le test doit échouer avec un message qui désigne la règle ; les deux exécutions sont jointes à la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durées sont des propositions. Les jeux de référence comptent plus que la durée : pour juger un agent, il faut connaître la bonne réponse (des US déjà traitées, des tests déjà écrits, des écarts connus dans la base). Zéro cas inventé est la seule cible non négociable : un agent qui invente un attendu fait perdre plus de temps qu'il n'en fait gagner, car chaque cas doit alors être vérifié contre 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décisions ne conditionnent pas le POC Playwright, qui avance de son côté. La première est la plus structurante : sans outil autorisé ni règle sur les données, aucun agent ne peut être essayé sur du contenu InfoCAC.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1031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931920"/>
            <a:ext cx="10698480" cy="146304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rtlCol="0"/>
          <a:lstStyle>
            <a:lvl1pPr algn="l" indent="0" marL="0">
              <a:buNone/>
              <a:defRPr lang="en-US" sz="1600" i="1" dirty="0">
                <a:solidFill>
                  <a:schemeClr val="accent1"/>
                </a:solidFill>
              </a:defRPr>
            </a:lvl1pPr>
          </a:lstStyle>
          <a:p>
            <a:pPr algn="l" indent="0" marL="0">
              <a:buNone/>
            </a:pPr>
            <a:endParaRPr lang="en-US" sz="16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InfoCAC · Agents QA · Document de travail</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103120"/>
          </a:xfrm>
          <a:prstGeom prst="rect">
            <a:avLst/>
          </a:prstGeom>
          <a:noFill/>
          <a:ln/>
        </p:spPr>
        <p:txBody>
          <a:bodyPr wrap="square" lIns="0" tIns="0" rIns="0" bIns="0" rtlCol="0" anchor="b"/>
          <a:lstStyle/>
          <a:p>
            <a:pPr algn="l" indent="0" marL="0">
              <a:buNone/>
            </a:pPr>
            <a:r>
              <a:rPr lang="en-US" sz="3600" b="1" dirty="0">
                <a:solidFill>
                  <a:schemeClr val="bg1"/>
                </a:solidFill>
              </a:rPr>
              <a:t>Agents QA : l'IA propose, le code contrôle, l'humain valide</a:t>
            </a:r>
            <a:endParaRPr lang="en-US" sz="3600" dirty="0"/>
          </a:p>
        </p:txBody>
      </p:sp>
      <p:sp>
        <p:nvSpPr>
          <p:cNvPr id="3" name="Text 0"/>
          <p:cNvSpPr/>
          <p:nvPr>
            <p:ph idx="101" type="body" hasCustomPrompt="1"/>
          </p:nvPr>
        </p:nvSpPr>
        <p:spPr>
          <a:xfrm>
            <a:off x="731520" y="3931920"/>
            <a:ext cx="10698480" cy="1463040"/>
          </a:xfrm>
          <a:prstGeom prst="rect">
            <a:avLst/>
          </a:prstGeom>
          <a:noFill/>
          <a:ln/>
        </p:spPr>
        <p:txBody>
          <a:bodyPr wrap="square" lIns="0" tIns="0" rIns="0" bIns="0" rtlCol="0" anchor="t"/>
          <a:lstStyle/>
          <a:p>
            <a:pPr algn="l" indent="0" marL="0">
              <a:buNone/>
            </a:pPr>
            <a:r>
              <a:rPr lang="en-US" sz="1800" dirty="0">
                <a:solidFill>
                  <a:schemeClr val="accent3"/>
                </a:solidFill>
              </a:rPr>
              <a:t>Ce qu'on expérimente sur InfoCAC, avec quels garde-fous, et ce qu'on décide</a:t>
            </a:r>
            <a:endParaRPr lang="en-US" sz="1800" dirty="0"/>
          </a:p>
          <a:p>
            <a:pPr algn="l" indent="0" marL="0">
              <a:buNone/>
            </a:pPr>
            <a:r>
              <a:rPr lang="en-US" sz="1800" dirty="0">
                <a:solidFill>
                  <a:schemeClr val="accent3"/>
                </a:solidFill>
              </a:rPr>
              <a:t>Support d'atelier · 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Pourquoi des agents, et pourquoi à part</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Trois tâches répétitives où l'IA peut aider, à condition de ne rien inventer.</a:t>
            </a:r>
            <a:endParaRPr lang="en-US" sz="1600" dirty="0"/>
          </a:p>
        </p:txBody>
      </p:sp>
      <p:graphicFrame>
        <p:nvGraphicFramePr>
          <p:cNvPr id="3" name="table-pourquoi"/>
          <p:cNvGraphicFramePr>
            <a:graphicFrameLocks noGrp="1"/>
          </p:cNvGraphicFramePr>
          <p:nvPr>
            <p:extLst>
              <p:ext uri="{D42A27DB-BD31-4B8C-83A1-F6EECF244321}">
                <p14:modId xmlns:p14="http://schemas.microsoft.com/office/powerpoint/2010/main" val="1579011935"/>
              </p:ext>
            </p:extLst>
          </p:nvPr>
        </p:nvGraphicFramePr>
        <p:xfrm>
          <a:off x="548640" y="1645920"/>
          <a:ext cx="7040880" cy="914400"/>
        </p:xfrm>
        <a:graphic>
          <a:graphicData uri="http://schemas.openxmlformats.org/drawingml/2006/table">
            <a:tbl>
              <a:tblPr/>
              <a:tblGrid>
                <a:gridCol w="2377440"/>
                <a:gridCol w="3017520"/>
                <a:gridCol w="1645920"/>
              </a:tblGrid>
              <a:tr h="384048">
                <a:tc>
                  <a:txBody>
                    <a:bodyPr/>
                    <a:lstStyle/>
                    <a:p>
                      <a:pPr indent="0" marL="0">
                        <a:buNone/>
                      </a:pPr>
                      <a:r>
                        <a:rPr lang="en-US" sz="1200" b="1" dirty="0">
                          <a:solidFill>
                            <a:srgbClr val="FFFFFF"/>
                          </a:solidFill>
                        </a:rPr>
                        <a:t>Tâche aujourd'hui</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Ce qui coûte</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Agent proposé</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r>
              <a:tr h="777240">
                <a:tc>
                  <a:txBody>
                    <a:bodyPr/>
                    <a:lstStyle/>
                    <a:p>
                      <a:pPr indent="0" marL="0">
                        <a:buNone/>
                      </a:pPr>
                      <a:r>
                        <a:rPr lang="en-US" sz="1250" b="1" dirty="0">
                          <a:solidFill>
                            <a:srgbClr val="1A1A2E"/>
                          </a:solidFill>
                        </a:rPr>
                        <a:t>Rédiger les cas depuis les US</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50" dirty="0">
                          <a:solidFill>
                            <a:srgbClr val="1A1A2E"/>
                          </a:solidFill>
                        </a:rPr>
                        <a:t>Long, et l'agent actuel produit des cas même quand l'US est ambiguë</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50" b="1" dirty="0">
                          <a:solidFill>
                            <a:srgbClr val="00338D"/>
                          </a:solidFill>
                        </a:rPr>
                        <a:t>Agent QC</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777240">
                <a:tc>
                  <a:txBody>
                    <a:bodyPr/>
                    <a:lstStyle/>
                    <a:p>
                      <a:pPr indent="0" marL="0">
                        <a:buNone/>
                      </a:pPr>
                      <a:r>
                        <a:rPr lang="en-US" sz="1250" b="1" dirty="0">
                          <a:solidFill>
                            <a:srgbClr val="1A1A2E"/>
                          </a:solidFill>
                        </a:rPr>
                        <a:t>Écrire et maintenir les tests Playwright</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rPr>
                        <a:t>Locators devinés, attentes fixes, tests qui passent sans rien vérifier</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250" b="1" dirty="0">
                          <a:solidFill>
                            <a:srgbClr val="00338D"/>
                          </a:solidFill>
                        </a:rPr>
                        <a:t>Agent Playwright</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777240">
                <a:tc>
                  <a:txBody>
                    <a:bodyPr/>
                    <a:lstStyle/>
                    <a:p>
                      <a:pPr indent="0" marL="0">
                        <a:buNone/>
                      </a:pPr>
                      <a:r>
                        <a:rPr lang="en-US" sz="1250" b="1" dirty="0">
                          <a:solidFill>
                            <a:srgbClr val="1A1A2E"/>
                          </a:solidFill>
                        </a:rPr>
                        <a:t>Contrôler les données (reprise IBS, mapping)</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50" dirty="0">
                          <a:solidFill>
                            <a:srgbClr val="1A1A2E"/>
                          </a:solidFill>
                        </a:rPr>
                        <a:t>Requêtes écrites à la main, écarts rarement creusés jusqu'à la cause</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50" b="1" dirty="0">
                          <a:solidFill>
                            <a:srgbClr val="00338D"/>
                          </a:solidFill>
                        </a:rPr>
                        <a:t>Agent data testing</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bl>
          </a:graphicData>
        </a:graphic>
      </p:graphicFrame>
      <p:sp>
        <p:nvSpPr>
          <p:cNvPr id="5" name="card"/>
          <p:cNvSpPr/>
          <p:nvPr/>
        </p:nvSpPr>
        <p:spPr>
          <a:xfrm>
            <a:off x="7863840" y="1645920"/>
            <a:ext cx="3749040" cy="2715768"/>
          </a:xfrm>
          <a:prstGeom prst="roundRect">
            <a:avLst>
              <a:gd name="adj" fmla="val 3367"/>
            </a:avLst>
          </a:prstGeom>
          <a:solidFill>
            <a:schemeClr val="tx2"/>
          </a:solidFill>
          <a:ln/>
        </p:spPr>
      </p:sp>
      <p:sp>
        <p:nvSpPr>
          <p:cNvPr id="6" name="Text 3"/>
          <p:cNvSpPr txBox="1"/>
          <p:nvPr/>
        </p:nvSpPr>
        <p:spPr>
          <a:xfrm>
            <a:off x="8092440" y="1783080"/>
            <a:ext cx="3291840" cy="365760"/>
          </a:xfrm>
          <a:prstGeom prst="rect">
            <a:avLst/>
          </a:prstGeom>
          <a:noFill/>
          <a:ln/>
        </p:spPr>
        <p:txBody>
          <a:bodyPr wrap="square" lIns="0" tIns="0" rIns="0" bIns="0" rtlCol="0" anchor="t"/>
          <a:lstStyle/>
          <a:p>
            <a:pPr indent="0" marL="0">
              <a:buNone/>
            </a:pPr>
            <a:r>
              <a:rPr lang="en-US" sz="1600" b="1" dirty="0">
                <a:solidFill>
                  <a:schemeClr val="bg1"/>
                </a:solidFill>
              </a:rPr>
              <a:t>Pourquoi à part</a:t>
            </a:r>
            <a:endParaRPr lang="en-US" sz="1600" dirty="0"/>
          </a:p>
        </p:txBody>
      </p:sp>
      <p:sp>
        <p:nvSpPr>
          <p:cNvPr id="7" name="Text 4"/>
          <p:cNvSpPr txBox="1"/>
          <p:nvPr/>
        </p:nvSpPr>
        <p:spPr>
          <a:xfrm>
            <a:off x="8092440" y="2240280"/>
            <a:ext cx="333756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Dépend de la politique IA de KPMG et de l'outil autorisé</a:t>
            </a:r>
            <a:endParaRPr lang="en-US" sz="1300" dirty="0"/>
          </a:p>
          <a:p>
            <a:pPr marL="342900" indent="-342900">
              <a:spcAft>
                <a:spcPts val="800"/>
              </a:spcAft>
              <a:buSzPct val="100000"/>
              <a:buChar char="•"/>
            </a:pPr>
            <a:r>
              <a:rPr lang="en-US" sz="1300" dirty="0">
                <a:solidFill>
                  <a:schemeClr val="bg1"/>
                </a:solidFill>
              </a:rPr>
              <a:t>Ne doit pas retarder le POC Playwright</a:t>
            </a:r>
            <a:endParaRPr lang="en-US" sz="1300" dirty="0"/>
          </a:p>
          <a:p>
            <a:pPr marL="342900" indent="-342900">
              <a:spcAft>
                <a:spcPts val="800"/>
              </a:spcAft>
              <a:buSzPct val="100000"/>
              <a:buChar char="•"/>
            </a:pPr>
            <a:r>
              <a:rPr lang="en-US" sz="1300" dirty="0">
                <a:solidFill>
                  <a:schemeClr val="bg1"/>
                </a:solidFill>
              </a:rPr>
              <a:t>Chaque agent s'évalue et se décide séparément</a:t>
            </a:r>
            <a:endParaRPr lang="en-US" sz="1300" dirty="0"/>
          </a:p>
        </p:txBody>
      </p:sp>
      <p:sp>
        <p:nvSpPr>
          <p:cNvPr id="8" name="card"/>
          <p:cNvSpPr/>
          <p:nvPr/>
        </p:nvSpPr>
        <p:spPr>
          <a:xfrm>
            <a:off x="548640" y="4572000"/>
            <a:ext cx="11064240" cy="1298448"/>
          </a:xfrm>
          <a:prstGeom prst="roundRect">
            <a:avLst>
              <a:gd name="adj" fmla="val 7042"/>
            </a:avLst>
          </a:prstGeom>
          <a:solidFill>
            <a:schemeClr val="accent5"/>
          </a:solidFill>
          <a:ln/>
        </p:spPr>
      </p:sp>
      <p:sp>
        <p:nvSpPr>
          <p:cNvPr id="9" name="Text 6"/>
          <p:cNvSpPr txBox="1"/>
          <p:nvPr/>
        </p:nvSpPr>
        <p:spPr>
          <a:xfrm>
            <a:off x="777240" y="4645152"/>
            <a:ext cx="5486400" cy="310896"/>
          </a:xfrm>
          <a:prstGeom prst="rect">
            <a:avLst/>
          </a:prstGeom>
          <a:noFill/>
          <a:ln/>
        </p:spPr>
        <p:txBody>
          <a:bodyPr wrap="square" lIns="0" tIns="0" rIns="0" bIns="0" rtlCol="0" anchor="t"/>
          <a:lstStyle/>
          <a:p>
            <a:pPr indent="0" marL="0">
              <a:buNone/>
            </a:pPr>
            <a:r>
              <a:rPr lang="en-US" sz="1400" b="1" dirty="0">
                <a:solidFill>
                  <a:schemeClr val="tx2"/>
                </a:solidFill>
              </a:rPr>
              <a:t>Trois mots utilisés ici</a:t>
            </a:r>
            <a:endParaRPr lang="en-US" sz="1400" dirty="0"/>
          </a:p>
        </p:txBody>
      </p:sp>
      <p:sp>
        <p:nvSpPr>
          <p:cNvPr id="10" name="Text 7"/>
          <p:cNvSpPr txBox="1"/>
          <p:nvPr/>
        </p:nvSpPr>
        <p:spPr>
          <a:xfrm>
            <a:off x="777240" y="4983480"/>
            <a:ext cx="3429000" cy="777240"/>
          </a:xfrm>
          <a:prstGeom prst="rect">
            <a:avLst/>
          </a:prstGeom>
          <a:noFill/>
          <a:ln/>
        </p:spPr>
        <p:txBody>
          <a:bodyPr wrap="square" lIns="0" tIns="0" rIns="0" bIns="0" rtlCol="0" anchor="t"/>
          <a:lstStyle/>
          <a:p>
            <a:pPr indent="0" marL="0">
              <a:buNone/>
            </a:pPr>
            <a:r>
              <a:rPr lang="en-US" sz="1200" b="1" dirty="0">
                <a:solidFill>
                  <a:srgbClr val="00338D"/>
                </a:solidFill>
              </a:rPr>
              <a:t>Agent : </a:t>
            </a:r>
            <a:pPr indent="0" marL="0">
              <a:buNone/>
            </a:pPr>
            <a:r>
              <a:rPr lang="en-US" sz="1200" dirty="0">
                <a:solidFill>
                  <a:schemeClr val="tx1"/>
                </a:solidFill>
              </a:rPr>
              <a:t>un modèle qui choisit lui-même l'étape suivante et utilise des outils</a:t>
            </a:r>
            <a:endParaRPr lang="en-US" sz="1200" dirty="0"/>
          </a:p>
        </p:txBody>
      </p:sp>
      <p:sp>
        <p:nvSpPr>
          <p:cNvPr id="11" name="Text 8"/>
          <p:cNvSpPr txBox="1"/>
          <p:nvPr/>
        </p:nvSpPr>
        <p:spPr>
          <a:xfrm>
            <a:off x="4407408" y="4983480"/>
            <a:ext cx="3429000" cy="777240"/>
          </a:xfrm>
          <a:prstGeom prst="rect">
            <a:avLst/>
          </a:prstGeom>
          <a:noFill/>
          <a:ln/>
        </p:spPr>
        <p:txBody>
          <a:bodyPr wrap="square" lIns="0" tIns="0" rIns="0" bIns="0" rtlCol="0" anchor="t"/>
          <a:lstStyle/>
          <a:p>
            <a:pPr indent="0" marL="0">
              <a:buNone/>
            </a:pPr>
            <a:r>
              <a:rPr lang="en-US" sz="1200" b="1" dirty="0">
                <a:solidFill>
                  <a:srgbClr val="00338D"/>
                </a:solidFill>
              </a:rPr>
              <a:t>Skill : </a:t>
            </a:r>
            <a:pPr indent="0" marL="0">
              <a:buNone/>
            </a:pPr>
            <a:r>
              <a:rPr lang="en-US" sz="1200" dirty="0">
                <a:solidFill>
                  <a:schemeClr val="tx1"/>
                </a:solidFill>
              </a:rPr>
              <a:t>une méthode écrite que l'agent charge quand la tâche s'y prête</a:t>
            </a:r>
            <a:endParaRPr lang="en-US" sz="1200" dirty="0"/>
          </a:p>
        </p:txBody>
      </p:sp>
      <p:sp>
        <p:nvSpPr>
          <p:cNvPr id="12" name="Text 9"/>
          <p:cNvSpPr txBox="1"/>
          <p:nvPr/>
        </p:nvSpPr>
        <p:spPr>
          <a:xfrm>
            <a:off x="8037576" y="4983480"/>
            <a:ext cx="3429000" cy="777240"/>
          </a:xfrm>
          <a:prstGeom prst="rect">
            <a:avLst/>
          </a:prstGeom>
          <a:noFill/>
          <a:ln/>
        </p:spPr>
        <p:txBody>
          <a:bodyPr wrap="square" lIns="0" tIns="0" rIns="0" bIns="0" rtlCol="0" anchor="t"/>
          <a:lstStyle/>
          <a:p>
            <a:pPr indent="0" marL="0">
              <a:buNone/>
            </a:pPr>
            <a:r>
              <a:rPr lang="en-US" sz="1200" b="1" dirty="0">
                <a:solidFill>
                  <a:srgbClr val="00338D"/>
                </a:solidFill>
              </a:rPr>
              <a:t>Serveur MCP : </a:t>
            </a:r>
            <a:pPr indent="0" marL="0">
              <a:buNone/>
            </a:pPr>
            <a:r>
              <a:rPr lang="en-US" sz="1200" dirty="0">
                <a:solidFill>
                  <a:schemeClr val="tx1"/>
                </a:solidFill>
              </a:rPr>
              <a:t>un outil exposé à l'agent, avec ses garde-fous écrits en code</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Trois agents, trois statuts différents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 seul est prêt à être essayé ; les deux autres attendent le POC Playwright ou une autorisation.</a:t>
            </a:r>
            <a:endParaRPr lang="en-US" sz="1600" dirty="0"/>
          </a:p>
        </p:txBody>
      </p:sp>
      <p:sp>
        <p:nvSpPr>
          <p:cNvPr id="4" name="card"/>
          <p:cNvSpPr/>
          <p:nvPr/>
        </p:nvSpPr>
        <p:spPr>
          <a:xfrm>
            <a:off x="548640" y="1645920"/>
            <a:ext cx="3520440" cy="3520440"/>
          </a:xfrm>
          <a:prstGeom prst="roundRect">
            <a:avLst>
              <a:gd name="adj" fmla="val 2597"/>
            </a:avLst>
          </a:prstGeom>
          <a:solidFill>
            <a:schemeClr val="tx2"/>
          </a:solidFill>
          <a:ln/>
        </p:spPr>
      </p:sp>
      <p:sp>
        <p:nvSpPr>
          <p:cNvPr id="5" name="icon-circle"/>
          <p:cNvSpPr/>
          <p:nvPr/>
        </p:nvSpPr>
        <p:spPr>
          <a:xfrm>
            <a:off x="713232" y="1783080"/>
            <a:ext cx="603504" cy="603504"/>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46003" y="1915851"/>
            <a:ext cx="337962" cy="337962"/>
          </a:xfrm>
          <a:prstGeom prst="rect">
            <a:avLst/>
          </a:prstGeom>
        </p:spPr>
      </p:pic>
      <p:sp>
        <p:nvSpPr>
          <p:cNvPr id="7" name="Text 4"/>
          <p:cNvSpPr txBox="1"/>
          <p:nvPr/>
        </p:nvSpPr>
        <p:spPr>
          <a:xfrm>
            <a:off x="1463040" y="1783080"/>
            <a:ext cx="2514600" cy="329184"/>
          </a:xfrm>
          <a:prstGeom prst="rect">
            <a:avLst/>
          </a:prstGeom>
          <a:noFill/>
          <a:ln/>
        </p:spPr>
        <p:txBody>
          <a:bodyPr wrap="square" lIns="0" tIns="0" rIns="0" bIns="0" rtlCol="0" anchor="t"/>
          <a:lstStyle/>
          <a:p>
            <a:pPr indent="0" marL="0">
              <a:buNone/>
            </a:pPr>
            <a:r>
              <a:rPr lang="en-US" sz="1600" b="1" dirty="0">
                <a:solidFill>
                  <a:schemeClr val="bg1"/>
                </a:solidFill>
              </a:rPr>
              <a:t>Agent QC</a:t>
            </a:r>
            <a:endParaRPr lang="en-US" sz="1600" dirty="0"/>
          </a:p>
        </p:txBody>
      </p:sp>
      <p:sp>
        <p:nvSpPr>
          <p:cNvPr id="8" name="box"/>
          <p:cNvSpPr/>
          <p:nvPr/>
        </p:nvSpPr>
        <p:spPr>
          <a:xfrm>
            <a:off x="1463040" y="2130552"/>
            <a:ext cx="2377440" cy="274320"/>
          </a:xfrm>
          <a:prstGeom prst="roundRect">
            <a:avLst>
              <a:gd name="adj" fmla="val 20000"/>
            </a:avLst>
          </a:prstGeom>
          <a:solidFill>
            <a:srgbClr val="DCEFE2"/>
          </a:solidFill>
          <a:ln/>
        </p:spPr>
      </p:sp>
      <p:sp>
        <p:nvSpPr>
          <p:cNvPr id="9" name="Text 6"/>
          <p:cNvSpPr txBox="1"/>
          <p:nvPr/>
        </p:nvSpPr>
        <p:spPr>
          <a:xfrm>
            <a:off x="1463040" y="2130552"/>
            <a:ext cx="2377440" cy="274320"/>
          </a:xfrm>
          <a:prstGeom prst="rect">
            <a:avLst/>
          </a:prstGeom>
          <a:noFill/>
          <a:ln/>
        </p:spPr>
        <p:txBody>
          <a:bodyPr wrap="square" lIns="0" tIns="0" rIns="0" bIns="0" rtlCol="0" anchor="ctr"/>
          <a:lstStyle/>
          <a:p>
            <a:pPr algn="ctr" indent="0" marL="0">
              <a:buNone/>
            </a:pPr>
            <a:r>
              <a:rPr lang="en-US" sz="1050" b="1" dirty="0">
                <a:solidFill>
                  <a:srgbClr val="2E7D4F"/>
                </a:solidFill>
              </a:rPr>
              <a:t>Existe, version améliorée prête</a:t>
            </a:r>
            <a:endParaRPr lang="en-US" sz="1050" dirty="0"/>
          </a:p>
        </p:txBody>
      </p:sp>
      <p:sp>
        <p:nvSpPr>
          <p:cNvPr id="10" name="Text 7"/>
          <p:cNvSpPr txBox="1"/>
          <p:nvPr/>
        </p:nvSpPr>
        <p:spPr>
          <a:xfrm>
            <a:off x="731520" y="2560320"/>
            <a:ext cx="3154680" cy="292608"/>
          </a:xfrm>
          <a:prstGeom prst="rect">
            <a:avLst/>
          </a:prstGeom>
          <a:noFill/>
          <a:ln/>
        </p:spPr>
        <p:txBody>
          <a:bodyPr wrap="square" lIns="0" tIns="0" rIns="0" bIns="0" rtlCol="0" anchor="t"/>
          <a:lstStyle/>
          <a:p>
            <a:pPr indent="0" marL="0">
              <a:buNone/>
            </a:pPr>
            <a:r>
              <a:rPr lang="en-US" sz="1150" i="1" dirty="0">
                <a:solidFill>
                  <a:schemeClr val="accent3"/>
                </a:solidFill>
              </a:rPr>
              <a:t>Agent du dépôt GitHub ; version proposée pour Claude Code</a:t>
            </a:r>
            <a:endParaRPr lang="en-US" sz="1150" dirty="0"/>
          </a:p>
        </p:txBody>
      </p:sp>
      <p:sp>
        <p:nvSpPr>
          <p:cNvPr id="11" name="Text 8"/>
          <p:cNvSpPr txBox="1"/>
          <p:nvPr/>
        </p:nvSpPr>
        <p:spPr>
          <a:xfrm>
            <a:off x="731520" y="2926080"/>
            <a:ext cx="3154680" cy="21488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bg1"/>
                </a:solidFill>
              </a:rPr>
              <a:t>Analyse l'US avec le contexte projet, questions au PO</a:t>
            </a:r>
            <a:endParaRPr lang="en-US" sz="1200" dirty="0"/>
          </a:p>
          <a:p>
            <a:pPr marL="342900" indent="-342900">
              <a:spcAft>
                <a:spcPts val="500"/>
              </a:spcAft>
              <a:buSzPct val="100000"/>
              <a:buChar char="•"/>
            </a:pPr>
            <a:r>
              <a:rPr lang="en-US" sz="1200" dirty="0">
                <a:solidFill>
                  <a:schemeClr val="bg1"/>
                </a:solidFill>
              </a:rPr>
              <a:t>Rédige les cas en Gherkin français, préconditions complètes</a:t>
            </a:r>
            <a:endParaRPr lang="en-US" sz="1200" dirty="0"/>
          </a:p>
          <a:p>
            <a:pPr marL="342900" indent="-342900">
              <a:spcAft>
                <a:spcPts val="500"/>
              </a:spcAft>
              <a:buSzPct val="100000"/>
              <a:buChar char="•"/>
            </a:pPr>
            <a:r>
              <a:rPr lang="en-US" sz="1200" dirty="0">
                <a:solidFill>
                  <a:schemeClr val="bg1"/>
                </a:solidFill>
              </a:rPr>
              <a:t>Publie dans Test Plans après accord, ou produit un CSV</a:t>
            </a:r>
            <a:endParaRPr lang="en-US" sz="1200" dirty="0"/>
          </a:p>
          <a:p>
            <a:pPr marL="342900" indent="-342900">
              <a:spcAft>
                <a:spcPts val="500"/>
              </a:spcAft>
              <a:buSzPct val="100000"/>
              <a:buChar char="•"/>
            </a:pPr>
            <a:r>
              <a:rPr lang="en-US" sz="1200" dirty="0">
                <a:solidFill>
                  <a:schemeClr val="bg1"/>
                </a:solidFill>
              </a:rPr>
              <a:t>Rédige les anomalies, avec un attendu sourcé</a:t>
            </a:r>
            <a:endParaRPr lang="en-US" sz="1200" dirty="0"/>
          </a:p>
        </p:txBody>
      </p:sp>
      <p:sp>
        <p:nvSpPr>
          <p:cNvPr id="12" name="card"/>
          <p:cNvSpPr/>
          <p:nvPr/>
        </p:nvSpPr>
        <p:spPr>
          <a:xfrm>
            <a:off x="4297680" y="1645920"/>
            <a:ext cx="3520440" cy="3520440"/>
          </a:xfrm>
          <a:prstGeom prst="roundRect">
            <a:avLst>
              <a:gd name="adj" fmla="val 2597"/>
            </a:avLst>
          </a:prstGeom>
          <a:solidFill>
            <a:schemeClr val="bg2"/>
          </a:solidFill>
          <a:ln/>
        </p:spPr>
      </p:sp>
      <p:sp>
        <p:nvSpPr>
          <p:cNvPr id="13" name="icon-circle"/>
          <p:cNvSpPr/>
          <p:nvPr/>
        </p:nvSpPr>
        <p:spPr>
          <a:xfrm>
            <a:off x="4462272" y="1783080"/>
            <a:ext cx="603504" cy="603504"/>
          </a:xfrm>
          <a:prstGeom prst="ellipse">
            <a:avLst/>
          </a:prstGeom>
          <a:solidFill>
            <a:schemeClr val="accent1"/>
          </a:solidFill>
          <a:ln/>
        </p:spPr>
      </p:sp>
      <p:pic>
        <p:nvPicPr>
          <p:cNvPr id="14" name="icon" descr="preencoded.png">    </p:cNvPr>
          <p:cNvPicPr>
            <a:picLocks noChangeAspect="1"/>
          </p:cNvPicPr>
          <p:nvPr/>
        </p:nvPicPr>
        <p:blipFill>
          <a:blip r:embed="rId2"/>
          <a:stretch>
            <a:fillRect/>
          </a:stretch>
        </p:blipFill>
        <p:spPr>
          <a:xfrm>
            <a:off x="4595043" y="1915851"/>
            <a:ext cx="337962" cy="337962"/>
          </a:xfrm>
          <a:prstGeom prst="rect">
            <a:avLst/>
          </a:prstGeom>
        </p:spPr>
      </p:pic>
      <p:sp>
        <p:nvSpPr>
          <p:cNvPr id="15" name="Text 11"/>
          <p:cNvSpPr txBox="1"/>
          <p:nvPr/>
        </p:nvSpPr>
        <p:spPr>
          <a:xfrm>
            <a:off x="5212080" y="1783080"/>
            <a:ext cx="2514600" cy="329184"/>
          </a:xfrm>
          <a:prstGeom prst="rect">
            <a:avLst/>
          </a:prstGeom>
          <a:noFill/>
          <a:ln/>
        </p:spPr>
        <p:txBody>
          <a:bodyPr wrap="square" lIns="0" tIns="0" rIns="0" bIns="0" rtlCol="0" anchor="t"/>
          <a:lstStyle/>
          <a:p>
            <a:pPr indent="0" marL="0">
              <a:buNone/>
            </a:pPr>
            <a:r>
              <a:rPr lang="en-US" sz="1600" b="1" dirty="0">
                <a:solidFill>
                  <a:schemeClr val="tx2"/>
                </a:solidFill>
              </a:rPr>
              <a:t>Agent Playwright</a:t>
            </a:r>
            <a:endParaRPr lang="en-US" sz="1600" dirty="0"/>
          </a:p>
        </p:txBody>
      </p:sp>
      <p:sp>
        <p:nvSpPr>
          <p:cNvPr id="16" name="box"/>
          <p:cNvSpPr/>
          <p:nvPr/>
        </p:nvSpPr>
        <p:spPr>
          <a:xfrm>
            <a:off x="5212080" y="2130552"/>
            <a:ext cx="2377440" cy="274320"/>
          </a:xfrm>
          <a:prstGeom prst="roundRect">
            <a:avLst>
              <a:gd name="adj" fmla="val 20000"/>
            </a:avLst>
          </a:prstGeom>
          <a:solidFill>
            <a:srgbClr val="FBEFD5"/>
          </a:solidFill>
          <a:ln/>
        </p:spPr>
      </p:sp>
      <p:sp>
        <p:nvSpPr>
          <p:cNvPr id="17" name="Text 13"/>
          <p:cNvSpPr txBox="1"/>
          <p:nvPr/>
        </p:nvSpPr>
        <p:spPr>
          <a:xfrm>
            <a:off x="5212080" y="2130552"/>
            <a:ext cx="2377440" cy="274320"/>
          </a:xfrm>
          <a:prstGeom prst="rect">
            <a:avLst/>
          </a:prstGeom>
          <a:noFill/>
          <a:ln/>
        </p:spPr>
        <p:txBody>
          <a:bodyPr wrap="square" lIns="0" tIns="0" rIns="0" bIns="0" rtlCol="0" anchor="ctr"/>
          <a:lstStyle/>
          <a:p>
            <a:pPr algn="ctr" indent="0" marL="0">
              <a:buNone/>
            </a:pPr>
            <a:r>
              <a:rPr lang="en-US" sz="1050" b="1" dirty="0">
                <a:solidFill>
                  <a:srgbClr val="B7791F"/>
                </a:solidFill>
              </a:rPr>
              <a:t>À construire après le POC</a:t>
            </a:r>
            <a:endParaRPr lang="en-US" sz="1050" dirty="0"/>
          </a:p>
        </p:txBody>
      </p:sp>
      <p:sp>
        <p:nvSpPr>
          <p:cNvPr id="18" name="Text 14"/>
          <p:cNvSpPr txBox="1"/>
          <p:nvPr/>
        </p:nvSpPr>
        <p:spPr>
          <a:xfrm>
            <a:off x="4480560" y="2560320"/>
            <a:ext cx="3154680" cy="292608"/>
          </a:xfrm>
          <a:prstGeom prst="rect">
            <a:avLst/>
          </a:prstGeom>
          <a:noFill/>
          <a:ln/>
        </p:spPr>
        <p:txBody>
          <a:bodyPr wrap="square" lIns="0" tIns="0" rIns="0" bIns="0" rtlCol="0" anchor="t"/>
          <a:lstStyle/>
          <a:p>
            <a:pPr indent="0" marL="0">
              <a:buNone/>
            </a:pPr>
            <a:r>
              <a:rPr lang="en-US" sz="1150" i="1" dirty="0">
                <a:solidFill>
                  <a:schemeClr val="accent1"/>
                </a:solidFill>
              </a:rPr>
              <a:t>Assistant de code et Playwright MCP</a:t>
            </a:r>
            <a:endParaRPr lang="en-US" sz="1150" dirty="0"/>
          </a:p>
        </p:txBody>
      </p:sp>
      <p:sp>
        <p:nvSpPr>
          <p:cNvPr id="19" name="Text 15"/>
          <p:cNvSpPr txBox="1"/>
          <p:nvPr/>
        </p:nvSpPr>
        <p:spPr>
          <a:xfrm>
            <a:off x="4480560" y="2926080"/>
            <a:ext cx="3154680" cy="21488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Lit l'US, explore l'écran avant d'écrire</a:t>
            </a:r>
            <a:endParaRPr lang="en-US" sz="1200" dirty="0"/>
          </a:p>
          <a:p>
            <a:pPr marL="342900" indent="-342900">
              <a:spcAft>
                <a:spcPts val="500"/>
              </a:spcAft>
              <a:buSzPct val="100000"/>
              <a:buChar char="•"/>
            </a:pPr>
            <a:r>
              <a:rPr lang="en-US" sz="1200" dirty="0">
                <a:solidFill>
                  <a:schemeClr val="tx1"/>
                </a:solidFill>
              </a:rPr>
              <a:t>Écrit les tests : Page Objects, clients API typés</a:t>
            </a:r>
            <a:endParaRPr lang="en-US" sz="1200" dirty="0"/>
          </a:p>
          <a:p>
            <a:pPr marL="342900" indent="-342900">
              <a:spcAft>
                <a:spcPts val="500"/>
              </a:spcAft>
              <a:buSzPct val="100000"/>
              <a:buChar char="•"/>
            </a:pPr>
            <a:r>
              <a:rPr lang="en-US" sz="1200" dirty="0">
                <a:solidFill>
                  <a:schemeClr val="tx1"/>
                </a:solidFill>
              </a:rPr>
              <a:t>Hooks : ni skip, ni attente fixe</a:t>
            </a:r>
            <a:endParaRPr lang="en-US" sz="1200" dirty="0"/>
          </a:p>
          <a:p>
            <a:pPr marL="342900" indent="-342900">
              <a:spcAft>
                <a:spcPts val="500"/>
              </a:spcAft>
              <a:buSzPct val="100000"/>
              <a:buChar char="•"/>
            </a:pPr>
            <a:r>
              <a:rPr lang="en-US" sz="1200" dirty="0">
                <a:solidFill>
                  <a:schemeClr val="tx1"/>
                </a:solidFill>
              </a:rPr>
              <a:t>Trie les échecs CI : produit, test ou instabilité</a:t>
            </a:r>
            <a:endParaRPr lang="en-US" sz="1200" dirty="0"/>
          </a:p>
        </p:txBody>
      </p:sp>
      <p:sp>
        <p:nvSpPr>
          <p:cNvPr id="20" name="card"/>
          <p:cNvSpPr/>
          <p:nvPr/>
        </p:nvSpPr>
        <p:spPr>
          <a:xfrm>
            <a:off x="8046720" y="1645920"/>
            <a:ext cx="3520440" cy="3520440"/>
          </a:xfrm>
          <a:prstGeom prst="roundRect">
            <a:avLst>
              <a:gd name="adj" fmla="val 2597"/>
            </a:avLst>
          </a:prstGeom>
          <a:solidFill>
            <a:schemeClr val="bg2"/>
          </a:solidFill>
          <a:ln/>
        </p:spPr>
      </p:sp>
      <p:sp>
        <p:nvSpPr>
          <p:cNvPr id="21" name="icon-circle"/>
          <p:cNvSpPr/>
          <p:nvPr/>
        </p:nvSpPr>
        <p:spPr>
          <a:xfrm>
            <a:off x="8211312" y="1783080"/>
            <a:ext cx="603504" cy="603504"/>
          </a:xfrm>
          <a:prstGeom prst="ellipse">
            <a:avLst/>
          </a:prstGeom>
          <a:solidFill>
            <a:schemeClr val="accent1"/>
          </a:solidFill>
          <a:ln/>
        </p:spPr>
      </p:sp>
      <p:pic>
        <p:nvPicPr>
          <p:cNvPr id="22" name="icon" descr="preencoded.png">    </p:cNvPr>
          <p:cNvPicPr>
            <a:picLocks noChangeAspect="1"/>
          </p:cNvPicPr>
          <p:nvPr/>
        </p:nvPicPr>
        <p:blipFill>
          <a:blip r:embed="rId3"/>
          <a:stretch>
            <a:fillRect/>
          </a:stretch>
        </p:blipFill>
        <p:spPr>
          <a:xfrm>
            <a:off x="8344083" y="1915851"/>
            <a:ext cx="337962" cy="337962"/>
          </a:xfrm>
          <a:prstGeom prst="rect">
            <a:avLst/>
          </a:prstGeom>
        </p:spPr>
      </p:pic>
      <p:sp>
        <p:nvSpPr>
          <p:cNvPr id="23" name="Text 18"/>
          <p:cNvSpPr txBox="1"/>
          <p:nvPr/>
        </p:nvSpPr>
        <p:spPr>
          <a:xfrm>
            <a:off x="8961120" y="1783080"/>
            <a:ext cx="2514600" cy="329184"/>
          </a:xfrm>
          <a:prstGeom prst="rect">
            <a:avLst/>
          </a:prstGeom>
          <a:noFill/>
          <a:ln/>
        </p:spPr>
        <p:txBody>
          <a:bodyPr wrap="square" lIns="0" tIns="0" rIns="0" bIns="0" rtlCol="0" anchor="t"/>
          <a:lstStyle/>
          <a:p>
            <a:pPr indent="0" marL="0">
              <a:buNone/>
            </a:pPr>
            <a:r>
              <a:rPr lang="en-US" sz="1600" b="1" dirty="0">
                <a:solidFill>
                  <a:schemeClr val="tx2"/>
                </a:solidFill>
              </a:rPr>
              <a:t>Agent data testing</a:t>
            </a:r>
            <a:endParaRPr lang="en-US" sz="1600" dirty="0"/>
          </a:p>
        </p:txBody>
      </p:sp>
      <p:sp>
        <p:nvSpPr>
          <p:cNvPr id="24" name="box"/>
          <p:cNvSpPr/>
          <p:nvPr/>
        </p:nvSpPr>
        <p:spPr>
          <a:xfrm>
            <a:off x="8961120" y="2130552"/>
            <a:ext cx="2377440" cy="274320"/>
          </a:xfrm>
          <a:prstGeom prst="roundRect">
            <a:avLst>
              <a:gd name="adj" fmla="val 20000"/>
            </a:avLst>
          </a:prstGeom>
          <a:solidFill>
            <a:srgbClr val="E6E9ED"/>
          </a:solidFill>
          <a:ln/>
        </p:spPr>
      </p:sp>
      <p:sp>
        <p:nvSpPr>
          <p:cNvPr id="25" name="Text 20"/>
          <p:cNvSpPr txBox="1"/>
          <p:nvPr/>
        </p:nvSpPr>
        <p:spPr>
          <a:xfrm>
            <a:off x="8961120" y="2130552"/>
            <a:ext cx="2377440" cy="274320"/>
          </a:xfrm>
          <a:prstGeom prst="rect">
            <a:avLst/>
          </a:prstGeom>
          <a:noFill/>
          <a:ln/>
        </p:spPr>
        <p:txBody>
          <a:bodyPr wrap="square" lIns="0" tIns="0" rIns="0" bIns="0" rtlCol="0" anchor="ctr"/>
          <a:lstStyle/>
          <a:p>
            <a:pPr algn="ctr" indent="0" marL="0">
              <a:buNone/>
            </a:pPr>
            <a:r>
              <a:rPr lang="en-US" sz="1050" b="1" dirty="0">
                <a:solidFill>
                  <a:srgbClr val="5F6B7A"/>
                </a:solidFill>
              </a:rPr>
              <a:t>Proposition</a:t>
            </a:r>
            <a:endParaRPr lang="en-US" sz="1050" dirty="0"/>
          </a:p>
        </p:txBody>
      </p:sp>
      <p:sp>
        <p:nvSpPr>
          <p:cNvPr id="26" name="Text 21"/>
          <p:cNvSpPr txBox="1"/>
          <p:nvPr/>
        </p:nvSpPr>
        <p:spPr>
          <a:xfrm>
            <a:off x="8229600" y="2560320"/>
            <a:ext cx="3154680" cy="292608"/>
          </a:xfrm>
          <a:prstGeom prst="rect">
            <a:avLst/>
          </a:prstGeom>
          <a:noFill/>
          <a:ln/>
        </p:spPr>
        <p:txBody>
          <a:bodyPr wrap="square" lIns="0" tIns="0" rIns="0" bIns="0" rtlCol="0" anchor="t"/>
          <a:lstStyle/>
          <a:p>
            <a:pPr indent="0" marL="0">
              <a:buNone/>
            </a:pPr>
            <a:r>
              <a:rPr lang="en-US" sz="1150" i="1" dirty="0">
                <a:solidFill>
                  <a:schemeClr val="accent1"/>
                </a:solidFill>
              </a:rPr>
              <a:t>Serveur MCP en lecture seule sur Azure SQL</a:t>
            </a:r>
            <a:endParaRPr lang="en-US" sz="1150" dirty="0"/>
          </a:p>
        </p:txBody>
      </p:sp>
      <p:sp>
        <p:nvSpPr>
          <p:cNvPr id="27" name="Text 22"/>
          <p:cNvSpPr txBox="1"/>
          <p:nvPr/>
        </p:nvSpPr>
        <p:spPr>
          <a:xfrm>
            <a:off x="8229600" y="2926080"/>
            <a:ext cx="3154680" cy="21488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Contrôles d'intégrité, de cohérence et de mapping</a:t>
            </a:r>
            <a:endParaRPr lang="en-US" sz="1200" dirty="0"/>
          </a:p>
          <a:p>
            <a:pPr marL="342900" indent="-342900">
              <a:spcAft>
                <a:spcPts val="500"/>
              </a:spcAft>
              <a:buSzPct val="100000"/>
              <a:buChar char="•"/>
            </a:pPr>
            <a:r>
              <a:rPr lang="en-US" sz="1200" dirty="0">
                <a:solidFill>
                  <a:schemeClr val="tx1"/>
                </a:solidFill>
              </a:rPr>
              <a:t>Garde-fou SQL en code : SELECT seul</a:t>
            </a:r>
            <a:endParaRPr lang="en-US" sz="1200" dirty="0"/>
          </a:p>
          <a:p>
            <a:pPr marL="342900" indent="-342900">
              <a:spcAft>
                <a:spcPts val="500"/>
              </a:spcAft>
              <a:buSzPct val="100000"/>
              <a:buChar char="•"/>
            </a:pPr>
            <a:r>
              <a:rPr lang="en-US" sz="1200" dirty="0">
                <a:solidFill>
                  <a:schemeClr val="tx1"/>
                </a:solidFill>
              </a:rPr>
              <a:t>Creuse chaque écart jusqu'à une cause probable</a:t>
            </a:r>
            <a:endParaRPr lang="en-US" sz="1200" dirty="0"/>
          </a:p>
        </p:txBody>
      </p:sp>
      <p:sp>
        <p:nvSpPr>
          <p:cNvPr id="28" name="card"/>
          <p:cNvSpPr/>
          <p:nvPr/>
        </p:nvSpPr>
        <p:spPr>
          <a:xfrm>
            <a:off x="548640" y="5303520"/>
            <a:ext cx="11064240" cy="566928"/>
          </a:xfrm>
          <a:prstGeom prst="roundRect">
            <a:avLst>
              <a:gd name="adj" fmla="val 16129"/>
            </a:avLst>
          </a:prstGeom>
          <a:solidFill>
            <a:schemeClr val="accent5"/>
          </a:solidFill>
          <a:ln/>
        </p:spPr>
      </p:sp>
      <p:sp>
        <p:nvSpPr>
          <p:cNvPr id="29" name="icon-circle"/>
          <p:cNvSpPr/>
          <p:nvPr/>
        </p:nvSpPr>
        <p:spPr>
          <a:xfrm>
            <a:off x="685800" y="5340096"/>
            <a:ext cx="493776" cy="493776"/>
          </a:xfrm>
          <a:prstGeom prst="ellipse">
            <a:avLst/>
          </a:prstGeom>
          <a:solidFill>
            <a:schemeClr val="accent1"/>
          </a:solidFill>
          <a:ln/>
        </p:spPr>
      </p:sp>
      <p:pic>
        <p:nvPicPr>
          <p:cNvPr id="30" name="icon" descr="preencoded.png">    </p:cNvPr>
          <p:cNvPicPr>
            <a:picLocks noChangeAspect="1"/>
          </p:cNvPicPr>
          <p:nvPr/>
        </p:nvPicPr>
        <p:blipFill>
          <a:blip r:embed="rId4"/>
          <a:stretch>
            <a:fillRect/>
          </a:stretch>
        </p:blipFill>
        <p:spPr>
          <a:xfrm>
            <a:off x="794431" y="5448727"/>
            <a:ext cx="276515" cy="276515"/>
          </a:xfrm>
          <a:prstGeom prst="rect">
            <a:avLst/>
          </a:prstGeom>
        </p:spPr>
      </p:pic>
      <p:sp>
        <p:nvSpPr>
          <p:cNvPr id="31" name="Text 25"/>
          <p:cNvSpPr txBox="1"/>
          <p:nvPr/>
        </p:nvSpPr>
        <p:spPr>
          <a:xfrm>
            <a:off x="1325880" y="5303520"/>
            <a:ext cx="10149840" cy="566928"/>
          </a:xfrm>
          <a:prstGeom prst="rect">
            <a:avLst/>
          </a:prstGeom>
          <a:noFill/>
          <a:ln/>
        </p:spPr>
        <p:txBody>
          <a:bodyPr wrap="square" lIns="0" tIns="0" rIns="0" bIns="0" rtlCol="0" anchor="ctr"/>
          <a:lstStyle/>
          <a:p>
            <a:pPr indent="0" marL="0">
              <a:buNone/>
            </a:pPr>
            <a:r>
              <a:rPr lang="en-US" sz="1300" b="1" dirty="0">
                <a:solidFill>
                  <a:srgbClr val="00338D"/>
                </a:solidFill>
              </a:rPr>
              <a:t>Règle commune : </a:t>
            </a:r>
            <a:pPr indent="0" marL="0">
              <a:buNone/>
            </a:pPr>
            <a:r>
              <a:rPr lang="en-US" sz="1300" dirty="0">
                <a:solidFill>
                  <a:schemeClr val="tx1"/>
                </a:solidFill>
              </a:rPr>
              <a:t>aucun agent n'écrit dans Azure DevOps, dans le dépôt ou dans une base sans validation humaine.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L'agent QC actuel : ce qui ne va pas, et ce qu'on corrige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Relevé dans sa sortie pour l'US 417829, ses consignes (qc.agent.md, « l. » = ligne) et les retours d'équipe.</a:t>
            </a:r>
            <a:endParaRPr lang="en-US" sz="1600" dirty="0"/>
          </a:p>
        </p:txBody>
      </p:sp>
      <p:graphicFrame>
        <p:nvGraphicFramePr>
          <p:cNvPr id="5" name="table-agent-actuel"/>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4023360"/>
                <a:gridCol w="3291840"/>
                <a:gridCol w="3749040"/>
              </a:tblGrid>
              <a:tr h="329184">
                <a:tc>
                  <a:txBody>
                    <a:bodyPr/>
                    <a:lstStyle/>
                    <a:p>
                      <a:pPr indent="0" marL="0">
                        <a:buNone/>
                      </a:pPr>
                      <a:r>
                        <a:rPr lang="en-US" sz="1200" b="1" dirty="0">
                          <a:solidFill>
                            <a:srgbClr val="FFFFFF"/>
                          </a:solidFill>
                        </a:rPr>
                        <a:t>Ce qu'il a produit</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B23B3B"/>
                    </a:solidFill>
                  </a:tcPr>
                </a:tc>
                <a:tc>
                  <a:txBody>
                    <a:bodyPr/>
                    <a:lstStyle/>
                    <a:p>
                      <a:pPr indent="0" marL="0">
                        <a:buNone/>
                      </a:pPr>
                      <a:r>
                        <a:rPr lang="en-US" sz="1200" b="1" dirty="0">
                          <a:solidFill>
                            <a:srgbClr val="FFFFFF"/>
                          </a:solidFill>
                        </a:rPr>
                        <a:t>La cause dans qc.agent.md</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Dans la version améliorée</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2E7D4F"/>
                    </a:solidFill>
                  </a:tcPr>
                </a:tc>
              </a:tr>
              <a:tr h="493776">
                <a:tc>
                  <a:txBody>
                    <a:bodyPr/>
                    <a:lstStyle/>
                    <a:p>
                      <a:pPr indent="0" marL="0">
                        <a:buNone/>
                      </a:pPr>
                      <a:r>
                        <a:rPr lang="en-US" sz="1100" b="1" dirty="0">
                          <a:solidFill>
                            <a:srgbClr val="1A1A2E"/>
                          </a:solidFill>
                        </a:rPr>
                        <a:t>Une ligne Given, When, Then par cas, sans aucun Et (TC-001 à TC-014)</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Gherkin dans une cellule de tableau (l. 205-206) ; exemple en Given, When, Then (l. 232)</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00338D"/>
                          </a:solidFill>
                        </a:rPr>
                        <a:t>Gherkin en français : Étant donné, Quand, Alors, et leurs Et</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93776">
                <a:tc>
                  <a:txBody>
                    <a:bodyPr/>
                    <a:lstStyle/>
                    <a:p>
                      <a:pPr indent="0" marL="0">
                        <a:buNone/>
                      </a:pPr>
                      <a:r>
                        <a:rPr lang="en-US" sz="1100" b="1" dirty="0">
                          <a:solidFill>
                            <a:srgbClr val="1A1A2E"/>
                          </a:solidFill>
                        </a:rPr>
                        <a:t>Ni rôle, ni écran, ni données : « Given le formulaire de création ouvert » (TC-005)</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Exemple à copier : « Given un utilisateur actif » (l. 232)</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00338D"/>
                          </a:solidFill>
                        </a:rPr>
                        <a:t>Toutes les préconditions en Étant donné : rôle et compte, écran, données fictives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93776">
                <a:tc>
                  <a:txBody>
                    <a:bodyPr/>
                    <a:lstStyle/>
                    <a:p>
                      <a:pPr indent="0" marL="0">
                        <a:buNone/>
                      </a:pPr>
                      <a:r>
                        <a:rPr lang="en-US" sz="1100" b="1" dirty="0">
                          <a:solidFill>
                            <a:srgbClr val="1A1A2E"/>
                          </a:solidFill>
                        </a:rPr>
                        <a:t>Pas de question au PO ; « anti double clic » ajouté alors que l'US n'en parle pas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Structure fixe en 5 parties, aucune partie à ajouter (l. 207)</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00338D"/>
                          </a:solidFill>
                        </a:rPr>
                        <a:t>Seule une règle rédigeable donne un cas ; les autres deviennent des questions au PO</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93776">
                <a:tc>
                  <a:txBody>
                    <a:bodyPr/>
                    <a:lstStyle/>
                    <a:p>
                      <a:pPr indent="0" marL="0">
                        <a:buNone/>
                      </a:pPr>
                      <a:r>
                        <a:rPr lang="en-US" sz="1100" b="1" dirty="0">
                          <a:solidFill>
                            <a:srgbClr val="1A1A2E"/>
                          </a:solidFill>
                        </a:rPr>
                        <a:t>« Le collaborateur est affecté à la demande » avant sa création (TC-008)</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Aucune règle sur le résultat attendu</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00338D"/>
                          </a:solidFill>
                        </a:rPr>
                        <a:t>Résultat exact ; un refus vérifie aussi que la donnée n'a pas changé</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93776">
                <a:tc>
                  <a:txBody>
                    <a:bodyPr/>
                    <a:lstStyle/>
                    <a:p>
                      <a:pPr indent="0" marL="0">
                        <a:buNone/>
                      </a:pPr>
                      <a:r>
                        <a:rPr lang="en-US" sz="1100" b="1" dirty="0">
                          <a:solidFill>
                            <a:srgbClr val="1A1A2E"/>
                          </a:solidFill>
                        </a:rPr>
                        <a:t>Règle de validation (US §4) : 1 situation sur 5 dans TC-001 à TC-015</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Aucune étape d'extraction des règles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00338D"/>
                          </a:solidFill>
                        </a:rPr>
                        <a:t>Règles extraites de l'US, une ligne par situation</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93776">
                <a:tc>
                  <a:txBody>
                    <a:bodyPr/>
                    <a:lstStyle/>
                    <a:p>
                      <a:pPr indent="0" marL="0">
                        <a:buNone/>
                      </a:pPr>
                      <a:r>
                        <a:rPr lang="en-US" sz="1100" b="1" dirty="0">
                          <a:solidFill>
                            <a:srgbClr val="1A1A2E"/>
                          </a:solidFill>
                        </a:rPr>
                        <a:t>Chaque US traitée isolément (retour d'équipe)</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Lit le work item de l'US (l. 31) ; rien sur la Feature ni les cas existants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00338D"/>
                          </a:solidFill>
                        </a:rPr>
                        <a:t>Fichier de contexte projet relu et daté : rôles, comptes, règles validées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93776">
                <a:tc>
                  <a:txBody>
                    <a:bodyPr/>
                    <a:lstStyle/>
                    <a:p>
                      <a:pPr indent="0" marL="0">
                        <a:buNone/>
                      </a:pPr>
                      <a:r>
                        <a:rPr lang="en-US" sz="1100" b="1" dirty="0">
                          <a:solidFill>
                            <a:srgbClr val="1A1A2E"/>
                          </a:solidFill>
                        </a:rPr>
                        <a:t>Reprise Oui puis Non : même résultat écrit (TC-013, TC-014)</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Aucune règle sur les doublons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00338D"/>
                          </a:solidFill>
                        </a:rPr>
                        <a:t>Un cas par résultat attendu distinct</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93776">
                <a:tc>
                  <a:txBody>
                    <a:bodyPr/>
                    <a:lstStyle/>
                    <a:p>
                      <a:pPr indent="0" marL="0">
                        <a:buNone/>
                      </a:pPr>
                      <a:r>
                        <a:rPr lang="en-US" sz="1100" b="1" dirty="0">
                          <a:solidFill>
                            <a:srgbClr val="1A1A2E"/>
                          </a:solidFill>
                        </a:rPr>
                        <a:t>Un plan créé par US ; seuls les cas « Fonctionnel » publiés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Création obligatoire dès qu'un ID est fourni (l. 51, 173) ; Fonctionnel seulement (l. 170)</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00338D"/>
                          </a:solidFill>
                        </a:rPr>
                        <a:t>Relecture, puis publication après accord dans le plan existant</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43600"/>
            <a:ext cx="11064240" cy="329184"/>
          </a:xfrm>
          <a:prstGeom prst="rect">
            <a:avLst/>
          </a:prstGeom>
          <a:noFill/>
          <a:ln/>
        </p:spPr>
        <p:txBody>
          <a:bodyPr wrap="square" lIns="0" tIns="0" rIns="0" bIns="0" rtlCol="0" anchor="t"/>
          <a:lstStyle/>
          <a:p>
            <a:pPr indent="0" marL="0">
              <a:buNone/>
            </a:pPr>
            <a:r>
              <a:rPr lang="en-US" sz="1200" b="1" dirty="0">
                <a:solidFill>
                  <a:srgbClr val="00338D"/>
                </a:solidFill>
              </a:rPr>
              <a:t>Ce qui marche déjà : </a:t>
            </a:r>
            <a:pPr indent="0" marL="0">
              <a:buNone/>
            </a:pPr>
            <a:r>
              <a:rPr lang="en-US" sz="1200" dirty="0">
                <a:solidFill>
                  <a:schemeClr val="tx1"/>
                </a:solidFill>
              </a:rPr>
              <a:t>une publication bien outillée (codes HTTP contrôlés, liens vérifiés) et certains cas concrets, gardés tels quels.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Même US, deux résultats : « Créer une nouvelle demande »</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US 417829, même modèle (Claude Sonnet 5.5) : l'agent actuel face au nouvel agent lancé dans Claude Code.</a:t>
            </a:r>
            <a:endParaRPr lang="en-US" sz="1600" dirty="0"/>
          </a:p>
        </p:txBody>
      </p:sp>
      <p:graphicFrame>
        <p:nvGraphicFramePr>
          <p:cNvPr id="6" name="table-comparaison"/>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2286000"/>
                <a:gridCol w="4206240"/>
                <a:gridCol w="4572000"/>
              </a:tblGrid>
              <a:tr h="329184">
                <a:tc>
                  <a:txBody>
                    <a:bodyPr/>
                    <a:lstStyle/>
                    <a:p>
                      <a:pPr indent="0" marL="0">
                        <a:buNone/>
                      </a:pPr>
                      <a:r>
                        <a:rPr lang="en-US" sz="1200" b="1" dirty="0">
                          <a:solidFill>
                            <a:srgbClr val="FFFFFF"/>
                          </a:solidFill>
                        </a:rPr>
                        <a:t>Point</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Agent QC actuel</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B23B3B"/>
                    </a:solidFill>
                  </a:tcPr>
                </a:tc>
                <a:tc>
                  <a:txBody>
                    <a:bodyPr/>
                    <a:lstStyle/>
                    <a:p>
                      <a:pPr indent="0" marL="0">
                        <a:buNone/>
                      </a:pPr>
                      <a:r>
                        <a:rPr lang="en-US" sz="1200" b="1" dirty="0">
                          <a:solidFill>
                            <a:srgbClr val="FFFFFF"/>
                          </a:solidFill>
                        </a:rPr>
                        <a:t>Nouvel agent</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2E7D4F"/>
                    </a:solidFill>
                  </a:tcPr>
                </a:tc>
              </a:tr>
              <a:tr h="475488">
                <a:tc>
                  <a:txBody>
                    <a:bodyPr/>
                    <a:lstStyle/>
                    <a:p>
                      <a:pPr indent="0" marL="0">
                        <a:buNone/>
                      </a:pPr>
                      <a:r>
                        <a:rPr lang="en-US" sz="1100" b="1" dirty="0">
                          <a:solidFill>
                            <a:srgbClr val="1A1A2E"/>
                          </a:solidFill>
                        </a:rPr>
                        <a:t>Forme</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Une ligne Given, When, Then par cas ; « Fonctionnel » partout (TC-001 à TC-014)</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00338D"/>
                          </a:solidFill>
                        </a:rPr>
                        <a:t>Gherkin en français, préconditions, actions et résultats sur des lignes séparées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75488">
                <a:tc>
                  <a:txBody>
                    <a:bodyPr/>
                    <a:lstStyle/>
                    <a:p>
                      <a:pPr indent="0" marL="0">
                        <a:buNone/>
                      </a:pPr>
                      <a:r>
                        <a:rPr lang="en-US" sz="1100" b="1" dirty="0">
                          <a:solidFill>
                            <a:srgbClr val="1A1A2E"/>
                          </a:solidFill>
                        </a:rPr>
                        <a:t>Préconditions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 Given le formulaire de création ouvert » (TC-005) ; « une entité valide » (TC-013)</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00338D"/>
                          </a:solidFill>
                        </a:rPr>
                        <a:t>Rôle et compte, écran de départ, entité et statut de sa demande</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A1A2E"/>
                          </a:solidFill>
                        </a:rPr>
                        <a:t>Rôles (US §1)</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 un rôle autre qu'Admin ou SuperAdmin » (TC-003)</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00338D"/>
                          </a:solidFill>
                        </a:rPr>
                        <a:t>Rôle User nommé, avec son compte de test</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75488">
                <a:tc>
                  <a:txBody>
                    <a:bodyPr/>
                    <a:lstStyle/>
                    <a:p>
                      <a:pPr indent="0" marL="0">
                        <a:buNone/>
                      </a:pPr>
                      <a:r>
                        <a:rPr lang="en-US" sz="1100" b="1" dirty="0">
                          <a:solidFill>
                            <a:srgbClr val="1A1A2E"/>
                          </a:solidFill>
                        </a:rPr>
                        <a:t>Règle de validation (US §4)</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1 situation sur 5 : entité sans demande (TC-012)</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00338D"/>
                          </a:solidFill>
                        </a:rPr>
                        <a:t>5 situations sur 5, dans les deux natures : 4 créations, 4 refus, la demande existante vérifiée inchangée</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A1A2E"/>
                          </a:solidFill>
                        </a:rPr>
                        <a:t>Champs obligatoires (US §3, §4)</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1 cas générique (TC-015)</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00338D"/>
                          </a:solidFill>
                        </a:rPr>
                        <a:t>N° Requête BSC vide : refus et « aucune demande n'est créée » ; les autres champs ont une valeur par défaut</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75488">
                <a:tc>
                  <a:txBody>
                    <a:bodyPr/>
                    <a:lstStyle/>
                    <a:p>
                      <a:pPr indent="0" marL="0">
                        <a:buNone/>
                      </a:pPr>
                      <a:r>
                        <a:rPr lang="en-US" sz="1100" b="1" dirty="0">
                          <a:solidFill>
                            <a:srgbClr val="1A1A2E"/>
                          </a:solidFill>
                        </a:rPr>
                        <a:t>Ajouts absents de l'US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 Désactivation du bouton pendant l'envoi (anti double clic) »</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00338D"/>
                          </a:solidFill>
                        </a:rPr>
                        <a:t>Aucun</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A1A2E"/>
                          </a:solidFill>
                        </a:rPr>
                        <a:t>Reprise (US §3)</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TC-013 et TC-014 : même résultat écrit pour Oui et Non</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00" dirty="0">
                          <a:solidFill>
                            <a:srgbClr val="00338D"/>
                          </a:solidFill>
                        </a:rPr>
                        <a:t>Absent en Renouvellement, Oui et Non en Nouveau ; son effet, non décrit par l'US, n'est pas inventé</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75488">
                <a:tc>
                  <a:txBody>
                    <a:bodyPr/>
                    <a:lstStyle/>
                    <a:p>
                      <a:pPr indent="0" marL="0">
                        <a:buNone/>
                      </a:pPr>
                      <a:r>
                        <a:rPr lang="en-US" sz="1100" b="1" dirty="0">
                          <a:solidFill>
                            <a:srgbClr val="1A1A2E"/>
                          </a:solidFill>
                        </a:rPr>
                        <a:t>Ce que l'US ne dit pas</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Aucune question ; l'erreur « Entité ID inconnue » prévue en test UI sans relever que la saisie libre est impossible (TC-011)</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00" dirty="0">
                          <a:solidFill>
                            <a:srgbClr val="00338D"/>
                          </a:solidFill>
                        </a:rPr>
                        <a:t>14 questions au PO, dont 4 bloquantes : Entité ID inconnue (§3), documents obligatoires (§4), millésime en Nouveau</a:t>
                      </a:r>
                      <a:endParaRPr lang="en-US" sz="11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64240" cy="329184"/>
          </a:xfrm>
          <a:prstGeom prst="rect">
            <a:avLst/>
          </a:prstGeom>
          <a:noFill/>
          <a:ln/>
        </p:spPr>
        <p:txBody>
          <a:bodyPr wrap="square" lIns="0" tIns="0" rIns="0" bIns="0" rtlCol="0" anchor="t"/>
          <a:lstStyle/>
          <a:p>
            <a:pPr indent="0" marL="0">
              <a:buNone/>
            </a:pPr>
            <a:r>
              <a:rPr lang="en-US" sz="1200" b="1" dirty="0">
                <a:solidFill>
                  <a:srgbClr val="00338D"/>
                </a:solidFill>
              </a:rPr>
              <a:t>Repris de l'agent actuel : </a:t>
            </a:r>
            <a:pPr indent="0" marL="0">
              <a:buNone/>
            </a:pPr>
            <a:r>
              <a:rPr lang="en-US" sz="1200" dirty="0">
                <a:solidFill>
                  <a:schemeClr val="tx1"/>
                </a:solidFill>
              </a:rPr>
              <a:t>Reprise absent en Renouvellement (TC-005), nom concret par défaut (TC-007), saisie libre de l'entité interdite (TC-011).</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Agent QC : de l'US au cas publié, sans rien inventer</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 contexte projet qui s'enrichit, une étape par commande, une relecture humaine avant toute écriture.</a:t>
            </a:r>
            <a:endParaRPr lang="en-US" sz="1600" dirty="0"/>
          </a:p>
        </p:txBody>
      </p:sp>
      <p:sp>
        <p:nvSpPr>
          <p:cNvPr id="4" name="etape-qc"/>
          <p:cNvSpPr/>
          <p:nvPr/>
        </p:nvSpPr>
        <p:spPr>
          <a:xfrm>
            <a:off x="548640" y="1600200"/>
            <a:ext cx="2880360" cy="868680"/>
          </a:xfrm>
          <a:prstGeom prst="chevron">
            <a:avLst/>
          </a:prstGeom>
          <a:solidFill>
            <a:schemeClr val="tx2"/>
          </a:solidFill>
          <a:ln/>
        </p:spPr>
      </p:sp>
      <p:sp>
        <p:nvSpPr>
          <p:cNvPr id="5" name="Text 3"/>
          <p:cNvSpPr txBox="1"/>
          <p:nvPr/>
        </p:nvSpPr>
        <p:spPr>
          <a:xfrm>
            <a:off x="960120" y="1600200"/>
            <a:ext cx="2103120" cy="868680"/>
          </a:xfrm>
          <a:prstGeom prst="rect">
            <a:avLst/>
          </a:prstGeom>
          <a:noFill/>
          <a:ln/>
        </p:spPr>
        <p:txBody>
          <a:bodyPr wrap="square" lIns="0" tIns="0" rIns="0" bIns="0" rtlCol="0" anchor="ctr"/>
          <a:lstStyle/>
          <a:p>
            <a:pPr algn="ctr" indent="0" marL="0">
              <a:buNone/>
            </a:pPr>
            <a:r>
              <a:rPr lang="en-US" sz="1300" b="1" dirty="0">
                <a:solidFill>
                  <a:schemeClr val="bg1"/>
                </a:solidFill>
              </a:rPr>
              <a:t>Contexte projet</a:t>
            </a:r>
            <a:endParaRPr lang="en-US" sz="1300" dirty="0"/>
          </a:p>
          <a:p>
            <a:pPr algn="ctr" indent="0" marL="0">
              <a:buNone/>
            </a:pPr>
            <a:r>
              <a:rPr lang="en-US" sz="1050" dirty="0">
                <a:solidFill>
                  <a:schemeClr val="bg1"/>
                </a:solidFill>
              </a:rPr>
              <a:t>Créé depuis le PRD et le DAG, enrichi après accord</a:t>
            </a:r>
            <a:endParaRPr lang="en-US" sz="1300" dirty="0"/>
          </a:p>
        </p:txBody>
      </p:sp>
      <p:sp>
        <p:nvSpPr>
          <p:cNvPr id="6" name="etape-qc"/>
          <p:cNvSpPr/>
          <p:nvPr/>
        </p:nvSpPr>
        <p:spPr>
          <a:xfrm>
            <a:off x="3337560" y="1600200"/>
            <a:ext cx="2880360" cy="868680"/>
          </a:xfrm>
          <a:prstGeom prst="chevron">
            <a:avLst/>
          </a:prstGeom>
          <a:solidFill>
            <a:schemeClr val="accent1"/>
          </a:solidFill>
          <a:ln/>
        </p:spPr>
      </p:sp>
      <p:sp>
        <p:nvSpPr>
          <p:cNvPr id="7" name="Text 5"/>
          <p:cNvSpPr txBox="1"/>
          <p:nvPr/>
        </p:nvSpPr>
        <p:spPr>
          <a:xfrm>
            <a:off x="3749040" y="1600200"/>
            <a:ext cx="2103120" cy="868680"/>
          </a:xfrm>
          <a:prstGeom prst="rect">
            <a:avLst/>
          </a:prstGeom>
          <a:noFill/>
          <a:ln/>
        </p:spPr>
        <p:txBody>
          <a:bodyPr wrap="square" lIns="0" tIns="0" rIns="0" bIns="0" rtlCol="0" anchor="ctr"/>
          <a:lstStyle/>
          <a:p>
            <a:pPr algn="ctr" indent="0" marL="0">
              <a:buNone/>
            </a:pPr>
            <a:r>
              <a:rPr lang="en-US" sz="1300" b="1" dirty="0">
                <a:solidFill>
                  <a:schemeClr val="bg1"/>
                </a:solidFill>
              </a:rPr>
              <a:t>Analyse de l'US</a:t>
            </a:r>
            <a:endParaRPr lang="en-US" sz="1300" dirty="0"/>
          </a:p>
          <a:p>
            <a:pPr algn="ctr" indent="0" marL="0">
              <a:buNone/>
            </a:pPr>
            <a:r>
              <a:rPr lang="en-US" sz="1050" dirty="0">
                <a:solidFill>
                  <a:schemeClr val="bg1"/>
                </a:solidFill>
              </a:rPr>
              <a:t>Règles, préconditions, questions</a:t>
            </a:r>
            <a:endParaRPr lang="en-US" sz="1300" dirty="0"/>
          </a:p>
        </p:txBody>
      </p:sp>
      <p:sp>
        <p:nvSpPr>
          <p:cNvPr id="8" name="etape-qc"/>
          <p:cNvSpPr/>
          <p:nvPr/>
        </p:nvSpPr>
        <p:spPr>
          <a:xfrm>
            <a:off x="6126480" y="1600200"/>
            <a:ext cx="2880360" cy="868680"/>
          </a:xfrm>
          <a:prstGeom prst="chevron">
            <a:avLst/>
          </a:prstGeom>
          <a:solidFill>
            <a:schemeClr val="tx2"/>
          </a:solidFill>
          <a:ln/>
        </p:spPr>
      </p:sp>
      <p:sp>
        <p:nvSpPr>
          <p:cNvPr id="9" name="Text 7"/>
          <p:cNvSpPr txBox="1"/>
          <p:nvPr/>
        </p:nvSpPr>
        <p:spPr>
          <a:xfrm>
            <a:off x="6537960" y="1600200"/>
            <a:ext cx="2103120" cy="868680"/>
          </a:xfrm>
          <a:prstGeom prst="rect">
            <a:avLst/>
          </a:prstGeom>
          <a:noFill/>
          <a:ln/>
        </p:spPr>
        <p:txBody>
          <a:bodyPr wrap="square" lIns="0" tIns="0" rIns="0" bIns="0" rtlCol="0" anchor="ctr"/>
          <a:lstStyle/>
          <a:p>
            <a:pPr algn="ctr" indent="0" marL="0">
              <a:buNone/>
            </a:pPr>
            <a:r>
              <a:rPr lang="en-US" sz="1300" b="1" dirty="0">
                <a:solidFill>
                  <a:schemeClr val="bg1"/>
                </a:solidFill>
              </a:rPr>
              <a:t>Rédaction Gherkin</a:t>
            </a:r>
            <a:endParaRPr lang="en-US" sz="1300" dirty="0"/>
          </a:p>
          <a:p>
            <a:pPr algn="ctr" indent="0" marL="0">
              <a:buNone/>
            </a:pPr>
            <a:r>
              <a:rPr lang="en-US" sz="1050" dirty="0">
                <a:solidFill>
                  <a:schemeClr val="bg1"/>
                </a:solidFill>
              </a:rPr>
              <a:t>Scénarios en français</a:t>
            </a:r>
            <a:endParaRPr lang="en-US" sz="1300" dirty="0"/>
          </a:p>
        </p:txBody>
      </p:sp>
      <p:sp>
        <p:nvSpPr>
          <p:cNvPr id="10" name="etape-qc"/>
          <p:cNvSpPr/>
          <p:nvPr/>
        </p:nvSpPr>
        <p:spPr>
          <a:xfrm>
            <a:off x="8915400" y="1600200"/>
            <a:ext cx="2880360" cy="868680"/>
          </a:xfrm>
          <a:prstGeom prst="chevron">
            <a:avLst/>
          </a:prstGeom>
          <a:solidFill>
            <a:schemeClr val="accent4"/>
          </a:solidFill>
          <a:ln/>
        </p:spPr>
      </p:sp>
      <p:sp>
        <p:nvSpPr>
          <p:cNvPr id="11" name="Text 9"/>
          <p:cNvSpPr txBox="1"/>
          <p:nvPr/>
        </p:nvSpPr>
        <p:spPr>
          <a:xfrm>
            <a:off x="9326880" y="1600200"/>
            <a:ext cx="2103120" cy="868680"/>
          </a:xfrm>
          <a:prstGeom prst="rect">
            <a:avLst/>
          </a:prstGeom>
          <a:noFill/>
          <a:ln/>
        </p:spPr>
        <p:txBody>
          <a:bodyPr wrap="square" lIns="0" tIns="0" rIns="0" bIns="0" rtlCol="0" anchor="ctr"/>
          <a:lstStyle/>
          <a:p>
            <a:pPr algn="ctr" indent="0" marL="0">
              <a:buNone/>
            </a:pPr>
            <a:r>
              <a:rPr lang="en-US" sz="1300" b="1" dirty="0">
                <a:solidFill>
                  <a:schemeClr val="bg1"/>
                </a:solidFill>
              </a:rPr>
              <a:t>Relecture, publication</a:t>
            </a:r>
            <a:endParaRPr lang="en-US" sz="1300" dirty="0"/>
          </a:p>
          <a:p>
            <a:pPr algn="ctr" indent="0" marL="0">
              <a:buNone/>
            </a:pPr>
            <a:r>
              <a:rPr lang="en-US" sz="1050" dirty="0">
                <a:solidFill>
                  <a:schemeClr val="bg1"/>
                </a:solidFill>
              </a:rPr>
              <a:t>Après « oui », ou en CSV</a:t>
            </a:r>
            <a:endParaRPr lang="en-US" sz="1300" dirty="0"/>
          </a:p>
        </p:txBody>
      </p:sp>
      <p:sp>
        <p:nvSpPr>
          <p:cNvPr id="12" name="Text 10"/>
          <p:cNvSpPr txBox="1"/>
          <p:nvPr/>
        </p:nvSpPr>
        <p:spPr>
          <a:xfrm>
            <a:off x="548640" y="2560320"/>
            <a:ext cx="11064240" cy="329184"/>
          </a:xfrm>
          <a:prstGeom prst="rect">
            <a:avLst/>
          </a:prstGeom>
          <a:noFill/>
          <a:ln/>
        </p:spPr>
        <p:txBody>
          <a:bodyPr wrap="square" lIns="0" tIns="0" rIns="0" bIns="0" rtlCol="0" anchor="t"/>
          <a:lstStyle/>
          <a:p>
            <a:pPr indent="0" marL="0">
              <a:buNone/>
            </a:pPr>
            <a:r>
              <a:rPr lang="en-US" sz="1250" b="1" dirty="0">
                <a:solidFill>
                  <a:srgbClr val="00338D"/>
                </a:solidFill>
              </a:rPr>
              <a:t>À part : </a:t>
            </a:r>
            <a:pPr indent="0" marL="0">
              <a:buNone/>
            </a:pPr>
            <a:r>
              <a:rPr lang="en-US" sz="1250" dirty="0">
                <a:solidFill>
                  <a:schemeClr val="tx1"/>
                </a:solidFill>
              </a:rPr>
              <a:t>un skill de rédaction d'anomalie, sur le même principe : faits, attendu sourcé, doublons cherchés, création après accord.</a:t>
            </a:r>
            <a:endParaRPr lang="en-US" sz="1250" dirty="0"/>
          </a:p>
        </p:txBody>
      </p:sp>
      <p:sp>
        <p:nvSpPr>
          <p:cNvPr id="13" name="card"/>
          <p:cNvSpPr/>
          <p:nvPr/>
        </p:nvSpPr>
        <p:spPr>
          <a:xfrm>
            <a:off x="548640" y="3017520"/>
            <a:ext cx="5440680" cy="2834640"/>
          </a:xfrm>
          <a:prstGeom prst="roundRect">
            <a:avLst>
              <a:gd name="adj" fmla="val 3226"/>
            </a:avLst>
          </a:prstGeom>
          <a:solidFill>
            <a:schemeClr val="bg2"/>
          </a:solidFill>
          <a:ln/>
        </p:spPr>
      </p:sp>
      <p:sp>
        <p:nvSpPr>
          <p:cNvPr id="14" name="Text 12"/>
          <p:cNvSpPr txBox="1"/>
          <p:nvPr/>
        </p:nvSpPr>
        <p:spPr>
          <a:xfrm>
            <a:off x="777240" y="3127248"/>
            <a:ext cx="4937760" cy="329184"/>
          </a:xfrm>
          <a:prstGeom prst="rect">
            <a:avLst/>
          </a:prstGeom>
          <a:noFill/>
          <a:ln/>
        </p:spPr>
        <p:txBody>
          <a:bodyPr wrap="square" lIns="0" tIns="0" rIns="0" bIns="0" rtlCol="0" anchor="t"/>
          <a:lstStyle/>
          <a:p>
            <a:pPr indent="0" marL="0">
              <a:buNone/>
            </a:pPr>
            <a:r>
              <a:rPr lang="en-US" sz="1500" b="1" dirty="0">
                <a:solidFill>
                  <a:schemeClr val="tx2"/>
                </a:solidFill>
              </a:rPr>
              <a:t>Garde-fous</a:t>
            </a:r>
            <a:endParaRPr lang="en-US" sz="1500" dirty="0"/>
          </a:p>
        </p:txBody>
      </p:sp>
      <p:sp>
        <p:nvSpPr>
          <p:cNvPr id="15" name="Text 13"/>
          <p:cNvSpPr txBox="1"/>
          <p:nvPr/>
        </p:nvSpPr>
        <p:spPr>
          <a:xfrm>
            <a:off x="777240" y="3520440"/>
            <a:ext cx="5029200" cy="22860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US floue : des questions au PO, aucun résultat inventé</a:t>
            </a:r>
            <a:endParaRPr lang="en-US" sz="1200" dirty="0"/>
          </a:p>
          <a:p>
            <a:pPr marL="342900" indent="-342900">
              <a:spcAft>
                <a:spcPts val="400"/>
              </a:spcAft>
              <a:buSzPct val="100000"/>
              <a:buChar char="•"/>
            </a:pPr>
            <a:r>
              <a:rPr lang="en-US" sz="1200" dirty="0">
                <a:solidFill>
                  <a:schemeClr val="tx1"/>
                </a:solidFill>
              </a:rPr>
              <a:t>Chaque cas dit qui est connecté, sur quel écran, avec quelles données</a:t>
            </a:r>
            <a:endParaRPr lang="en-US" sz="1200" dirty="0"/>
          </a:p>
          <a:p>
            <a:pPr marL="342900" indent="-342900">
              <a:spcAft>
                <a:spcPts val="400"/>
              </a:spcAft>
              <a:buSzPct val="100000"/>
              <a:buChar char="•"/>
            </a:pPr>
            <a:r>
              <a:rPr lang="en-US" sz="1200" dirty="0">
                <a:solidFill>
                  <a:schemeClr val="tx1"/>
                </a:solidFill>
              </a:rPr>
              <a:t>Résultats exacts ; un refus vérifie que rien n'a changé</a:t>
            </a:r>
            <a:endParaRPr lang="en-US" sz="1200" dirty="0"/>
          </a:p>
          <a:p>
            <a:pPr marL="342900" indent="-342900">
              <a:spcAft>
                <a:spcPts val="400"/>
              </a:spcAft>
              <a:buSzPct val="100000"/>
              <a:buChar char="•"/>
            </a:pPr>
            <a:r>
              <a:rPr lang="en-US" sz="1200" dirty="0">
                <a:solidFill>
                  <a:schemeClr val="tx1"/>
                </a:solidFill>
              </a:rPr>
              <a:t>Le contexte n'apprend que ce que la QC a validé, avec sa source</a:t>
            </a:r>
            <a:endParaRPr lang="en-US" sz="1200" dirty="0"/>
          </a:p>
          <a:p>
            <a:pPr marL="342900" indent="-342900">
              <a:spcAft>
                <a:spcPts val="400"/>
              </a:spcAft>
              <a:buSzPct val="100000"/>
              <a:buChar char="•"/>
            </a:pPr>
            <a:r>
              <a:rPr lang="en-US" sz="1200" dirty="0">
                <a:solidFill>
                  <a:schemeClr val="tx1"/>
                </a:solidFill>
              </a:rPr>
              <a:t>Écriture dans Azure DevOps, commit, push : « oui » exigé et contrôlé par script</a:t>
            </a:r>
            <a:endParaRPr lang="en-US" sz="1200" dirty="0"/>
          </a:p>
          <a:p>
            <a:pPr marL="342900" indent="-342900">
              <a:spcAft>
                <a:spcPts val="400"/>
              </a:spcAft>
              <a:buSzPct val="100000"/>
              <a:buChar char="•"/>
            </a:pPr>
            <a:r>
              <a:rPr lang="en-US" sz="1200" dirty="0">
                <a:solidFill>
                  <a:schemeClr val="tx1"/>
                </a:solidFill>
              </a:rPr>
              <a:t>Données fictives uniquement</a:t>
            </a:r>
            <a:endParaRPr lang="en-US" sz="1200" dirty="0"/>
          </a:p>
        </p:txBody>
      </p:sp>
      <p:sp>
        <p:nvSpPr>
          <p:cNvPr id="16" name="card"/>
          <p:cNvSpPr/>
          <p:nvPr/>
        </p:nvSpPr>
        <p:spPr>
          <a:xfrm>
            <a:off x="6172200" y="3017520"/>
            <a:ext cx="5440680" cy="2834640"/>
          </a:xfrm>
          <a:prstGeom prst="roundRect">
            <a:avLst>
              <a:gd name="adj" fmla="val 3226"/>
            </a:avLst>
          </a:prstGeom>
          <a:solidFill>
            <a:schemeClr val="tx2"/>
          </a:solidFill>
          <a:ln/>
        </p:spPr>
      </p:sp>
      <p:sp>
        <p:nvSpPr>
          <p:cNvPr id="17" name="Text 15"/>
          <p:cNvSpPr txBox="1"/>
          <p:nvPr/>
        </p:nvSpPr>
        <p:spPr>
          <a:xfrm>
            <a:off x="6400800" y="3127248"/>
            <a:ext cx="4937760" cy="329184"/>
          </a:xfrm>
          <a:prstGeom prst="rect">
            <a:avLst/>
          </a:prstGeom>
          <a:noFill/>
          <a:ln/>
        </p:spPr>
        <p:txBody>
          <a:bodyPr wrap="square" lIns="0" tIns="0" rIns="0" bIns="0" rtlCol="0" anchor="t"/>
          <a:lstStyle/>
          <a:p>
            <a:pPr indent="0" marL="0">
              <a:buNone/>
            </a:pPr>
            <a:r>
              <a:rPr lang="en-US" sz="1500" b="1" dirty="0">
                <a:solidFill>
                  <a:schemeClr val="bg1"/>
                </a:solidFill>
              </a:rPr>
              <a:t>Ce qu'on fait pour l'évaluer</a:t>
            </a:r>
            <a:endParaRPr lang="en-US" sz="1500" dirty="0"/>
          </a:p>
        </p:txBody>
      </p:sp>
      <p:sp>
        <p:nvSpPr>
          <p:cNvPr id="18" name="Text 16"/>
          <p:cNvSpPr txBox="1"/>
          <p:nvPr/>
        </p:nvSpPr>
        <p:spPr>
          <a:xfrm>
            <a:off x="6400800" y="3520440"/>
            <a:ext cx="5029200" cy="22402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chemeClr val="bg1"/>
                </a:solidFill>
              </a:rPr>
              <a:t>Nouvel agent lancé dans Claude Code sur l'US 417829 : 25 cas, 5 situations de validation sur 5, 14 questions au PO</a:t>
            </a:r>
            <a:endParaRPr lang="en-US" sz="1250" dirty="0"/>
          </a:p>
          <a:p>
            <a:pPr marL="342900" indent="-342900">
              <a:spcAft>
                <a:spcPts val="600"/>
              </a:spcAft>
              <a:buSzPct val="100000"/>
              <a:buFont typeface="+mj-lt"/>
              <a:buAutoNum type="arabicPeriod" startAt="1"/>
            </a:pPr>
            <a:r>
              <a:rPr lang="en-US" sz="1250" dirty="0">
                <a:solidFill>
                  <a:schemeClr val="bg1"/>
                </a:solidFill>
              </a:rPr>
              <a:t>Rejouer sur 3 US déjà traitées à la main, deux fois chacune, comparer critère par critère</a:t>
            </a:r>
            <a:endParaRPr lang="en-US" sz="1250" dirty="0"/>
          </a:p>
          <a:p>
            <a:pPr marL="342900" indent="-342900">
              <a:spcAft>
                <a:spcPts val="600"/>
              </a:spcAft>
              <a:buSzPct val="100000"/>
              <a:buFont typeface="+mj-lt"/>
              <a:buAutoNum type="arabicPeriod" startAt="1"/>
            </a:pPr>
            <a:r>
              <a:rPr lang="en-US" sz="1250" dirty="0">
                <a:solidFill>
                  <a:schemeClr val="bg1"/>
                </a:solidFill>
              </a:rPr>
              <a:t>Mesurer : cas inventés (cible : zéro), cas acceptés sans réécriture, temps de rédaction</a:t>
            </a:r>
            <a:endParaRPr lang="en-US" sz="1250" dirty="0"/>
          </a:p>
          <a:p>
            <a:pPr marL="342900" indent="-342900">
              <a:spcAft>
                <a:spcPts val="600"/>
              </a:spcAft>
              <a:buSzPct val="100000"/>
              <a:buFont typeface="+mj-lt"/>
              <a:buAutoNum type="arabicPeriod" startAt="1"/>
            </a:pPr>
            <a:r>
              <a:rPr lang="en-US" sz="1250" dirty="0">
                <a:solidFill>
                  <a:schemeClr val="bg1"/>
                </a:solidFill>
              </a:rPr>
              <a:t>Publier d'abord en CSV, dans une suite de test dédiée</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Agent Playwright : un assistant outillé, pas une IA de plus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Il s'appuie sur le socle du POC Playwright ; chaque couche limite ce qu'il peut mal faire.</a:t>
            </a:r>
            <a:endParaRPr lang="en-US" sz="1600" dirty="0"/>
          </a:p>
        </p:txBody>
      </p:sp>
      <p:sp>
        <p:nvSpPr>
          <p:cNvPr id="4" name="card"/>
          <p:cNvSpPr/>
          <p:nvPr/>
        </p:nvSpPr>
        <p:spPr>
          <a:xfrm>
            <a:off x="548640" y="1645920"/>
            <a:ext cx="2103120" cy="1920240"/>
          </a:xfrm>
          <a:prstGeom prst="roundRect">
            <a:avLst>
              <a:gd name="adj" fmla="val 4762"/>
            </a:avLst>
          </a:prstGeom>
          <a:solidFill>
            <a:schemeClr val="bg2"/>
          </a:solidFill>
          <a:ln/>
        </p:spPr>
      </p:sp>
      <p:sp>
        <p:nvSpPr>
          <p:cNvPr id="5" name="num"/>
          <p:cNvSpPr/>
          <p:nvPr/>
        </p:nvSpPr>
        <p:spPr>
          <a:xfrm>
            <a:off x="713232" y="1783080"/>
            <a:ext cx="420624" cy="420624"/>
          </a:xfrm>
          <a:prstGeom prst="ellipse">
            <a:avLst/>
          </a:prstGeom>
          <a:solidFill>
            <a:schemeClr val="accent1"/>
          </a:solidFill>
          <a:ln/>
        </p:spPr>
      </p:sp>
      <p:sp>
        <p:nvSpPr>
          <p:cNvPr id="6" name="Text 4"/>
          <p:cNvSpPr txBox="1"/>
          <p:nvPr/>
        </p:nvSpPr>
        <p:spPr>
          <a:xfrm>
            <a:off x="713232"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234440" y="1783080"/>
            <a:ext cx="1325880" cy="420624"/>
          </a:xfrm>
          <a:prstGeom prst="rect">
            <a:avLst/>
          </a:prstGeom>
          <a:noFill/>
          <a:ln/>
        </p:spPr>
        <p:txBody>
          <a:bodyPr wrap="square" lIns="0" tIns="0" rIns="0" bIns="0" rtlCol="0" anchor="ctr"/>
          <a:lstStyle/>
          <a:p>
            <a:pPr indent="0" marL="0">
              <a:buNone/>
            </a:pPr>
            <a:r>
              <a:rPr lang="en-US" sz="1500" b="1" dirty="0">
                <a:solidFill>
                  <a:schemeClr val="tx2"/>
                </a:solidFill>
              </a:rPr>
              <a:t>Voir</a:t>
            </a:r>
            <a:endParaRPr lang="en-US" sz="1500" dirty="0"/>
          </a:p>
        </p:txBody>
      </p:sp>
      <p:sp>
        <p:nvSpPr>
          <p:cNvPr id="8" name="Text 6"/>
          <p:cNvSpPr txBox="1"/>
          <p:nvPr/>
        </p:nvSpPr>
        <p:spPr>
          <a:xfrm>
            <a:off x="713232" y="2331720"/>
            <a:ext cx="1810512" cy="1188720"/>
          </a:xfrm>
          <a:prstGeom prst="rect">
            <a:avLst/>
          </a:prstGeom>
          <a:noFill/>
          <a:ln/>
        </p:spPr>
        <p:txBody>
          <a:bodyPr wrap="square" lIns="0" tIns="0" rIns="0" bIns="0" rtlCol="0" anchor="t"/>
          <a:lstStyle/>
          <a:p>
            <a:pPr indent="0" marL="0">
              <a:buNone/>
            </a:pPr>
            <a:r>
              <a:rPr lang="en-US" sz="1150" dirty="0">
                <a:solidFill>
                  <a:schemeClr val="tx1"/>
                </a:solidFill>
              </a:rPr>
              <a:t>Playwright MCP : il explore l'écran au lieu de deviner les locators</a:t>
            </a:r>
            <a:endParaRPr lang="en-US" sz="1150" dirty="0"/>
          </a:p>
        </p:txBody>
      </p:sp>
      <p:sp>
        <p:nvSpPr>
          <p:cNvPr id="9" name="card"/>
          <p:cNvSpPr/>
          <p:nvPr/>
        </p:nvSpPr>
        <p:spPr>
          <a:xfrm>
            <a:off x="2788920" y="1645920"/>
            <a:ext cx="2103120" cy="1920240"/>
          </a:xfrm>
          <a:prstGeom prst="roundRect">
            <a:avLst>
              <a:gd name="adj" fmla="val 4762"/>
            </a:avLst>
          </a:prstGeom>
          <a:solidFill>
            <a:schemeClr val="bg2"/>
          </a:solidFill>
          <a:ln/>
        </p:spPr>
      </p:sp>
      <p:sp>
        <p:nvSpPr>
          <p:cNvPr id="10" name="num"/>
          <p:cNvSpPr/>
          <p:nvPr/>
        </p:nvSpPr>
        <p:spPr>
          <a:xfrm>
            <a:off x="2953512" y="1783080"/>
            <a:ext cx="420624" cy="420624"/>
          </a:xfrm>
          <a:prstGeom prst="ellipse">
            <a:avLst/>
          </a:prstGeom>
          <a:solidFill>
            <a:schemeClr val="accent1"/>
          </a:solidFill>
          <a:ln/>
        </p:spPr>
      </p:sp>
      <p:sp>
        <p:nvSpPr>
          <p:cNvPr id="11" name="Text 9"/>
          <p:cNvSpPr txBox="1"/>
          <p:nvPr/>
        </p:nvSpPr>
        <p:spPr>
          <a:xfrm>
            <a:off x="2953512"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3474720" y="1783080"/>
            <a:ext cx="1325880" cy="420624"/>
          </a:xfrm>
          <a:prstGeom prst="rect">
            <a:avLst/>
          </a:prstGeom>
          <a:noFill/>
          <a:ln/>
        </p:spPr>
        <p:txBody>
          <a:bodyPr wrap="square" lIns="0" tIns="0" rIns="0" bIns="0" rtlCol="0" anchor="ctr"/>
          <a:lstStyle/>
          <a:p>
            <a:pPr indent="0" marL="0">
              <a:buNone/>
            </a:pPr>
            <a:r>
              <a:rPr lang="en-US" sz="1500" b="1" dirty="0">
                <a:solidFill>
                  <a:schemeClr val="tx2"/>
                </a:solidFill>
              </a:rPr>
              <a:t>Ranger</a:t>
            </a:r>
            <a:endParaRPr lang="en-US" sz="1500" dirty="0"/>
          </a:p>
        </p:txBody>
      </p:sp>
      <p:sp>
        <p:nvSpPr>
          <p:cNvPr id="13" name="Text 11"/>
          <p:cNvSpPr txBox="1"/>
          <p:nvPr/>
        </p:nvSpPr>
        <p:spPr>
          <a:xfrm>
            <a:off x="2953512" y="2331720"/>
            <a:ext cx="1810512" cy="1188720"/>
          </a:xfrm>
          <a:prstGeom prst="rect">
            <a:avLst/>
          </a:prstGeom>
          <a:noFill/>
          <a:ln/>
        </p:spPr>
        <p:txBody>
          <a:bodyPr wrap="square" lIns="0" tIns="0" rIns="0" bIns="0" rtlCol="0" anchor="t"/>
          <a:lstStyle/>
          <a:p>
            <a:pPr indent="0" marL="0">
              <a:buNone/>
            </a:pPr>
            <a:r>
              <a:rPr lang="en-US" sz="1150" dirty="0">
                <a:solidFill>
                  <a:schemeClr val="tx1"/>
                </a:solidFill>
              </a:rPr>
              <a:t>Page Objects et clients API typés : un locator à un seul endroit</a:t>
            </a:r>
            <a:endParaRPr lang="en-US" sz="1150" dirty="0"/>
          </a:p>
        </p:txBody>
      </p:sp>
      <p:sp>
        <p:nvSpPr>
          <p:cNvPr id="14" name="card"/>
          <p:cNvSpPr/>
          <p:nvPr/>
        </p:nvSpPr>
        <p:spPr>
          <a:xfrm>
            <a:off x="5029200" y="1645920"/>
            <a:ext cx="2103120" cy="1920240"/>
          </a:xfrm>
          <a:prstGeom prst="roundRect">
            <a:avLst>
              <a:gd name="adj" fmla="val 4762"/>
            </a:avLst>
          </a:prstGeom>
          <a:solidFill>
            <a:schemeClr val="bg2"/>
          </a:solidFill>
          <a:ln/>
        </p:spPr>
      </p:sp>
      <p:sp>
        <p:nvSpPr>
          <p:cNvPr id="15" name="num"/>
          <p:cNvSpPr/>
          <p:nvPr/>
        </p:nvSpPr>
        <p:spPr>
          <a:xfrm>
            <a:off x="5193792" y="1783080"/>
            <a:ext cx="420624" cy="420624"/>
          </a:xfrm>
          <a:prstGeom prst="ellipse">
            <a:avLst/>
          </a:prstGeom>
          <a:solidFill>
            <a:schemeClr val="accent1"/>
          </a:solidFill>
          <a:ln/>
        </p:spPr>
      </p:sp>
      <p:sp>
        <p:nvSpPr>
          <p:cNvPr id="16" name="Text 14"/>
          <p:cNvSpPr txBox="1"/>
          <p:nvPr/>
        </p:nvSpPr>
        <p:spPr>
          <a:xfrm>
            <a:off x="5193792"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5715000" y="1783080"/>
            <a:ext cx="1325880" cy="420624"/>
          </a:xfrm>
          <a:prstGeom prst="rect">
            <a:avLst/>
          </a:prstGeom>
          <a:noFill/>
          <a:ln/>
        </p:spPr>
        <p:txBody>
          <a:bodyPr wrap="square" lIns="0" tIns="0" rIns="0" bIns="0" rtlCol="0" anchor="ctr"/>
          <a:lstStyle/>
          <a:p>
            <a:pPr indent="0" marL="0">
              <a:buNone/>
            </a:pPr>
            <a:r>
              <a:rPr lang="en-US" sz="1500" b="1" dirty="0">
                <a:solidFill>
                  <a:schemeClr val="tx2"/>
                </a:solidFill>
              </a:rPr>
              <a:t>Règles</a:t>
            </a:r>
            <a:endParaRPr lang="en-US" sz="1500" dirty="0"/>
          </a:p>
        </p:txBody>
      </p:sp>
      <p:sp>
        <p:nvSpPr>
          <p:cNvPr id="18" name="Text 16"/>
          <p:cNvSpPr txBox="1"/>
          <p:nvPr/>
        </p:nvSpPr>
        <p:spPr>
          <a:xfrm>
            <a:off x="5193792" y="2331720"/>
            <a:ext cx="1810512" cy="1188720"/>
          </a:xfrm>
          <a:prstGeom prst="rect">
            <a:avLst/>
          </a:prstGeom>
          <a:noFill/>
          <a:ln/>
        </p:spPr>
        <p:txBody>
          <a:bodyPr wrap="square" lIns="0" tIns="0" rIns="0" bIns="0" rtlCol="0" anchor="t"/>
          <a:lstStyle/>
          <a:p>
            <a:pPr indent="0" marL="0">
              <a:buNone/>
            </a:pPr>
            <a:r>
              <a:rPr lang="en-US" sz="1150" dirty="0">
                <a:solidFill>
                  <a:schemeClr val="tx1"/>
                </a:solidFill>
              </a:rPr>
              <a:t>Conventions du dépôt chargées selon le dossier touché</a:t>
            </a:r>
            <a:endParaRPr lang="en-US" sz="1150" dirty="0"/>
          </a:p>
        </p:txBody>
      </p:sp>
      <p:sp>
        <p:nvSpPr>
          <p:cNvPr id="19" name="card"/>
          <p:cNvSpPr/>
          <p:nvPr/>
        </p:nvSpPr>
        <p:spPr>
          <a:xfrm>
            <a:off x="7269480" y="1645920"/>
            <a:ext cx="2103120" cy="1920240"/>
          </a:xfrm>
          <a:prstGeom prst="roundRect">
            <a:avLst>
              <a:gd name="adj" fmla="val 4762"/>
            </a:avLst>
          </a:prstGeom>
          <a:solidFill>
            <a:schemeClr val="tx2"/>
          </a:solidFill>
          <a:ln/>
        </p:spPr>
      </p:sp>
      <p:sp>
        <p:nvSpPr>
          <p:cNvPr id="20" name="num"/>
          <p:cNvSpPr/>
          <p:nvPr/>
        </p:nvSpPr>
        <p:spPr>
          <a:xfrm>
            <a:off x="7434072" y="1783080"/>
            <a:ext cx="420624" cy="420624"/>
          </a:xfrm>
          <a:prstGeom prst="ellipse">
            <a:avLst/>
          </a:prstGeom>
          <a:solidFill>
            <a:schemeClr val="accent1"/>
          </a:solidFill>
          <a:ln/>
        </p:spPr>
      </p:sp>
      <p:sp>
        <p:nvSpPr>
          <p:cNvPr id="21" name="Text 19"/>
          <p:cNvSpPr txBox="1"/>
          <p:nvPr/>
        </p:nvSpPr>
        <p:spPr>
          <a:xfrm>
            <a:off x="7434072"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20"/>
          <p:cNvSpPr txBox="1"/>
          <p:nvPr/>
        </p:nvSpPr>
        <p:spPr>
          <a:xfrm>
            <a:off x="7955280" y="1783080"/>
            <a:ext cx="1325880" cy="420624"/>
          </a:xfrm>
          <a:prstGeom prst="rect">
            <a:avLst/>
          </a:prstGeom>
          <a:noFill/>
          <a:ln/>
        </p:spPr>
        <p:txBody>
          <a:bodyPr wrap="square" lIns="0" tIns="0" rIns="0" bIns="0" rtlCol="0" anchor="ctr"/>
          <a:lstStyle/>
          <a:p>
            <a:pPr indent="0" marL="0">
              <a:buNone/>
            </a:pPr>
            <a:r>
              <a:rPr lang="en-US" sz="1500" b="1" dirty="0">
                <a:solidFill>
                  <a:schemeClr val="bg1"/>
                </a:solidFill>
              </a:rPr>
              <a:t>Forcer</a:t>
            </a:r>
            <a:endParaRPr lang="en-US" sz="1500" dirty="0"/>
          </a:p>
        </p:txBody>
      </p:sp>
      <p:sp>
        <p:nvSpPr>
          <p:cNvPr id="23" name="Text 21"/>
          <p:cNvSpPr txBox="1"/>
          <p:nvPr/>
        </p:nvSpPr>
        <p:spPr>
          <a:xfrm>
            <a:off x="7434072" y="2331720"/>
            <a:ext cx="1810512" cy="1188720"/>
          </a:xfrm>
          <a:prstGeom prst="rect">
            <a:avLst/>
          </a:prstGeom>
          <a:noFill/>
          <a:ln/>
        </p:spPr>
        <p:txBody>
          <a:bodyPr wrap="square" lIns="0" tIns="0" rIns="0" bIns="0" rtlCol="0" anchor="t"/>
          <a:lstStyle/>
          <a:p>
            <a:pPr indent="0" marL="0">
              <a:buNone/>
            </a:pPr>
            <a:r>
              <a:rPr lang="en-US" sz="1150" dirty="0">
                <a:solidFill>
                  <a:schemeClr val="bg1"/>
                </a:solidFill>
              </a:rPr>
              <a:t>Hooks : test.skip et attente fixe bloqués, lint et typage avant commit</a:t>
            </a:r>
            <a:endParaRPr lang="en-US" sz="1150" dirty="0"/>
          </a:p>
        </p:txBody>
      </p:sp>
      <p:sp>
        <p:nvSpPr>
          <p:cNvPr id="24" name="card"/>
          <p:cNvSpPr/>
          <p:nvPr/>
        </p:nvSpPr>
        <p:spPr>
          <a:xfrm>
            <a:off x="9509760" y="1645920"/>
            <a:ext cx="2103120" cy="1920240"/>
          </a:xfrm>
          <a:prstGeom prst="roundRect">
            <a:avLst>
              <a:gd name="adj" fmla="val 4762"/>
            </a:avLst>
          </a:prstGeom>
          <a:solidFill>
            <a:schemeClr val="bg2"/>
          </a:solidFill>
          <a:ln/>
        </p:spPr>
      </p:sp>
      <p:sp>
        <p:nvSpPr>
          <p:cNvPr id="25" name="num"/>
          <p:cNvSpPr/>
          <p:nvPr/>
        </p:nvSpPr>
        <p:spPr>
          <a:xfrm>
            <a:off x="9674352" y="1783080"/>
            <a:ext cx="420624" cy="420624"/>
          </a:xfrm>
          <a:prstGeom prst="ellipse">
            <a:avLst/>
          </a:prstGeom>
          <a:solidFill>
            <a:schemeClr val="accent1"/>
          </a:solidFill>
          <a:ln/>
        </p:spPr>
      </p:sp>
      <p:sp>
        <p:nvSpPr>
          <p:cNvPr id="26" name="Text 24"/>
          <p:cNvSpPr txBox="1"/>
          <p:nvPr/>
        </p:nvSpPr>
        <p:spPr>
          <a:xfrm>
            <a:off x="9674352" y="178308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5"/>
          <p:cNvSpPr txBox="1"/>
          <p:nvPr/>
        </p:nvSpPr>
        <p:spPr>
          <a:xfrm>
            <a:off x="10195560" y="1783080"/>
            <a:ext cx="1325880" cy="420624"/>
          </a:xfrm>
          <a:prstGeom prst="rect">
            <a:avLst/>
          </a:prstGeom>
          <a:noFill/>
          <a:ln/>
        </p:spPr>
        <p:txBody>
          <a:bodyPr wrap="square" lIns="0" tIns="0" rIns="0" bIns="0" rtlCol="0" anchor="ctr"/>
          <a:lstStyle/>
          <a:p>
            <a:pPr indent="0" marL="0">
              <a:buNone/>
            </a:pPr>
            <a:r>
              <a:rPr lang="en-US" sz="1500" b="1" dirty="0">
                <a:solidFill>
                  <a:schemeClr val="tx2"/>
                </a:solidFill>
              </a:rPr>
              <a:t>Tracer</a:t>
            </a:r>
            <a:endParaRPr lang="en-US" sz="1500" dirty="0"/>
          </a:p>
        </p:txBody>
      </p:sp>
      <p:sp>
        <p:nvSpPr>
          <p:cNvPr id="28" name="Text 26"/>
          <p:cNvSpPr txBox="1"/>
          <p:nvPr/>
        </p:nvSpPr>
        <p:spPr>
          <a:xfrm>
            <a:off x="9674352" y="2331720"/>
            <a:ext cx="1810512" cy="1188720"/>
          </a:xfrm>
          <a:prstGeom prst="rect">
            <a:avLst/>
          </a:prstGeom>
          <a:noFill/>
          <a:ln/>
        </p:spPr>
        <p:txBody>
          <a:bodyPr wrap="square" lIns="0" tIns="0" rIns="0" bIns="0" rtlCol="0" anchor="t"/>
          <a:lstStyle/>
          <a:p>
            <a:pPr indent="0" marL="0">
              <a:buNone/>
            </a:pPr>
            <a:r>
              <a:rPr lang="en-US" sz="1150" dirty="0">
                <a:solidFill>
                  <a:schemeClr val="tx1"/>
                </a:solidFill>
              </a:rPr>
              <a:t>Chaque test relié à son cas Test Plans</a:t>
            </a:r>
            <a:endParaRPr lang="en-US" sz="1150" dirty="0"/>
          </a:p>
        </p:txBody>
      </p:sp>
      <p:sp>
        <p:nvSpPr>
          <p:cNvPr id="29" name="card"/>
          <p:cNvSpPr/>
          <p:nvPr/>
        </p:nvSpPr>
        <p:spPr>
          <a:xfrm>
            <a:off x="548640" y="3749040"/>
            <a:ext cx="6858000" cy="2121408"/>
          </a:xfrm>
          <a:prstGeom prst="roundRect">
            <a:avLst>
              <a:gd name="adj" fmla="val 4310"/>
            </a:avLst>
          </a:prstGeom>
          <a:solidFill>
            <a:schemeClr val="bg2"/>
          </a:solidFill>
          <a:ln/>
        </p:spPr>
      </p:sp>
      <p:sp>
        <p:nvSpPr>
          <p:cNvPr id="30" name="Text 28"/>
          <p:cNvSpPr txBox="1"/>
          <p:nvPr/>
        </p:nvSpPr>
        <p:spPr>
          <a:xfrm>
            <a:off x="777240" y="3840480"/>
            <a:ext cx="6400800" cy="329184"/>
          </a:xfrm>
          <a:prstGeom prst="rect">
            <a:avLst/>
          </a:prstGeom>
          <a:noFill/>
          <a:ln/>
        </p:spPr>
        <p:txBody>
          <a:bodyPr wrap="square" lIns="0" tIns="0" rIns="0" bIns="0" rtlCol="0" anchor="t"/>
          <a:lstStyle/>
          <a:p>
            <a:pPr indent="0" marL="0">
              <a:buNone/>
            </a:pPr>
            <a:r>
              <a:rPr lang="en-US" sz="1500" b="1" dirty="0">
                <a:solidFill>
                  <a:schemeClr val="tx2"/>
                </a:solidFill>
              </a:rPr>
              <a:t>Ce qu'on fait pour l'évaluer, après le GO du POC</a:t>
            </a:r>
            <a:endParaRPr lang="en-US" sz="1500" dirty="0"/>
          </a:p>
        </p:txBody>
      </p:sp>
      <p:sp>
        <p:nvSpPr>
          <p:cNvPr id="31" name="Text 29"/>
          <p:cNvSpPr txBox="1"/>
          <p:nvPr/>
        </p:nvSpPr>
        <p:spPr>
          <a:xfrm>
            <a:off x="777240" y="4224528"/>
            <a:ext cx="6492240" cy="16002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250" dirty="0">
                <a:solidFill>
                  <a:schemeClr val="tx1"/>
                </a:solidFill>
              </a:rPr>
              <a:t>Sur 2 US livrées et stables, l'agent écrit les tests API depuis le contrat OpenAPI</a:t>
            </a:r>
            <a:endParaRPr lang="en-US" sz="1250" dirty="0"/>
          </a:p>
          <a:p>
            <a:pPr marL="342900" indent="-342900">
              <a:spcAft>
                <a:spcPts val="600"/>
              </a:spcAft>
              <a:buSzPct val="100000"/>
              <a:buFont typeface="+mj-lt"/>
              <a:buAutoNum type="arabicPeriod" startAt="1"/>
            </a:pPr>
            <a:r>
              <a:rPr lang="en-US" sz="1250" dirty="0">
                <a:solidFill>
                  <a:schemeClr val="tx1"/>
                </a:solidFill>
              </a:rPr>
              <a:t>Chaque test est cassé exprès avant d'être accepté, puis relu en pull request</a:t>
            </a:r>
            <a:endParaRPr lang="en-US" sz="1250" dirty="0"/>
          </a:p>
          <a:p>
            <a:pPr marL="342900" indent="-342900">
              <a:spcAft>
                <a:spcPts val="600"/>
              </a:spcAft>
              <a:buSzPct val="100000"/>
              <a:buFont typeface="+mj-lt"/>
              <a:buAutoNum type="arabicPeriod" startAt="1"/>
            </a:pPr>
            <a:r>
              <a:rPr lang="en-US" sz="1250" dirty="0">
                <a:solidFill>
                  <a:schemeClr val="tx1"/>
                </a:solidFill>
              </a:rPr>
              <a:t>Mesurer : tests acceptés sans réécriture, temps comparé à l'écriture manuelle</a:t>
            </a:r>
            <a:endParaRPr lang="en-US" sz="1250" dirty="0"/>
          </a:p>
        </p:txBody>
      </p:sp>
      <p:sp>
        <p:nvSpPr>
          <p:cNvPr id="32" name="card"/>
          <p:cNvSpPr/>
          <p:nvPr/>
        </p:nvSpPr>
        <p:spPr>
          <a:xfrm>
            <a:off x="7589520" y="3749040"/>
            <a:ext cx="4023360" cy="2121408"/>
          </a:xfrm>
          <a:prstGeom prst="roundRect">
            <a:avLst>
              <a:gd name="adj" fmla="val 4310"/>
            </a:avLst>
          </a:prstGeom>
          <a:solidFill>
            <a:srgbClr val="F6DADA"/>
          </a:solidFill>
          <a:ln/>
        </p:spPr>
      </p:sp>
      <p:sp>
        <p:nvSpPr>
          <p:cNvPr id="33" name="Text 31"/>
          <p:cNvSpPr txBox="1"/>
          <p:nvPr/>
        </p:nvSpPr>
        <p:spPr>
          <a:xfrm>
            <a:off x="7818120" y="3840480"/>
            <a:ext cx="3566160" cy="329184"/>
          </a:xfrm>
          <a:prstGeom prst="rect">
            <a:avLst/>
          </a:prstGeom>
          <a:noFill/>
          <a:ln/>
        </p:spPr>
        <p:txBody>
          <a:bodyPr wrap="square" lIns="0" tIns="0" rIns="0" bIns="0" rtlCol="0" anchor="t"/>
          <a:lstStyle/>
          <a:p>
            <a:pPr indent="0" marL="0">
              <a:buNone/>
            </a:pPr>
            <a:r>
              <a:rPr lang="en-US" sz="1500" b="1" dirty="0">
                <a:solidFill>
                  <a:srgbClr val="B23B3B"/>
                </a:solidFill>
              </a:rPr>
              <a:t>Ce qu'il ne fait jamais</a:t>
            </a:r>
            <a:endParaRPr lang="en-US" sz="1500" dirty="0"/>
          </a:p>
        </p:txBody>
      </p:sp>
      <p:sp>
        <p:nvSpPr>
          <p:cNvPr id="34" name="Text 32"/>
          <p:cNvSpPr txBox="1"/>
          <p:nvPr/>
        </p:nvSpPr>
        <p:spPr>
          <a:xfrm>
            <a:off x="7818120" y="4224528"/>
            <a:ext cx="3611880" cy="1554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Réparer un test dans le pipeline</a:t>
            </a:r>
            <a:endParaRPr lang="en-US" sz="1250" dirty="0"/>
          </a:p>
          <a:p>
            <a:pPr marL="342900" indent="-342900">
              <a:spcAft>
                <a:spcPts val="600"/>
              </a:spcAft>
              <a:buSzPct val="100000"/>
              <a:buChar char="•"/>
            </a:pPr>
            <a:r>
              <a:rPr lang="en-US" sz="1250" dirty="0">
                <a:solidFill>
                  <a:schemeClr val="tx1"/>
                </a:solidFill>
              </a:rPr>
              <a:t>Ignorer un test pour passer au vert</a:t>
            </a:r>
            <a:endParaRPr lang="en-US" sz="1250" dirty="0"/>
          </a:p>
          <a:p>
            <a:pPr marL="342900" indent="-342900">
              <a:spcAft>
                <a:spcPts val="600"/>
              </a:spcAft>
              <a:buSzPct val="100000"/>
              <a:buChar char="•"/>
            </a:pPr>
            <a:r>
              <a:rPr lang="en-US" sz="1250" dirty="0">
                <a:solidFill>
                  <a:schemeClr val="tx1"/>
                </a:solidFill>
              </a:rPr>
              <a:t>Recalculer l'attendu à partir de l'écran</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Agent data testing : interroger la base en lecture seule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Requêtes contrôlées par du code, chaque écart creusé jusqu'à une cause probable.</a:t>
            </a:r>
            <a:endParaRPr lang="en-US" sz="1600" dirty="0"/>
          </a:p>
        </p:txBody>
      </p:sp>
      <p:sp>
        <p:nvSpPr>
          <p:cNvPr id="4" name="etape-data"/>
          <p:cNvSpPr/>
          <p:nvPr/>
        </p:nvSpPr>
        <p:spPr>
          <a:xfrm>
            <a:off x="548640" y="1572768"/>
            <a:ext cx="2286000" cy="658368"/>
          </a:xfrm>
          <a:prstGeom prst="chevron">
            <a:avLst/>
          </a:prstGeom>
          <a:solidFill>
            <a:schemeClr val="tx2"/>
          </a:solidFill>
          <a:ln/>
        </p:spPr>
      </p:sp>
      <p:sp>
        <p:nvSpPr>
          <p:cNvPr id="5" name="Text 3"/>
          <p:cNvSpPr txBox="1"/>
          <p:nvPr/>
        </p:nvSpPr>
        <p:spPr>
          <a:xfrm>
            <a:off x="91440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Lit le schéma et le document de mapping</a:t>
            </a:r>
            <a:endParaRPr lang="en-US" sz="1050" dirty="0"/>
          </a:p>
        </p:txBody>
      </p:sp>
      <p:sp>
        <p:nvSpPr>
          <p:cNvPr id="6" name="etape-data"/>
          <p:cNvSpPr/>
          <p:nvPr/>
        </p:nvSpPr>
        <p:spPr>
          <a:xfrm>
            <a:off x="2743200" y="1572768"/>
            <a:ext cx="2286000" cy="658368"/>
          </a:xfrm>
          <a:prstGeom prst="chevron">
            <a:avLst/>
          </a:prstGeom>
          <a:solidFill>
            <a:schemeClr val="accent1"/>
          </a:solidFill>
          <a:ln/>
        </p:spPr>
      </p:sp>
      <p:sp>
        <p:nvSpPr>
          <p:cNvPr id="7" name="Text 5"/>
          <p:cNvSpPr txBox="1"/>
          <p:nvPr/>
        </p:nvSpPr>
        <p:spPr>
          <a:xfrm>
            <a:off x="310896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Écrit la requête du contrôle</a:t>
            </a:r>
            <a:endParaRPr lang="en-US" sz="1050" dirty="0"/>
          </a:p>
        </p:txBody>
      </p:sp>
      <p:sp>
        <p:nvSpPr>
          <p:cNvPr id="8" name="etape-data"/>
          <p:cNvSpPr/>
          <p:nvPr/>
        </p:nvSpPr>
        <p:spPr>
          <a:xfrm>
            <a:off x="4937760" y="1572768"/>
            <a:ext cx="2286000" cy="658368"/>
          </a:xfrm>
          <a:prstGeom prst="chevron">
            <a:avLst/>
          </a:prstGeom>
          <a:solidFill>
            <a:schemeClr val="accent2"/>
          </a:solidFill>
          <a:ln/>
        </p:spPr>
      </p:sp>
      <p:sp>
        <p:nvSpPr>
          <p:cNvPr id="9" name="Text 7"/>
          <p:cNvSpPr txBox="1"/>
          <p:nvPr/>
        </p:nvSpPr>
        <p:spPr>
          <a:xfrm>
            <a:off x="530352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Garde-fou : SELECT seul, tables connues</a:t>
            </a:r>
            <a:endParaRPr lang="en-US" sz="1050" dirty="0"/>
          </a:p>
        </p:txBody>
      </p:sp>
      <p:sp>
        <p:nvSpPr>
          <p:cNvPr id="10" name="etape-data"/>
          <p:cNvSpPr/>
          <p:nvPr/>
        </p:nvSpPr>
        <p:spPr>
          <a:xfrm>
            <a:off x="7132320" y="1572768"/>
            <a:ext cx="2286000" cy="658368"/>
          </a:xfrm>
          <a:prstGeom prst="chevron">
            <a:avLst/>
          </a:prstGeom>
          <a:solidFill>
            <a:schemeClr val="accent1"/>
          </a:solidFill>
          <a:ln/>
        </p:spPr>
      </p:sp>
      <p:sp>
        <p:nvSpPr>
          <p:cNvPr id="11" name="Text 9"/>
          <p:cNvSpPr txBox="1"/>
          <p:nvPr/>
        </p:nvSpPr>
        <p:spPr>
          <a:xfrm>
            <a:off x="749808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Exécute en lecture seule</a:t>
            </a:r>
            <a:endParaRPr lang="en-US" sz="1050" dirty="0"/>
          </a:p>
        </p:txBody>
      </p:sp>
      <p:sp>
        <p:nvSpPr>
          <p:cNvPr id="12" name="etape-data"/>
          <p:cNvSpPr/>
          <p:nvPr/>
        </p:nvSpPr>
        <p:spPr>
          <a:xfrm>
            <a:off x="9326880" y="1572768"/>
            <a:ext cx="2286000" cy="658368"/>
          </a:xfrm>
          <a:prstGeom prst="chevron">
            <a:avLst/>
          </a:prstGeom>
          <a:solidFill>
            <a:schemeClr val="tx2"/>
          </a:solidFill>
          <a:ln/>
        </p:spPr>
      </p:sp>
      <p:sp>
        <p:nvSpPr>
          <p:cNvPr id="13" name="Text 11"/>
          <p:cNvSpPr txBox="1"/>
          <p:nvPr/>
        </p:nvSpPr>
        <p:spPr>
          <a:xfrm>
            <a:off x="9692640" y="1572768"/>
            <a:ext cx="1600200" cy="658368"/>
          </a:xfrm>
          <a:prstGeom prst="rect">
            <a:avLst/>
          </a:prstGeom>
          <a:noFill/>
          <a:ln/>
        </p:spPr>
        <p:txBody>
          <a:bodyPr wrap="square" lIns="0" tIns="0" rIns="0" bIns="0" rtlCol="0" anchor="ctr"/>
          <a:lstStyle/>
          <a:p>
            <a:pPr algn="ctr" indent="0" marL="0">
              <a:buNone/>
            </a:pPr>
            <a:r>
              <a:rPr lang="en-US" sz="1050" b="1" dirty="0">
                <a:solidFill>
                  <a:schemeClr val="bg1"/>
                </a:solidFill>
              </a:rPr>
              <a:t>Creuse l'écart, rédige le rapport</a:t>
            </a:r>
            <a:endParaRPr lang="en-US" sz="1050" dirty="0"/>
          </a:p>
        </p:txBody>
      </p:sp>
      <p:sp>
        <p:nvSpPr>
          <p:cNvPr id="14" name="Text 12"/>
          <p:cNvSpPr txBox="1"/>
          <p:nvPr/>
        </p:nvSpPr>
        <p:spPr>
          <a:xfrm>
            <a:off x="548640" y="2359152"/>
            <a:ext cx="1097280" cy="502920"/>
          </a:xfrm>
          <a:prstGeom prst="rect">
            <a:avLst/>
          </a:prstGeom>
          <a:noFill/>
          <a:ln/>
        </p:spPr>
        <p:txBody>
          <a:bodyPr wrap="square" lIns="0" tIns="0" rIns="0" bIns="0" rtlCol="0" anchor="ctr"/>
          <a:lstStyle/>
          <a:p>
            <a:pPr indent="0" marL="0">
              <a:buNone/>
            </a:pPr>
            <a:r>
              <a:rPr lang="en-US" sz="1300" b="1" dirty="0">
                <a:solidFill>
                  <a:schemeClr val="tx2"/>
                </a:solidFill>
              </a:rPr>
              <a:t>Connexion</a:t>
            </a:r>
            <a:endParaRPr lang="en-US" sz="1300" dirty="0"/>
          </a:p>
        </p:txBody>
      </p:sp>
      <p:sp>
        <p:nvSpPr>
          <p:cNvPr id="15" name="box"/>
          <p:cNvSpPr/>
          <p:nvPr/>
        </p:nvSpPr>
        <p:spPr>
          <a:xfrm>
            <a:off x="1691640" y="2331720"/>
            <a:ext cx="2194560" cy="566928"/>
          </a:xfrm>
          <a:prstGeom prst="roundRect">
            <a:avLst>
              <a:gd name="adj" fmla="val 9677"/>
            </a:avLst>
          </a:prstGeom>
          <a:solidFill>
            <a:schemeClr val="accent5"/>
          </a:solidFill>
          <a:ln/>
        </p:spPr>
      </p:sp>
      <p:sp>
        <p:nvSpPr>
          <p:cNvPr id="16" name="Text 14"/>
          <p:cNvSpPr txBox="1"/>
          <p:nvPr/>
        </p:nvSpPr>
        <p:spPr>
          <a:xfrm>
            <a:off x="1783080" y="2331720"/>
            <a:ext cx="2011680" cy="566928"/>
          </a:xfrm>
          <a:prstGeom prst="rect">
            <a:avLst/>
          </a:prstGeom>
          <a:noFill/>
          <a:ln/>
        </p:spPr>
        <p:txBody>
          <a:bodyPr wrap="square" lIns="0" tIns="0" rIns="0" bIns="0" rtlCol="0" anchor="ctr"/>
          <a:lstStyle/>
          <a:p>
            <a:pPr algn="ctr" indent="0" marL="0">
              <a:buNone/>
            </a:pPr>
            <a:r>
              <a:rPr lang="en-US" sz="1150" b="1" dirty="0">
                <a:solidFill>
                  <a:schemeClr val="tx2"/>
                </a:solidFill>
              </a:rPr>
              <a:t>Assistant sur le poste</a:t>
            </a:r>
            <a:endParaRPr lang="en-US" sz="1150" dirty="0"/>
          </a:p>
          <a:p>
            <a:pPr algn="ctr" indent="0" marL="0">
              <a:buNone/>
            </a:pPr>
            <a:r>
              <a:rPr lang="en-US" sz="1000" dirty="0">
                <a:solidFill>
                  <a:schemeClr val="tx2"/>
                </a:solidFill>
              </a:rPr>
              <a:t>outil autorisé par KPMG</a:t>
            </a:r>
            <a:endParaRPr lang="en-US" sz="1150" dirty="0"/>
          </a:p>
        </p:txBody>
      </p:sp>
      <p:pic>
        <p:nvPicPr>
          <p:cNvPr id="17" name="arrow" descr="preencoded.png">    </p:cNvPr>
          <p:cNvPicPr>
            <a:picLocks noChangeAspect="1"/>
          </p:cNvPicPr>
          <p:nvPr/>
        </p:nvPicPr>
        <p:blipFill>
          <a:blip r:embed="rId1"/>
          <a:stretch>
            <a:fillRect/>
          </a:stretch>
        </p:blipFill>
        <p:spPr>
          <a:xfrm>
            <a:off x="3904488" y="2478024"/>
            <a:ext cx="274320" cy="274320"/>
          </a:xfrm>
          <a:prstGeom prst="rect">
            <a:avLst/>
          </a:prstGeom>
        </p:spPr>
      </p:pic>
      <p:sp>
        <p:nvSpPr>
          <p:cNvPr id="18" name="box"/>
          <p:cNvSpPr/>
          <p:nvPr/>
        </p:nvSpPr>
        <p:spPr>
          <a:xfrm>
            <a:off x="4206240" y="2331720"/>
            <a:ext cx="2194560" cy="566928"/>
          </a:xfrm>
          <a:prstGeom prst="roundRect">
            <a:avLst>
              <a:gd name="adj" fmla="val 9677"/>
            </a:avLst>
          </a:prstGeom>
          <a:solidFill>
            <a:schemeClr val="accent5"/>
          </a:solidFill>
          <a:ln/>
        </p:spPr>
      </p:sp>
      <p:sp>
        <p:nvSpPr>
          <p:cNvPr id="19" name="Text 16"/>
          <p:cNvSpPr txBox="1"/>
          <p:nvPr/>
        </p:nvSpPr>
        <p:spPr>
          <a:xfrm>
            <a:off x="4297680" y="2331720"/>
            <a:ext cx="2011680" cy="566928"/>
          </a:xfrm>
          <a:prstGeom prst="rect">
            <a:avLst/>
          </a:prstGeom>
          <a:noFill/>
          <a:ln/>
        </p:spPr>
        <p:txBody>
          <a:bodyPr wrap="square" lIns="0" tIns="0" rIns="0" bIns="0" rtlCol="0" anchor="ctr"/>
          <a:lstStyle/>
          <a:p>
            <a:pPr algn="ctr" indent="0" marL="0">
              <a:buNone/>
            </a:pPr>
            <a:r>
              <a:rPr lang="en-US" sz="1150" b="1" dirty="0">
                <a:solidFill>
                  <a:schemeClr val="tx2"/>
                </a:solidFill>
              </a:rPr>
              <a:t>Serveur MCP data-testing</a:t>
            </a:r>
            <a:endParaRPr lang="en-US" sz="1150" dirty="0"/>
          </a:p>
          <a:p>
            <a:pPr algn="ctr" indent="0" marL="0">
              <a:buNone/>
            </a:pPr>
            <a:r>
              <a:rPr lang="en-US" sz="1000" dirty="0">
                <a:solidFill>
                  <a:schemeClr val="tx2"/>
                </a:solidFill>
              </a:rPr>
              <a:t>garde-fou SQL, trace</a:t>
            </a:r>
            <a:endParaRPr lang="en-US" sz="1150" dirty="0"/>
          </a:p>
        </p:txBody>
      </p:sp>
      <p:pic>
        <p:nvPicPr>
          <p:cNvPr id="20" name="arrow" descr="preencoded.png">    </p:cNvPr>
          <p:cNvPicPr>
            <a:picLocks noChangeAspect="1"/>
          </p:cNvPicPr>
          <p:nvPr/>
        </p:nvPicPr>
        <p:blipFill>
          <a:blip r:embed="rId2"/>
          <a:stretch>
            <a:fillRect/>
          </a:stretch>
        </p:blipFill>
        <p:spPr>
          <a:xfrm>
            <a:off x="6419088" y="2478024"/>
            <a:ext cx="274320" cy="274320"/>
          </a:xfrm>
          <a:prstGeom prst="rect">
            <a:avLst/>
          </a:prstGeom>
        </p:spPr>
      </p:pic>
      <p:sp>
        <p:nvSpPr>
          <p:cNvPr id="21" name="box"/>
          <p:cNvSpPr/>
          <p:nvPr/>
        </p:nvSpPr>
        <p:spPr>
          <a:xfrm>
            <a:off x="6720840" y="2331720"/>
            <a:ext cx="2194560" cy="566928"/>
          </a:xfrm>
          <a:prstGeom prst="roundRect">
            <a:avLst>
              <a:gd name="adj" fmla="val 9677"/>
            </a:avLst>
          </a:prstGeom>
          <a:solidFill>
            <a:schemeClr val="accent5"/>
          </a:solidFill>
          <a:ln/>
        </p:spPr>
      </p:sp>
      <p:sp>
        <p:nvSpPr>
          <p:cNvPr id="22" name="Text 18"/>
          <p:cNvSpPr txBox="1"/>
          <p:nvPr/>
        </p:nvSpPr>
        <p:spPr>
          <a:xfrm>
            <a:off x="6812280" y="2331720"/>
            <a:ext cx="2011680" cy="566928"/>
          </a:xfrm>
          <a:prstGeom prst="rect">
            <a:avLst/>
          </a:prstGeom>
          <a:noFill/>
          <a:ln/>
        </p:spPr>
        <p:txBody>
          <a:bodyPr wrap="square" lIns="0" tIns="0" rIns="0" bIns="0" rtlCol="0" anchor="ctr"/>
          <a:lstStyle/>
          <a:p>
            <a:pPr algn="ctr" indent="0" marL="0">
              <a:buNone/>
            </a:pPr>
            <a:r>
              <a:rPr lang="en-US" sz="1150" b="1" dirty="0">
                <a:solidFill>
                  <a:schemeClr val="tx2"/>
                </a:solidFill>
              </a:rPr>
              <a:t>Identité Entra ID dédiée</a:t>
            </a:r>
            <a:endParaRPr lang="en-US" sz="1150" dirty="0"/>
          </a:p>
          <a:p>
            <a:pPr algn="ctr" indent="0" marL="0">
              <a:buNone/>
            </a:pPr>
            <a:r>
              <a:rPr lang="en-US" sz="1000" dirty="0">
                <a:solidFill>
                  <a:schemeClr val="tx2"/>
                </a:solidFill>
              </a:rPr>
              <a:t>sans mot de passe, SELECT seul</a:t>
            </a:r>
            <a:endParaRPr lang="en-US" sz="1150" dirty="0"/>
          </a:p>
        </p:txBody>
      </p:sp>
      <p:pic>
        <p:nvPicPr>
          <p:cNvPr id="23" name="arrow" descr="preencoded.png">    </p:cNvPr>
          <p:cNvPicPr>
            <a:picLocks noChangeAspect="1"/>
          </p:cNvPicPr>
          <p:nvPr/>
        </p:nvPicPr>
        <p:blipFill>
          <a:blip r:embed="rId3"/>
          <a:stretch>
            <a:fillRect/>
          </a:stretch>
        </p:blipFill>
        <p:spPr>
          <a:xfrm>
            <a:off x="8933688" y="2478024"/>
            <a:ext cx="274320" cy="274320"/>
          </a:xfrm>
          <a:prstGeom prst="rect">
            <a:avLst/>
          </a:prstGeom>
        </p:spPr>
      </p:pic>
      <p:sp>
        <p:nvSpPr>
          <p:cNvPr id="24" name="box"/>
          <p:cNvSpPr/>
          <p:nvPr/>
        </p:nvSpPr>
        <p:spPr>
          <a:xfrm>
            <a:off x="9235440" y="2331720"/>
            <a:ext cx="2194560" cy="566928"/>
          </a:xfrm>
          <a:prstGeom prst="roundRect">
            <a:avLst>
              <a:gd name="adj" fmla="val 9677"/>
            </a:avLst>
          </a:prstGeom>
          <a:solidFill>
            <a:schemeClr val="tx2"/>
          </a:solidFill>
          <a:ln/>
        </p:spPr>
      </p:sp>
      <p:sp>
        <p:nvSpPr>
          <p:cNvPr id="25" name="Text 20"/>
          <p:cNvSpPr txBox="1"/>
          <p:nvPr/>
        </p:nvSpPr>
        <p:spPr>
          <a:xfrm>
            <a:off x="9326880" y="2331720"/>
            <a:ext cx="2011680" cy="566928"/>
          </a:xfrm>
          <a:prstGeom prst="rect">
            <a:avLst/>
          </a:prstGeom>
          <a:noFill/>
          <a:ln/>
        </p:spPr>
        <p:txBody>
          <a:bodyPr wrap="square" lIns="0" tIns="0" rIns="0" bIns="0" rtlCol="0" anchor="ctr"/>
          <a:lstStyle/>
          <a:p>
            <a:pPr algn="ctr" indent="0" marL="0">
              <a:buNone/>
            </a:pPr>
            <a:r>
              <a:rPr lang="en-US" sz="1150" b="1" dirty="0">
                <a:solidFill>
                  <a:schemeClr val="bg1"/>
                </a:solidFill>
              </a:rPr>
              <a:t>Azure SQL</a:t>
            </a:r>
            <a:endParaRPr lang="en-US" sz="1150" dirty="0"/>
          </a:p>
          <a:p>
            <a:pPr algn="ctr" indent="0" marL="0">
              <a:buNone/>
            </a:pPr>
            <a:r>
              <a:rPr lang="en-US" sz="1000" dirty="0">
                <a:solidFill>
                  <a:schemeClr val="bg1"/>
                </a:solidFill>
              </a:rPr>
              <a:t>ITG ou PREPROD, jamais PROD</a:t>
            </a:r>
            <a:endParaRPr lang="en-US" sz="1150" dirty="0"/>
          </a:p>
        </p:txBody>
      </p:sp>
      <p:sp>
        <p:nvSpPr>
          <p:cNvPr id="26" name="card"/>
          <p:cNvSpPr/>
          <p:nvPr/>
        </p:nvSpPr>
        <p:spPr>
          <a:xfrm>
            <a:off x="548640" y="3035808"/>
            <a:ext cx="3520440" cy="2084832"/>
          </a:xfrm>
          <a:prstGeom prst="roundRect">
            <a:avLst>
              <a:gd name="adj" fmla="val 4386"/>
            </a:avLst>
          </a:prstGeom>
          <a:solidFill>
            <a:schemeClr val="bg2"/>
          </a:solidFill>
          <a:ln/>
        </p:spPr>
      </p:sp>
      <p:sp>
        <p:nvSpPr>
          <p:cNvPr id="27" name="Text 22"/>
          <p:cNvSpPr txBox="1"/>
          <p:nvPr/>
        </p:nvSpPr>
        <p:spPr>
          <a:xfrm>
            <a:off x="731520" y="3090672"/>
            <a:ext cx="3154680" cy="292608"/>
          </a:xfrm>
          <a:prstGeom prst="rect">
            <a:avLst/>
          </a:prstGeom>
          <a:noFill/>
          <a:ln/>
        </p:spPr>
        <p:txBody>
          <a:bodyPr wrap="square" lIns="0" tIns="0" rIns="0" bIns="0" rtlCol="0" anchor="t"/>
          <a:lstStyle/>
          <a:p>
            <a:pPr indent="0" marL="0">
              <a:buNone/>
            </a:pPr>
            <a:r>
              <a:rPr lang="en-US" sz="1400" b="1" dirty="0">
                <a:solidFill>
                  <a:schemeClr val="tx2"/>
                </a:solidFill>
              </a:rPr>
              <a:t>Intégrité</a:t>
            </a:r>
            <a:endParaRPr lang="en-US" sz="1400" dirty="0"/>
          </a:p>
        </p:txBody>
      </p:sp>
      <p:sp>
        <p:nvSpPr>
          <p:cNvPr id="28" name="Text 23"/>
          <p:cNvSpPr txBox="1"/>
          <p:nvPr/>
        </p:nvSpPr>
        <p:spPr>
          <a:xfrm>
            <a:off x="731520" y="3383280"/>
            <a:ext cx="3154680" cy="411480"/>
          </a:xfrm>
          <a:prstGeom prst="rect">
            <a:avLst/>
          </a:prstGeom>
          <a:noFill/>
          <a:ln/>
        </p:spPr>
        <p:txBody>
          <a:bodyPr wrap="square" lIns="0" tIns="0" rIns="0" bIns="0" rtlCol="0" anchor="t"/>
          <a:lstStyle/>
          <a:p>
            <a:pPr indent="0" marL="0">
              <a:buNone/>
            </a:pPr>
            <a:r>
              <a:rPr lang="en-US" sz="1150" dirty="0">
                <a:solidFill>
                  <a:schemeClr val="tx1"/>
                </a:solidFill>
              </a:rPr>
              <a:t>Des mandats pointent-ils vers une entité inexistante ?</a:t>
            </a:r>
            <a:endParaRPr lang="en-US" sz="1150" dirty="0"/>
          </a:p>
        </p:txBody>
      </p:sp>
      <p:sp>
        <p:nvSpPr>
          <p:cNvPr id="29" name="box"/>
          <p:cNvSpPr/>
          <p:nvPr/>
        </p:nvSpPr>
        <p:spPr>
          <a:xfrm>
            <a:off x="685800" y="3822192"/>
            <a:ext cx="3246120" cy="1225296"/>
          </a:xfrm>
          <a:prstGeom prst="roundRect">
            <a:avLst>
              <a:gd name="adj" fmla="val 4478"/>
            </a:avLst>
          </a:prstGeom>
          <a:solidFill>
            <a:schemeClr val="accent6"/>
          </a:solidFill>
          <a:ln/>
        </p:spPr>
      </p:sp>
      <p:sp>
        <p:nvSpPr>
          <p:cNvPr id="30" name="Text 25"/>
          <p:cNvSpPr txBox="1"/>
          <p:nvPr/>
        </p:nvSpPr>
        <p:spPr>
          <a:xfrm>
            <a:off x="795528" y="3849624"/>
            <a:ext cx="3063240" cy="1170432"/>
          </a:xfrm>
          <a:prstGeom prst="rect">
            <a:avLst/>
          </a:prstGeom>
          <a:noFill/>
          <a:ln/>
        </p:spPr>
        <p:txBody>
          <a:bodyPr wrap="square" lIns="0" tIns="0" rIns="0" bIns="0" rtlCol="0" anchor="ctr"/>
          <a:lstStyle/>
          <a:p>
            <a:pPr indent="0" marL="0">
              <a:buNone/>
            </a:pPr>
            <a:r>
              <a:rPr lang="en-US" sz="1000" dirty="0">
                <a:solidFill>
                  <a:schemeClr val="bg1"/>
                </a:solidFill>
                <a:latin typeface="Courier New" pitchFamily="34" charset="0"/>
                <a:ea typeface="Courier New" pitchFamily="34" charset="-122"/>
                <a:cs typeface="Courier New" pitchFamily="34" charset="-120"/>
              </a:rPr>
              <a:t>SELECT COUNT(*) FROM mandat m</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LEFT JOIN entite e ON e.id = m.entite_id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WHERE e.id IS NULL;</a:t>
            </a:r>
            <a:endParaRPr lang="en-US" sz="1000" dirty="0"/>
          </a:p>
        </p:txBody>
      </p:sp>
      <p:sp>
        <p:nvSpPr>
          <p:cNvPr id="31" name="card"/>
          <p:cNvSpPr/>
          <p:nvPr/>
        </p:nvSpPr>
        <p:spPr>
          <a:xfrm>
            <a:off x="4297680" y="3035808"/>
            <a:ext cx="3520440" cy="2084832"/>
          </a:xfrm>
          <a:prstGeom prst="roundRect">
            <a:avLst>
              <a:gd name="adj" fmla="val 4386"/>
            </a:avLst>
          </a:prstGeom>
          <a:solidFill>
            <a:schemeClr val="bg2"/>
          </a:solidFill>
          <a:ln/>
        </p:spPr>
      </p:sp>
      <p:sp>
        <p:nvSpPr>
          <p:cNvPr id="32" name="Text 27"/>
          <p:cNvSpPr txBox="1"/>
          <p:nvPr/>
        </p:nvSpPr>
        <p:spPr>
          <a:xfrm>
            <a:off x="4480560" y="3090672"/>
            <a:ext cx="3154680" cy="292608"/>
          </a:xfrm>
          <a:prstGeom prst="rect">
            <a:avLst/>
          </a:prstGeom>
          <a:noFill/>
          <a:ln/>
        </p:spPr>
        <p:txBody>
          <a:bodyPr wrap="square" lIns="0" tIns="0" rIns="0" bIns="0" rtlCol="0" anchor="t"/>
          <a:lstStyle/>
          <a:p>
            <a:pPr indent="0" marL="0">
              <a:buNone/>
            </a:pPr>
            <a:r>
              <a:rPr lang="en-US" sz="1400" b="1" dirty="0">
                <a:solidFill>
                  <a:schemeClr val="tx2"/>
                </a:solidFill>
              </a:rPr>
              <a:t>Cohérence</a:t>
            </a:r>
            <a:endParaRPr lang="en-US" sz="1400" dirty="0"/>
          </a:p>
        </p:txBody>
      </p:sp>
      <p:sp>
        <p:nvSpPr>
          <p:cNvPr id="33" name="Text 28"/>
          <p:cNvSpPr txBox="1"/>
          <p:nvPr/>
        </p:nvSpPr>
        <p:spPr>
          <a:xfrm>
            <a:off x="4480560" y="3383280"/>
            <a:ext cx="3154680" cy="411480"/>
          </a:xfrm>
          <a:prstGeom prst="rect">
            <a:avLst/>
          </a:prstGeom>
          <a:noFill/>
          <a:ln/>
        </p:spPr>
        <p:txBody>
          <a:bodyPr wrap="square" lIns="0" tIns="0" rIns="0" bIns="0" rtlCol="0" anchor="t"/>
          <a:lstStyle/>
          <a:p>
            <a:pPr indent="0" marL="0">
              <a:buNone/>
            </a:pPr>
            <a:r>
              <a:rPr lang="en-US" sz="1150" dirty="0">
                <a:solidFill>
                  <a:schemeClr val="tx1"/>
                </a:solidFill>
              </a:rPr>
              <a:t>Des dates de fin précèdent-elles la date de début ?</a:t>
            </a:r>
            <a:endParaRPr lang="en-US" sz="1150" dirty="0"/>
          </a:p>
        </p:txBody>
      </p:sp>
      <p:sp>
        <p:nvSpPr>
          <p:cNvPr id="34" name="box"/>
          <p:cNvSpPr/>
          <p:nvPr/>
        </p:nvSpPr>
        <p:spPr>
          <a:xfrm>
            <a:off x="4434840" y="3822192"/>
            <a:ext cx="3246120" cy="1225296"/>
          </a:xfrm>
          <a:prstGeom prst="roundRect">
            <a:avLst>
              <a:gd name="adj" fmla="val 4478"/>
            </a:avLst>
          </a:prstGeom>
          <a:solidFill>
            <a:schemeClr val="accent6"/>
          </a:solidFill>
          <a:ln/>
        </p:spPr>
      </p:sp>
      <p:sp>
        <p:nvSpPr>
          <p:cNvPr id="35" name="Text 30"/>
          <p:cNvSpPr txBox="1"/>
          <p:nvPr/>
        </p:nvSpPr>
        <p:spPr>
          <a:xfrm>
            <a:off x="4544568" y="3849624"/>
            <a:ext cx="3063240" cy="1170432"/>
          </a:xfrm>
          <a:prstGeom prst="rect">
            <a:avLst/>
          </a:prstGeom>
          <a:noFill/>
          <a:ln/>
        </p:spPr>
        <p:txBody>
          <a:bodyPr wrap="square" lIns="0" tIns="0" rIns="0" bIns="0" rtlCol="0" anchor="ctr"/>
          <a:lstStyle/>
          <a:p>
            <a:pPr indent="0" marL="0">
              <a:buNone/>
            </a:pPr>
            <a:r>
              <a:rPr lang="en-US" sz="1000" dirty="0">
                <a:solidFill>
                  <a:schemeClr val="bg1"/>
                </a:solidFill>
                <a:latin typeface="Courier New" pitchFamily="34" charset="0"/>
                <a:ea typeface="Courier New" pitchFamily="34" charset="-122"/>
                <a:cs typeface="Courier New" pitchFamily="34" charset="-120"/>
              </a:rPr>
              <a:t>SELECT COUNT(*) FROM mandat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WHERE date_fin &lt; date_debut;</a:t>
            </a:r>
            <a:endParaRPr lang="en-US" sz="1000" dirty="0"/>
          </a:p>
        </p:txBody>
      </p:sp>
      <p:sp>
        <p:nvSpPr>
          <p:cNvPr id="36" name="card"/>
          <p:cNvSpPr/>
          <p:nvPr/>
        </p:nvSpPr>
        <p:spPr>
          <a:xfrm>
            <a:off x="8046720" y="3035808"/>
            <a:ext cx="3520440" cy="2084832"/>
          </a:xfrm>
          <a:prstGeom prst="roundRect">
            <a:avLst>
              <a:gd name="adj" fmla="val 4386"/>
            </a:avLst>
          </a:prstGeom>
          <a:solidFill>
            <a:schemeClr val="bg2"/>
          </a:solidFill>
          <a:ln/>
        </p:spPr>
      </p:sp>
      <p:sp>
        <p:nvSpPr>
          <p:cNvPr id="37" name="Text 32"/>
          <p:cNvSpPr txBox="1"/>
          <p:nvPr/>
        </p:nvSpPr>
        <p:spPr>
          <a:xfrm>
            <a:off x="8229600" y="3090672"/>
            <a:ext cx="3154680" cy="292608"/>
          </a:xfrm>
          <a:prstGeom prst="rect">
            <a:avLst/>
          </a:prstGeom>
          <a:noFill/>
          <a:ln/>
        </p:spPr>
        <p:txBody>
          <a:bodyPr wrap="square" lIns="0" tIns="0" rIns="0" bIns="0" rtlCol="0" anchor="t"/>
          <a:lstStyle/>
          <a:p>
            <a:pPr indent="0" marL="0">
              <a:buNone/>
            </a:pPr>
            <a:r>
              <a:rPr lang="en-US" sz="1400" b="1" dirty="0">
                <a:solidFill>
                  <a:schemeClr val="tx2"/>
                </a:solidFill>
              </a:rPr>
              <a:t>Mapping</a:t>
            </a:r>
            <a:endParaRPr lang="en-US" sz="1400" dirty="0"/>
          </a:p>
        </p:txBody>
      </p:sp>
      <p:sp>
        <p:nvSpPr>
          <p:cNvPr id="38" name="Text 33"/>
          <p:cNvSpPr txBox="1"/>
          <p:nvPr/>
        </p:nvSpPr>
        <p:spPr>
          <a:xfrm>
            <a:off x="8229600" y="3383280"/>
            <a:ext cx="3154680" cy="411480"/>
          </a:xfrm>
          <a:prstGeom prst="rect">
            <a:avLst/>
          </a:prstGeom>
          <a:noFill/>
          <a:ln/>
        </p:spPr>
        <p:txBody>
          <a:bodyPr wrap="square" lIns="0" tIns="0" rIns="0" bIns="0" rtlCol="0" anchor="t"/>
          <a:lstStyle/>
          <a:p>
            <a:pPr indent="0" marL="0">
              <a:buNone/>
            </a:pPr>
            <a:r>
              <a:rPr lang="en-US" sz="1150" dirty="0">
                <a:solidFill>
                  <a:schemeClr val="tx1"/>
                </a:solidFill>
              </a:rPr>
              <a:t>Le statut IBS « V » est-il devenu « Validé » ?</a:t>
            </a:r>
            <a:endParaRPr lang="en-US" sz="1150" dirty="0"/>
          </a:p>
        </p:txBody>
      </p:sp>
      <p:sp>
        <p:nvSpPr>
          <p:cNvPr id="39" name="box"/>
          <p:cNvSpPr/>
          <p:nvPr/>
        </p:nvSpPr>
        <p:spPr>
          <a:xfrm>
            <a:off x="8183880" y="3822192"/>
            <a:ext cx="3246120" cy="1225296"/>
          </a:xfrm>
          <a:prstGeom prst="roundRect">
            <a:avLst>
              <a:gd name="adj" fmla="val 4478"/>
            </a:avLst>
          </a:prstGeom>
          <a:solidFill>
            <a:schemeClr val="accent6"/>
          </a:solidFill>
          <a:ln/>
        </p:spPr>
      </p:sp>
      <p:sp>
        <p:nvSpPr>
          <p:cNvPr id="40" name="Text 35"/>
          <p:cNvSpPr txBox="1"/>
          <p:nvPr/>
        </p:nvSpPr>
        <p:spPr>
          <a:xfrm>
            <a:off x="8293608" y="3849624"/>
            <a:ext cx="3063240" cy="1170432"/>
          </a:xfrm>
          <a:prstGeom prst="rect">
            <a:avLst/>
          </a:prstGeom>
          <a:noFill/>
          <a:ln/>
        </p:spPr>
        <p:txBody>
          <a:bodyPr wrap="square" lIns="0" tIns="0" rIns="0" bIns="0" rtlCol="0" anchor="ctr"/>
          <a:lstStyle/>
          <a:p>
            <a:pPr indent="0" marL="0">
              <a:buNone/>
            </a:pPr>
            <a:r>
              <a:rPr lang="en-US" sz="1000" dirty="0">
                <a:solidFill>
                  <a:schemeClr val="bg1"/>
                </a:solidFill>
                <a:latin typeface="Courier New" pitchFamily="34" charset="0"/>
                <a:ea typeface="Courier New" pitchFamily="34" charset="-122"/>
                <a:cs typeface="Courier New" pitchFamily="34" charset="-120"/>
              </a:rPr>
              <a:t>SELECT COUNT(*) FROM ibs.mandat 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JOIN infocac.mandat c</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ON c.code_origine = s.code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WHERE s.statut = 'V'</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AND c.statut &lt;&gt; 'Validé';</a:t>
            </a:r>
            <a:endParaRPr lang="en-US" sz="1000" dirty="0"/>
          </a:p>
        </p:txBody>
      </p:sp>
      <p:sp>
        <p:nvSpPr>
          <p:cNvPr id="41" name="card"/>
          <p:cNvSpPr/>
          <p:nvPr/>
        </p:nvSpPr>
        <p:spPr>
          <a:xfrm>
            <a:off x="548640" y="5212080"/>
            <a:ext cx="11064240" cy="685800"/>
          </a:xfrm>
          <a:prstGeom prst="roundRect">
            <a:avLst>
              <a:gd name="adj" fmla="val 13333"/>
            </a:avLst>
          </a:prstGeom>
          <a:solidFill>
            <a:schemeClr val="tx2"/>
          </a:solidFill>
          <a:ln/>
        </p:spPr>
      </p:sp>
      <p:sp>
        <p:nvSpPr>
          <p:cNvPr id="42" name="Text 37"/>
          <p:cNvSpPr txBox="1"/>
          <p:nvPr/>
        </p:nvSpPr>
        <p:spPr>
          <a:xfrm>
            <a:off x="777240" y="5230368"/>
            <a:ext cx="10607040" cy="649224"/>
          </a:xfrm>
          <a:prstGeom prst="rect">
            <a:avLst/>
          </a:prstGeom>
          <a:noFill/>
          <a:ln/>
        </p:spPr>
        <p:txBody>
          <a:bodyPr wrap="square" lIns="0" tIns="0" rIns="0" bIns="0" rtlCol="0" anchor="ctr"/>
          <a:lstStyle/>
          <a:p>
            <a:pPr indent="0" marL="0">
              <a:buNone/>
            </a:pPr>
            <a:r>
              <a:rPr lang="en-US" sz="1250" b="1" dirty="0">
                <a:solidFill>
                  <a:schemeClr val="bg1"/>
                </a:solidFill>
              </a:rPr>
              <a:t>Pour l'évaluer : </a:t>
            </a:r>
            <a:pPr indent="0" marL="0">
              <a:buNone/>
            </a:pPr>
            <a:r>
              <a:rPr lang="en-US" sz="1250" dirty="0">
                <a:solidFill>
                  <a:schemeClr val="bg1"/>
                </a:solidFill>
              </a:rPr>
              <a:t>3 contrôles écrits avec l'équipe sur ITG ; on compte les écarts réels et les fausses alertes, et on vérifie qu'une tentative d'écriture est refusée par la base comme par le garde-fou.</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Les mêmes garde-fous pour les trois agents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Ce qui est écrit dans une règle est vérifié par du code ; ce qui reste coûteux est décidé par un humain.</a:t>
            </a:r>
            <a:endParaRPr lang="en-US" sz="1600" dirty="0"/>
          </a:p>
        </p:txBody>
      </p:sp>
      <p:sp>
        <p:nvSpPr>
          <p:cNvPr id="4" name="card"/>
          <p:cNvSpPr/>
          <p:nvPr/>
        </p:nvSpPr>
        <p:spPr>
          <a:xfrm>
            <a:off x="548640" y="1645920"/>
            <a:ext cx="6812280" cy="1051560"/>
          </a:xfrm>
          <a:prstGeom prst="roundRect">
            <a:avLst>
              <a:gd name="adj" fmla="val 8696"/>
            </a:avLst>
          </a:prstGeom>
          <a:solidFill>
            <a:schemeClr val="tx2"/>
          </a:solidFill>
          <a:ln/>
        </p:spPr>
      </p:sp>
      <p:sp>
        <p:nvSpPr>
          <p:cNvPr id="5" name="icon-circle"/>
          <p:cNvSpPr/>
          <p:nvPr/>
        </p:nvSpPr>
        <p:spPr>
          <a:xfrm>
            <a:off x="713232" y="1856232"/>
            <a:ext cx="640080" cy="640080"/>
          </a:xfrm>
          <a:prstGeom prst="ellipse">
            <a:avLst/>
          </a:prstGeom>
          <a:solidFill>
            <a:schemeClr val="accent1"/>
          </a:solidFill>
          <a:ln/>
        </p:spPr>
      </p:sp>
      <p:pic>
        <p:nvPicPr>
          <p:cNvPr id="6" name="icon" descr="preencoded.png">    </p:cNvPr>
          <p:cNvPicPr>
            <a:picLocks noChangeAspect="1"/>
          </p:cNvPicPr>
          <p:nvPr/>
        </p:nvPicPr>
        <p:blipFill>
          <a:blip r:embed="rId1"/>
          <a:stretch>
            <a:fillRect/>
          </a:stretch>
        </p:blipFill>
        <p:spPr>
          <a:xfrm>
            <a:off x="854050" y="1997050"/>
            <a:ext cx="358445" cy="358445"/>
          </a:xfrm>
          <a:prstGeom prst="rect">
            <a:avLst/>
          </a:prstGeom>
        </p:spPr>
      </p:pic>
      <p:sp>
        <p:nvSpPr>
          <p:cNvPr id="7" name="Text 4"/>
          <p:cNvSpPr txBox="1"/>
          <p:nvPr/>
        </p:nvSpPr>
        <p:spPr>
          <a:xfrm>
            <a:off x="1508760" y="1645920"/>
            <a:ext cx="5715000" cy="1051560"/>
          </a:xfrm>
          <a:prstGeom prst="rect">
            <a:avLst/>
          </a:prstGeom>
          <a:noFill/>
          <a:ln/>
        </p:spPr>
        <p:txBody>
          <a:bodyPr wrap="square" lIns="0" tIns="0" rIns="0" bIns="0" rtlCol="0" anchor="ctr"/>
          <a:lstStyle/>
          <a:p>
            <a:pPr indent="0" marL="0">
              <a:buNone/>
            </a:pPr>
            <a:r>
              <a:rPr lang="en-US" sz="1500" b="1" dirty="0">
                <a:solidFill>
                  <a:srgbClr val="FFFFFF"/>
                </a:solidFill>
              </a:rPr>
              <a:t>L'humain décide seul</a:t>
            </a:r>
            <a:endParaRPr lang="en-US" sz="1250" dirty="0"/>
          </a:p>
          <a:p>
            <a:pPr indent="0" marL="0">
              <a:buNone/>
            </a:pPr>
            <a:r>
              <a:rPr lang="en-US" sz="1250" dirty="0">
                <a:solidFill>
                  <a:srgbClr val="FFFFFF"/>
                </a:solidFill>
              </a:rPr>
              <a:t>accepter un cas ou un test écrit par un agent · modifier la CI ou un utilitaire partagé · ignorer un échec · supprimer un test</a:t>
            </a:r>
            <a:endParaRPr lang="en-US" sz="1250" dirty="0"/>
          </a:p>
        </p:txBody>
      </p:sp>
      <p:sp>
        <p:nvSpPr>
          <p:cNvPr id="8" name="card"/>
          <p:cNvSpPr/>
          <p:nvPr/>
        </p:nvSpPr>
        <p:spPr>
          <a:xfrm>
            <a:off x="7498080" y="1645920"/>
            <a:ext cx="4114800" cy="1051560"/>
          </a:xfrm>
          <a:prstGeom prst="roundRect">
            <a:avLst>
              <a:gd name="adj" fmla="val 8696"/>
            </a:avLst>
          </a:prstGeom>
          <a:solidFill>
            <a:schemeClr val="accent5"/>
          </a:solidFill>
          <a:ln/>
        </p:spPr>
      </p:sp>
      <p:sp>
        <p:nvSpPr>
          <p:cNvPr id="9" name="Text 6"/>
          <p:cNvSpPr txBox="1"/>
          <p:nvPr/>
        </p:nvSpPr>
        <p:spPr>
          <a:xfrm>
            <a:off x="7680960" y="1645920"/>
            <a:ext cx="3794760" cy="1051560"/>
          </a:xfrm>
          <a:prstGeom prst="rect">
            <a:avLst/>
          </a:prstGeom>
          <a:noFill/>
          <a:ln/>
        </p:spPr>
        <p:txBody>
          <a:bodyPr wrap="square" lIns="0" tIns="0" rIns="0" bIns="0" rtlCol="0" anchor="ctr"/>
          <a:lstStyle/>
          <a:p>
            <a:pPr indent="0" marL="0">
              <a:buNone/>
            </a:pPr>
            <a:r>
              <a:rPr lang="en-US" sz="1500" b="1" dirty="0">
                <a:solidFill>
                  <a:srgbClr val="00338D"/>
                </a:solidFill>
              </a:rPr>
              <a:t>Casser la règle exprès</a:t>
            </a:r>
            <a:endParaRPr lang="en-US" sz="1250" dirty="0"/>
          </a:p>
          <a:p>
            <a:pPr indent="0" marL="0">
              <a:buNone/>
            </a:pPr>
            <a:r>
              <a:rPr lang="en-US" sz="1250" dirty="0">
                <a:solidFill>
                  <a:schemeClr val="tx1"/>
                </a:solidFill>
              </a:rPr>
              <a:t>Avant d'accepter un test généré, on fausse l'attendu : il doit échouer, pour la bonne raison.</a:t>
            </a:r>
            <a:endParaRPr lang="en-US" sz="1250" dirty="0"/>
          </a:p>
        </p:txBody>
      </p:sp>
      <p:graphicFrame>
        <p:nvGraphicFramePr>
          <p:cNvPr id="10" name="table-garde-fous"/>
          <p:cNvGraphicFramePr>
            <a:graphicFrameLocks noGrp="1"/>
          </p:cNvGraphicFramePr>
          <p:nvPr>
            <p:extLst>
              <p:ext uri="{D42A27DB-BD31-4B8C-83A1-F6EECF244321}">
                <p14:modId xmlns:p14="http://schemas.microsoft.com/office/powerpoint/2010/main" val="1579011935"/>
              </p:ext>
            </p:extLst>
          </p:nvPr>
        </p:nvGraphicFramePr>
        <p:xfrm>
          <a:off x="548640" y="2880360"/>
          <a:ext cx="11064240" cy="914400"/>
        </p:xfrm>
        <a:graphic>
          <a:graphicData uri="http://schemas.openxmlformats.org/drawingml/2006/table">
            <a:tbl>
              <a:tblPr/>
              <a:tblGrid>
                <a:gridCol w="1828800"/>
                <a:gridCol w="9235440"/>
              </a:tblGrid>
              <a:tr h="365760">
                <a:tc>
                  <a:txBody>
                    <a:bodyPr/>
                    <a:lstStyle/>
                    <a:p>
                      <a:pPr indent="0" marL="0">
                        <a:buNone/>
                      </a:pPr>
                      <a:r>
                        <a:rPr lang="en-US" sz="1200" b="1" dirty="0">
                          <a:solidFill>
                            <a:srgbClr val="FFFFFF"/>
                          </a:solidFill>
                        </a:rPr>
                        <a:t>Sujet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Règle</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r>
              <a:tr h="566928">
                <a:tc>
                  <a:txBody>
                    <a:bodyPr/>
                    <a:lstStyle/>
                    <a:p>
                      <a:pPr indent="0" marL="0">
                        <a:buNone/>
                      </a:pPr>
                      <a:r>
                        <a:rPr lang="en-US" sz="1250" b="1" dirty="0">
                          <a:solidFill>
                            <a:srgbClr val="1A1A2E"/>
                          </a:solidFill>
                        </a:rPr>
                        <a:t>Données</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50" dirty="0">
                          <a:solidFill>
                            <a:srgbClr val="1A1A2E"/>
                          </a:solidFill>
                        </a:rPr>
                        <a:t>Données des CAC uniquement dans l'outil autorisé par KPMG ; captures masquées avant tout usage</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250" b="1" dirty="0">
                          <a:solidFill>
                            <a:srgbClr val="1A1A2E"/>
                          </a:solidFill>
                        </a:rPr>
                        <a:t>Secrets</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rPr>
                        <a:t>PAT personnel en variable d'environnement, jamais affiché ; identité dédiée en lecture seule pour la base</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A1A2E"/>
                          </a:solidFill>
                        </a:rPr>
                        <a:t>Permissions</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50" dirty="0">
                          <a:solidFill>
                            <a:srgbClr val="1A1A2E"/>
                          </a:solidFill>
                        </a:rPr>
                        <a:t>Lecture par défaut ; écriture seulement après un « oui » explicite ; jamais de PROD</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250" b="1" dirty="0">
                          <a:solidFill>
                            <a:srgbClr val="1A1A2E"/>
                          </a:solidFill>
                        </a:rPr>
                        <a:t>Traçabilité</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rPr>
                        <a:t>Chaque cas, test ou bug lié à son US et marqué ; le rapport relu est versionné dans le dépôt</a:t>
                      </a:r>
                      <a:endParaRPr lang="en-US" sz="12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Évaluer chaque agent avant de le garder</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 agent qui ne fait pas mieux que la méthode manuelle s'arrête ; chaque agent a sa décision GO, ADAPTER ou STOP.</a:t>
            </a:r>
            <a:endParaRPr lang="en-US" sz="1600" dirty="0"/>
          </a:p>
        </p:txBody>
      </p:sp>
      <p:graphicFrame>
        <p:nvGraphicFramePr>
          <p:cNvPr id="11" name="table-evaluation"/>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737360"/>
                <a:gridCol w="2286000"/>
                <a:gridCol w="3657600"/>
                <a:gridCol w="2468880"/>
                <a:gridCol w="914400"/>
              </a:tblGrid>
              <a:tr h="384048">
                <a:tc>
                  <a:txBody>
                    <a:bodyPr/>
                    <a:lstStyle/>
                    <a:p>
                      <a:pPr indent="0" marL="0">
                        <a:buNone/>
                      </a:pPr>
                      <a:r>
                        <a:rPr lang="en-US" sz="1200" b="1" dirty="0">
                          <a:solidFill>
                            <a:srgbClr val="FFFFFF"/>
                          </a:solidFill>
                        </a:rPr>
                        <a:t>Agent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Sur quoi</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Ce qu'on mesure</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Prérequis</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Durée</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r>
              <a:tr h="777240">
                <a:tc>
                  <a:txBody>
                    <a:bodyPr/>
                    <a:lstStyle/>
                    <a:p>
                      <a:pPr indent="0" marL="0">
                        <a:buNone/>
                      </a:pPr>
                      <a:r>
                        <a:rPr lang="en-US" sz="1200" b="1" dirty="0">
                          <a:solidFill>
                            <a:srgbClr val="1A1A2E"/>
                          </a:solidFill>
                        </a:rPr>
                        <a:t>Agent QC</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00" dirty="0">
                          <a:solidFill>
                            <a:srgbClr val="1A1A2E"/>
                          </a:solidFill>
                        </a:rPr>
                        <a:t>3 US déjà traitées à la main</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00" dirty="0">
                          <a:solidFill>
                            <a:srgbClr val="1A1A2E"/>
                          </a:solidFill>
                        </a:rPr>
                        <a:t>Zéro cas inventé ; part des cas acceptés sans réécriture ; temps de rédaction</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00" dirty="0">
                          <a:solidFill>
                            <a:srgbClr val="1A1A2E"/>
                          </a:solidFill>
                        </a:rPr>
                        <a:t>Accord sur l'outil IA ; PAT en lecture</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00" dirty="0">
                          <a:solidFill>
                            <a:srgbClr val="1A1A2E"/>
                          </a:solidFill>
                        </a:rPr>
                        <a:t>1 sprint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777240">
                <a:tc>
                  <a:txBody>
                    <a:bodyPr/>
                    <a:lstStyle/>
                    <a:p>
                      <a:pPr indent="0" marL="0">
                        <a:buNone/>
                      </a:pPr>
                      <a:r>
                        <a:rPr lang="en-US" sz="1200" b="1" dirty="0">
                          <a:solidFill>
                            <a:srgbClr val="1A1A2E"/>
                          </a:solidFill>
                        </a:rPr>
                        <a:t>Agent Playwright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rPr>
                        <a:t>2 US livrées, après le GO du POC</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rPr>
                        <a:t>Tests acceptés en PR, chacun cassé exprès ; temps comparé au manuel</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rPr>
                        <a:t>Socle du POC ; outil autorisé</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rPr>
                        <a:t>1 sprint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1A1A2E"/>
                          </a:solidFill>
                        </a:rPr>
                        <a:t>Agent data testing</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00" dirty="0">
                          <a:solidFill>
                            <a:srgbClr val="1A1A2E"/>
                          </a:solidFill>
                        </a:rPr>
                        <a:t>3 contrôles sur ITG</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00" dirty="0">
                          <a:solidFill>
                            <a:srgbClr val="1A1A2E"/>
                          </a:solidFill>
                        </a:rPr>
                        <a:t>Écarts réels et fausses alertes ; écriture refusée</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00" dirty="0">
                          <a:solidFill>
                            <a:srgbClr val="1A1A2E"/>
                          </a:solidFill>
                        </a:rPr>
                        <a:t>Mapping IBS ; compte en lecture ; accord KPMG</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200" dirty="0">
                          <a:solidFill>
                            <a:srgbClr val="1A1A2E"/>
                          </a:solidFill>
                        </a:rPr>
                        <a:t>1 sprint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bl>
          </a:graphicData>
        </a:graphic>
      </p:graphicFrame>
      <p:sp>
        <p:nvSpPr>
          <p:cNvPr id="5" name="card"/>
          <p:cNvSpPr/>
          <p:nvPr/>
        </p:nvSpPr>
        <p:spPr>
          <a:xfrm>
            <a:off x="548640" y="4754880"/>
            <a:ext cx="11064240" cy="1097280"/>
          </a:xfrm>
          <a:prstGeom prst="roundRect">
            <a:avLst>
              <a:gd name="adj" fmla="val 8333"/>
            </a:avLst>
          </a:prstGeom>
          <a:solidFill>
            <a:schemeClr val="tx2"/>
          </a:solidFill>
          <a:ln/>
        </p:spPr>
      </p:sp>
      <p:sp>
        <p:nvSpPr>
          <p:cNvPr id="6" name="Text 3"/>
          <p:cNvSpPr txBox="1"/>
          <p:nvPr/>
        </p:nvSpPr>
        <p:spPr>
          <a:xfrm>
            <a:off x="777240" y="4754880"/>
            <a:ext cx="10607040" cy="1097280"/>
          </a:xfrm>
          <a:prstGeom prst="rect">
            <a:avLst/>
          </a:prstGeom>
          <a:noFill/>
          <a:ln/>
        </p:spPr>
        <p:txBody>
          <a:bodyPr wrap="square" lIns="0" tIns="0" rIns="0" bIns="0" rtlCol="0" anchor="ctr"/>
          <a:lstStyle/>
          <a:p>
            <a:pPr indent="0" marL="0">
              <a:buNone/>
            </a:pPr>
            <a:r>
              <a:rPr lang="en-US" sz="1350" b="1" dirty="0">
                <a:solidFill>
                  <a:schemeClr val="bg1"/>
                </a:solidFill>
              </a:rPr>
              <a:t>Ordre proposé : </a:t>
            </a:r>
            <a:pPr indent="0" marL="0">
              <a:buNone/>
            </a:pPr>
            <a:r>
              <a:rPr lang="en-US" sz="1350" dirty="0">
                <a:solidFill>
                  <a:schemeClr val="bg1"/>
                </a:solidFill>
              </a:rPr>
              <a:t>l'agent QC d'abord, parce qu'il est prêt et ne touche à aucun environnement. Puis l'agent Playwright, seulement si le POC Playwright est GO. L'agent data testing quand le mapping IBS et l'accord sur la base sont obtenus.</a:t>
            </a:r>
            <a:endParaRPr lang="en-US" sz="13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Décisions à prendre en atelier</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Aucun agent n'est déployé par défaut sur InfoCAC : chacun attend ces réponses.</a:t>
            </a:r>
            <a:endParaRPr lang="en-US" sz="1600" dirty="0"/>
          </a:p>
        </p:txBody>
      </p:sp>
      <p:sp>
        <p:nvSpPr>
          <p:cNvPr id="4" name="card"/>
          <p:cNvSpPr/>
          <p:nvPr/>
        </p:nvSpPr>
        <p:spPr>
          <a:xfrm>
            <a:off x="548640" y="1645920"/>
            <a:ext cx="5440680" cy="1920240"/>
          </a:xfrm>
          <a:prstGeom prst="roundRect">
            <a:avLst>
              <a:gd name="adj" fmla="val 4762"/>
            </a:avLst>
          </a:prstGeom>
          <a:solidFill>
            <a:schemeClr val="bg2"/>
          </a:solidFill>
          <a:ln/>
        </p:spPr>
      </p:sp>
      <p:sp>
        <p:nvSpPr>
          <p:cNvPr id="5" name="num"/>
          <p:cNvSpPr/>
          <p:nvPr/>
        </p:nvSpPr>
        <p:spPr>
          <a:xfrm>
            <a:off x="749808" y="1828800"/>
            <a:ext cx="420624" cy="420624"/>
          </a:xfrm>
          <a:prstGeom prst="ellipse">
            <a:avLst/>
          </a:prstGeom>
          <a:solidFill>
            <a:schemeClr val="accent1"/>
          </a:solidFill>
          <a:ln/>
        </p:spPr>
      </p:sp>
      <p:sp>
        <p:nvSpPr>
          <p:cNvPr id="6" name="Text 4"/>
          <p:cNvSpPr txBox="1"/>
          <p:nvPr/>
        </p:nvSpPr>
        <p:spPr>
          <a:xfrm>
            <a:off x="749808" y="18288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325880" y="1828800"/>
            <a:ext cx="4480560" cy="420624"/>
          </a:xfrm>
          <a:prstGeom prst="rect">
            <a:avLst/>
          </a:prstGeom>
          <a:noFill/>
          <a:ln/>
        </p:spPr>
        <p:txBody>
          <a:bodyPr wrap="square" lIns="0" tIns="0" rIns="0" bIns="0" rtlCol="0" anchor="ctr"/>
          <a:lstStyle/>
          <a:p>
            <a:pPr indent="0" marL="0">
              <a:buNone/>
            </a:pPr>
            <a:r>
              <a:rPr lang="en-US" sz="1600" b="1" dirty="0">
                <a:solidFill>
                  <a:schemeClr val="tx2"/>
                </a:solidFill>
              </a:rPr>
              <a:t>Outil autorisé</a:t>
            </a:r>
            <a:endParaRPr lang="en-US" sz="1600" dirty="0"/>
          </a:p>
        </p:txBody>
      </p:sp>
      <p:sp>
        <p:nvSpPr>
          <p:cNvPr id="8" name="Text 6"/>
          <p:cNvSpPr txBox="1"/>
          <p:nvPr/>
        </p:nvSpPr>
        <p:spPr>
          <a:xfrm>
            <a:off x="822960" y="2423160"/>
            <a:ext cx="4937760" cy="1005840"/>
          </a:xfrm>
          <a:prstGeom prst="rect">
            <a:avLst/>
          </a:prstGeom>
          <a:noFill/>
          <a:ln/>
        </p:spPr>
        <p:txBody>
          <a:bodyPr wrap="square" lIns="0" tIns="0" rIns="0" bIns="0" rtlCol="0" anchor="t"/>
          <a:lstStyle/>
          <a:p>
            <a:pPr indent="0" marL="0">
              <a:buNone/>
            </a:pPr>
            <a:r>
              <a:rPr lang="en-US" sz="1300" dirty="0">
                <a:solidFill>
                  <a:schemeClr val="tx1"/>
                </a:solidFill>
              </a:rPr>
              <a:t>Quel assistant KPMG autorise (Claude Code, Copilot entreprise, autre) et quelles données peuvent y entrer : contenu des US, captures, résultats de requêtes.</a:t>
            </a:r>
            <a:endParaRPr lang="en-US" sz="1300" dirty="0"/>
          </a:p>
        </p:txBody>
      </p:sp>
      <p:sp>
        <p:nvSpPr>
          <p:cNvPr id="9" name="card"/>
          <p:cNvSpPr/>
          <p:nvPr/>
        </p:nvSpPr>
        <p:spPr>
          <a:xfrm>
            <a:off x="6172200" y="1645920"/>
            <a:ext cx="5440680" cy="1920240"/>
          </a:xfrm>
          <a:prstGeom prst="roundRect">
            <a:avLst>
              <a:gd name="adj" fmla="val 4762"/>
            </a:avLst>
          </a:prstGeom>
          <a:solidFill>
            <a:schemeClr val="bg2"/>
          </a:solidFill>
          <a:ln/>
        </p:spPr>
      </p:sp>
      <p:sp>
        <p:nvSpPr>
          <p:cNvPr id="10" name="num"/>
          <p:cNvSpPr/>
          <p:nvPr/>
        </p:nvSpPr>
        <p:spPr>
          <a:xfrm>
            <a:off x="6373368" y="1828800"/>
            <a:ext cx="420624" cy="420624"/>
          </a:xfrm>
          <a:prstGeom prst="ellipse">
            <a:avLst/>
          </a:prstGeom>
          <a:solidFill>
            <a:schemeClr val="accent1"/>
          </a:solidFill>
          <a:ln/>
        </p:spPr>
      </p:sp>
      <p:sp>
        <p:nvSpPr>
          <p:cNvPr id="11" name="Text 9"/>
          <p:cNvSpPr txBox="1"/>
          <p:nvPr/>
        </p:nvSpPr>
        <p:spPr>
          <a:xfrm>
            <a:off x="6373368" y="18288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6949440" y="1828800"/>
            <a:ext cx="4480560" cy="420624"/>
          </a:xfrm>
          <a:prstGeom prst="rect">
            <a:avLst/>
          </a:prstGeom>
          <a:noFill/>
          <a:ln/>
        </p:spPr>
        <p:txBody>
          <a:bodyPr wrap="square" lIns="0" tIns="0" rIns="0" bIns="0" rtlCol="0" anchor="ctr"/>
          <a:lstStyle/>
          <a:p>
            <a:pPr indent="0" marL="0">
              <a:buNone/>
            </a:pPr>
            <a:r>
              <a:rPr lang="en-US" sz="1600" b="1" dirty="0">
                <a:solidFill>
                  <a:schemeClr val="tx2"/>
                </a:solidFill>
              </a:rPr>
              <a:t>Accès</a:t>
            </a:r>
            <a:endParaRPr lang="en-US" sz="1600" dirty="0"/>
          </a:p>
        </p:txBody>
      </p:sp>
      <p:sp>
        <p:nvSpPr>
          <p:cNvPr id="13" name="Text 11"/>
          <p:cNvSpPr txBox="1"/>
          <p:nvPr/>
        </p:nvSpPr>
        <p:spPr>
          <a:xfrm>
            <a:off x="6446520" y="2423160"/>
            <a:ext cx="4937760" cy="1005840"/>
          </a:xfrm>
          <a:prstGeom prst="rect">
            <a:avLst/>
          </a:prstGeom>
          <a:noFill/>
          <a:ln/>
        </p:spPr>
        <p:txBody>
          <a:bodyPr wrap="square" lIns="0" tIns="0" rIns="0" bIns="0" rtlCol="0" anchor="t"/>
          <a:lstStyle/>
          <a:p>
            <a:pPr indent="0" marL="0">
              <a:buNone/>
            </a:pPr>
            <a:r>
              <a:rPr lang="en-US" sz="1300" dirty="0">
                <a:solidFill>
                  <a:schemeClr val="tx1"/>
                </a:solidFill>
              </a:rPr>
              <a:t>PAT en lecture, puis en écriture pour la publication ; identité en lecture seule sur la base de test ; accès d'ITG.</a:t>
            </a:r>
            <a:endParaRPr lang="en-US" sz="1300" dirty="0"/>
          </a:p>
        </p:txBody>
      </p:sp>
      <p:sp>
        <p:nvSpPr>
          <p:cNvPr id="14" name="card"/>
          <p:cNvSpPr/>
          <p:nvPr/>
        </p:nvSpPr>
        <p:spPr>
          <a:xfrm>
            <a:off x="548640" y="3749040"/>
            <a:ext cx="5440680" cy="1920240"/>
          </a:xfrm>
          <a:prstGeom prst="roundRect">
            <a:avLst>
              <a:gd name="adj" fmla="val 4762"/>
            </a:avLst>
          </a:prstGeom>
          <a:solidFill>
            <a:schemeClr val="bg2"/>
          </a:solidFill>
          <a:ln/>
        </p:spPr>
      </p:sp>
      <p:sp>
        <p:nvSpPr>
          <p:cNvPr id="15" name="num"/>
          <p:cNvSpPr/>
          <p:nvPr/>
        </p:nvSpPr>
        <p:spPr>
          <a:xfrm>
            <a:off x="749808" y="3931920"/>
            <a:ext cx="420624" cy="420624"/>
          </a:xfrm>
          <a:prstGeom prst="ellipse">
            <a:avLst/>
          </a:prstGeom>
          <a:solidFill>
            <a:schemeClr val="accent1"/>
          </a:solidFill>
          <a:ln/>
        </p:spPr>
      </p:sp>
      <p:sp>
        <p:nvSpPr>
          <p:cNvPr id="16" name="Text 14"/>
          <p:cNvSpPr txBox="1"/>
          <p:nvPr/>
        </p:nvSpPr>
        <p:spPr>
          <a:xfrm>
            <a:off x="749808" y="39319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1325880" y="3931920"/>
            <a:ext cx="4480560" cy="420624"/>
          </a:xfrm>
          <a:prstGeom prst="rect">
            <a:avLst/>
          </a:prstGeom>
          <a:noFill/>
          <a:ln/>
        </p:spPr>
        <p:txBody>
          <a:bodyPr wrap="square" lIns="0" tIns="0" rIns="0" bIns="0" rtlCol="0" anchor="ctr"/>
          <a:lstStyle/>
          <a:p>
            <a:pPr indent="0" marL="0">
              <a:buNone/>
            </a:pPr>
            <a:r>
              <a:rPr lang="en-US" sz="1600" b="1" dirty="0">
                <a:solidFill>
                  <a:schemeClr val="tx2"/>
                </a:solidFill>
              </a:rPr>
              <a:t>Périmètre et ordre</a:t>
            </a:r>
            <a:endParaRPr lang="en-US" sz="1600" dirty="0"/>
          </a:p>
        </p:txBody>
      </p:sp>
      <p:sp>
        <p:nvSpPr>
          <p:cNvPr id="18" name="Text 16"/>
          <p:cNvSpPr txBox="1"/>
          <p:nvPr/>
        </p:nvSpPr>
        <p:spPr>
          <a:xfrm>
            <a:off x="822960" y="4526280"/>
            <a:ext cx="4937760" cy="1005840"/>
          </a:xfrm>
          <a:prstGeom prst="rect">
            <a:avLst/>
          </a:prstGeom>
          <a:noFill/>
          <a:ln/>
        </p:spPr>
        <p:txBody>
          <a:bodyPr wrap="square" lIns="0" tIns="0" rIns="0" bIns="0" rtlCol="0" anchor="t"/>
          <a:lstStyle/>
          <a:p>
            <a:pPr indent="0" marL="0">
              <a:buNone/>
            </a:pPr>
            <a:r>
              <a:rPr lang="en-US" sz="1300" dirty="0">
                <a:solidFill>
                  <a:schemeClr val="tx1"/>
                </a:solidFill>
              </a:rPr>
              <a:t>Commencer par l'agent QC ; choisir les 3 US de référence et la suite de test dédiée à l'essai.</a:t>
            </a:r>
            <a:endParaRPr lang="en-US" sz="1300" dirty="0"/>
          </a:p>
        </p:txBody>
      </p:sp>
      <p:sp>
        <p:nvSpPr>
          <p:cNvPr id="19" name="card"/>
          <p:cNvSpPr/>
          <p:nvPr/>
        </p:nvSpPr>
        <p:spPr>
          <a:xfrm>
            <a:off x="6172200" y="3749040"/>
            <a:ext cx="5440680" cy="1920240"/>
          </a:xfrm>
          <a:prstGeom prst="roundRect">
            <a:avLst>
              <a:gd name="adj" fmla="val 4762"/>
            </a:avLst>
          </a:prstGeom>
          <a:solidFill>
            <a:schemeClr val="bg2"/>
          </a:solidFill>
          <a:ln/>
        </p:spPr>
      </p:sp>
      <p:sp>
        <p:nvSpPr>
          <p:cNvPr id="20" name="num"/>
          <p:cNvSpPr/>
          <p:nvPr/>
        </p:nvSpPr>
        <p:spPr>
          <a:xfrm>
            <a:off x="6373368" y="3931920"/>
            <a:ext cx="420624" cy="420624"/>
          </a:xfrm>
          <a:prstGeom prst="ellipse">
            <a:avLst/>
          </a:prstGeom>
          <a:solidFill>
            <a:schemeClr val="accent1"/>
          </a:solidFill>
          <a:ln/>
        </p:spPr>
      </p:sp>
      <p:sp>
        <p:nvSpPr>
          <p:cNvPr id="21" name="Text 19"/>
          <p:cNvSpPr txBox="1"/>
          <p:nvPr/>
        </p:nvSpPr>
        <p:spPr>
          <a:xfrm>
            <a:off x="6373368" y="39319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20"/>
          <p:cNvSpPr txBox="1"/>
          <p:nvPr/>
        </p:nvSpPr>
        <p:spPr>
          <a:xfrm>
            <a:off x="6949440" y="3931920"/>
            <a:ext cx="4480560" cy="420624"/>
          </a:xfrm>
          <a:prstGeom prst="rect">
            <a:avLst/>
          </a:prstGeom>
          <a:noFill/>
          <a:ln/>
        </p:spPr>
        <p:txBody>
          <a:bodyPr wrap="square" lIns="0" tIns="0" rIns="0" bIns="0" rtlCol="0" anchor="ctr"/>
          <a:lstStyle/>
          <a:p>
            <a:pPr indent="0" marL="0">
              <a:buNone/>
            </a:pPr>
            <a:r>
              <a:rPr lang="en-US" sz="1600" b="1" dirty="0">
                <a:solidFill>
                  <a:schemeClr val="tx2"/>
                </a:solidFill>
              </a:rPr>
              <a:t>Évaluation</a:t>
            </a:r>
            <a:endParaRPr lang="en-US" sz="1600" dirty="0"/>
          </a:p>
        </p:txBody>
      </p:sp>
      <p:sp>
        <p:nvSpPr>
          <p:cNvPr id="23" name="Text 21"/>
          <p:cNvSpPr txBox="1"/>
          <p:nvPr/>
        </p:nvSpPr>
        <p:spPr>
          <a:xfrm>
            <a:off x="6446520" y="4526280"/>
            <a:ext cx="4937760" cy="1005840"/>
          </a:xfrm>
          <a:prstGeom prst="rect">
            <a:avLst/>
          </a:prstGeom>
          <a:noFill/>
          <a:ln/>
        </p:spPr>
        <p:txBody>
          <a:bodyPr wrap="square" lIns="0" tIns="0" rIns="0" bIns="0" rtlCol="0" anchor="t"/>
          <a:lstStyle/>
          <a:p>
            <a:pPr indent="0" marL="0">
              <a:buNone/>
            </a:pPr>
            <a:r>
              <a:rPr lang="en-US" sz="1300" dirty="0">
                <a:solidFill>
                  <a:schemeClr val="tx1"/>
                </a:solidFill>
              </a:rPr>
              <a:t>Qui relit les sorties des agents, quels jeux de référence, et à quelle date on fait le bilan.</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InfoCAC KPMG">
  <a:themeElements>
    <a:clrScheme name="InfoCAC KPMG">
      <a:dk1>
        <a:srgbClr val="1A1A2E"/>
      </a:dk1>
      <a:lt1>
        <a:srgbClr val="FFFFFF"/>
      </a:lt1>
      <a:dk2>
        <a:srgbClr val="00338D"/>
      </a:dk2>
      <a:lt2>
        <a:srgbClr val="EEF3FA"/>
      </a:lt2>
      <a:accent1>
        <a:srgbClr val="005EB8"/>
      </a:accent1>
      <a:accent2>
        <a:srgbClr val="0091DA"/>
      </a:accent2>
      <a:accent3>
        <a:srgbClr val="B8D4F0"/>
      </a:accent3>
      <a:accent4>
        <a:srgbClr val="5F6B7A"/>
      </a:accent4>
      <a:accent5>
        <a:srgbClr val="D9E4F2"/>
      </a:accent5>
      <a:accent6>
        <a:srgbClr val="00205B"/>
      </a:accent6>
      <a:hlink>
        <a:srgbClr val="005EB8"/>
      </a:hlink>
      <a:folHlink>
        <a:srgbClr val="00338D"/>
      </a:folHlink>
    </a:clrScheme>
    <a:fontScheme name="InfoCAC KPM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InfoCAC : agents QA</dc:title>
  <dc:subject>PptxGenJS Presentation</dc:subject>
  <dc:creator>Daura</dc:creator>
  <cp:lastModifiedBy>Daura</cp:lastModifiedBy>
  <cp:revision>1</cp:revision>
  <dcterms:created xsi:type="dcterms:W3CDTF">2026-10-27T16:47:15Z</dcterms:created>
  <dcterms:modified xsi:type="dcterms:W3CDTF">2026-10-27T16:47:15Z</dcterms:modified>
</cp:coreProperties>
</file>